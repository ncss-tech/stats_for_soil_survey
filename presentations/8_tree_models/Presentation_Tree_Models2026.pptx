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72"/>
  </p:notesMasterIdLst>
  <p:sldIdLst>
    <p:sldId id="262" r:id="rId3"/>
    <p:sldId id="256" r:id="rId4"/>
    <p:sldId id="257" r:id="rId5"/>
    <p:sldId id="261" r:id="rId6"/>
    <p:sldId id="260" r:id="rId7"/>
    <p:sldId id="259" r:id="rId8"/>
    <p:sldId id="266" r:id="rId9"/>
    <p:sldId id="267" r:id="rId10"/>
    <p:sldId id="268" r:id="rId11"/>
    <p:sldId id="322" r:id="rId12"/>
    <p:sldId id="321" r:id="rId13"/>
    <p:sldId id="324" r:id="rId14"/>
    <p:sldId id="325" r:id="rId15"/>
    <p:sldId id="326" r:id="rId16"/>
    <p:sldId id="327" r:id="rId17"/>
    <p:sldId id="328" r:id="rId18"/>
    <p:sldId id="329" r:id="rId19"/>
    <p:sldId id="330" r:id="rId20"/>
    <p:sldId id="331" r:id="rId21"/>
    <p:sldId id="274" r:id="rId22"/>
    <p:sldId id="265" r:id="rId23"/>
    <p:sldId id="270" r:id="rId24"/>
    <p:sldId id="271" r:id="rId25"/>
    <p:sldId id="272" r:id="rId26"/>
    <p:sldId id="273" r:id="rId27"/>
    <p:sldId id="275" r:id="rId28"/>
    <p:sldId id="332" r:id="rId29"/>
    <p:sldId id="276" r:id="rId30"/>
    <p:sldId id="277" r:id="rId31"/>
    <p:sldId id="278" r:id="rId32"/>
    <p:sldId id="279" r:id="rId33"/>
    <p:sldId id="280" r:id="rId34"/>
    <p:sldId id="333" r:id="rId35"/>
    <p:sldId id="334" r:id="rId36"/>
    <p:sldId id="264" r:id="rId37"/>
    <p:sldId id="281" r:id="rId38"/>
    <p:sldId id="282" r:id="rId39"/>
    <p:sldId id="284" r:id="rId40"/>
    <p:sldId id="283" r:id="rId41"/>
    <p:sldId id="335" r:id="rId42"/>
    <p:sldId id="336" r:id="rId43"/>
    <p:sldId id="285" r:id="rId44"/>
    <p:sldId id="258" r:id="rId45"/>
    <p:sldId id="337" r:id="rId46"/>
    <p:sldId id="287" r:id="rId47"/>
    <p:sldId id="286" r:id="rId48"/>
    <p:sldId id="288" r:id="rId49"/>
    <p:sldId id="315" r:id="rId50"/>
    <p:sldId id="289" r:id="rId51"/>
    <p:sldId id="291" r:id="rId52"/>
    <p:sldId id="290" r:id="rId53"/>
    <p:sldId id="292" r:id="rId54"/>
    <p:sldId id="293" r:id="rId55"/>
    <p:sldId id="294" r:id="rId56"/>
    <p:sldId id="296" r:id="rId57"/>
    <p:sldId id="297" r:id="rId58"/>
    <p:sldId id="298" r:id="rId59"/>
    <p:sldId id="299" r:id="rId60"/>
    <p:sldId id="316" r:id="rId61"/>
    <p:sldId id="318" r:id="rId62"/>
    <p:sldId id="317" r:id="rId63"/>
    <p:sldId id="300" r:id="rId64"/>
    <p:sldId id="302" r:id="rId65"/>
    <p:sldId id="301" r:id="rId66"/>
    <p:sldId id="320" r:id="rId67"/>
    <p:sldId id="304" r:id="rId68"/>
    <p:sldId id="305" r:id="rId69"/>
    <p:sldId id="306" r:id="rId70"/>
    <p:sldId id="307" r:id="rId7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3431" autoAdjust="0"/>
  </p:normalViewPr>
  <p:slideViewPr>
    <p:cSldViewPr snapToGrid="0">
      <p:cViewPr varScale="1">
        <p:scale>
          <a:sx n="84" d="100"/>
          <a:sy n="84" d="100"/>
        </p:scale>
        <p:origin x="1374" y="3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CB8D77F-EA0D-4F5A-8116-2BABF34A1C31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5D1A7611-FEB0-41BD-A24A-F3C53EC8BA3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Part 1 – CART models</a:t>
          </a:r>
        </a:p>
      </dgm:t>
    </dgm:pt>
    <dgm:pt modelId="{880B4945-7DAA-41B6-A11F-51C25307C0E8}" type="parTrans" cxnId="{6C45032F-89B3-4E24-84A6-7A4743D4BCCF}">
      <dgm:prSet/>
      <dgm:spPr/>
      <dgm:t>
        <a:bodyPr/>
        <a:lstStyle/>
        <a:p>
          <a:endParaRPr lang="en-US"/>
        </a:p>
      </dgm:t>
    </dgm:pt>
    <dgm:pt modelId="{FE9E9FDC-BC4F-4CC6-8578-BE1449AA33DA}" type="sibTrans" cxnId="{6C45032F-89B3-4E24-84A6-7A4743D4BCCF}">
      <dgm:prSet/>
      <dgm:spPr/>
      <dgm:t>
        <a:bodyPr/>
        <a:lstStyle/>
        <a:p>
          <a:endParaRPr lang="en-US"/>
        </a:p>
      </dgm:t>
    </dgm:pt>
    <dgm:pt modelId="{0D06C6EB-E7E7-4F08-B4A7-04592E557B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Overview and Concepts</a:t>
          </a:r>
        </a:p>
      </dgm:t>
    </dgm:pt>
    <dgm:pt modelId="{6865D21C-688B-44B1-9110-07814BCBBF6C}" type="parTrans" cxnId="{62302897-3482-4B14-B3D8-4D5D45CEB7D0}">
      <dgm:prSet/>
      <dgm:spPr/>
      <dgm:t>
        <a:bodyPr/>
        <a:lstStyle/>
        <a:p>
          <a:endParaRPr lang="en-US"/>
        </a:p>
      </dgm:t>
    </dgm:pt>
    <dgm:pt modelId="{0ECA294A-D095-4A0E-95E7-C145CB848989}" type="sibTrans" cxnId="{62302897-3482-4B14-B3D8-4D5D45CEB7D0}">
      <dgm:prSet/>
      <dgm:spPr/>
      <dgm:t>
        <a:bodyPr/>
        <a:lstStyle/>
        <a:p>
          <a:endParaRPr lang="en-US"/>
        </a:p>
      </dgm:t>
    </dgm:pt>
    <dgm:pt modelId="{B9C26557-1AC1-4186-BA3D-C01551150A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Examples</a:t>
          </a:r>
        </a:p>
      </dgm:t>
    </dgm:pt>
    <dgm:pt modelId="{0CE447F1-99F2-4E8B-A3A2-01C9F922B0D9}" type="parTrans" cxnId="{FF764107-F9B4-4A0C-84C9-61863910E58B}">
      <dgm:prSet/>
      <dgm:spPr/>
      <dgm:t>
        <a:bodyPr/>
        <a:lstStyle/>
        <a:p>
          <a:endParaRPr lang="en-US"/>
        </a:p>
      </dgm:t>
    </dgm:pt>
    <dgm:pt modelId="{5E9ACCF0-A29C-457A-9C0E-88F82D439094}" type="sibTrans" cxnId="{FF764107-F9B4-4A0C-84C9-61863910E58B}">
      <dgm:prSet/>
      <dgm:spPr/>
      <dgm:t>
        <a:bodyPr/>
        <a:lstStyle/>
        <a:p>
          <a:endParaRPr lang="en-US"/>
        </a:p>
      </dgm:t>
    </dgm:pt>
    <dgm:pt modelId="{E4BA45A3-BD4A-4BBA-AE34-6AED42D9DC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Advantages over other modeling methods</a:t>
          </a:r>
        </a:p>
      </dgm:t>
    </dgm:pt>
    <dgm:pt modelId="{EA8613DC-E9B9-4311-8F3C-620A3B3E1F87}" type="parTrans" cxnId="{CFB0F6E6-219B-443F-B984-4BAAAB7F0046}">
      <dgm:prSet/>
      <dgm:spPr/>
      <dgm:t>
        <a:bodyPr/>
        <a:lstStyle/>
        <a:p>
          <a:endParaRPr lang="en-US"/>
        </a:p>
      </dgm:t>
    </dgm:pt>
    <dgm:pt modelId="{9FE85FCC-1245-4AC2-9BBA-F08CD63F69A8}" type="sibTrans" cxnId="{CFB0F6E6-219B-443F-B984-4BAAAB7F0046}">
      <dgm:prSet/>
      <dgm:spPr/>
      <dgm:t>
        <a:bodyPr/>
        <a:lstStyle/>
        <a:p>
          <a:endParaRPr lang="en-US"/>
        </a:p>
      </dgm:t>
    </dgm:pt>
    <dgm:pt modelId="{DE5EC7E1-487B-4F51-9DAC-40C541B0D95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Rpart Method</a:t>
          </a:r>
        </a:p>
      </dgm:t>
    </dgm:pt>
    <dgm:pt modelId="{9D103188-4986-411C-B48B-063330A919FF}" type="parTrans" cxnId="{EE8C4741-5C9B-4E1F-84BB-D06210803429}">
      <dgm:prSet/>
      <dgm:spPr/>
      <dgm:t>
        <a:bodyPr/>
        <a:lstStyle/>
        <a:p>
          <a:endParaRPr lang="en-US"/>
        </a:p>
      </dgm:t>
    </dgm:pt>
    <dgm:pt modelId="{73AFF0D3-8B8C-4A81-81FD-D2ABAF896D55}" type="sibTrans" cxnId="{EE8C4741-5C9B-4E1F-84BB-D06210803429}">
      <dgm:prSet/>
      <dgm:spPr/>
      <dgm:t>
        <a:bodyPr/>
        <a:lstStyle/>
        <a:p>
          <a:endParaRPr lang="en-US"/>
        </a:p>
      </dgm:t>
    </dgm:pt>
    <dgm:pt modelId="{87C27A4C-3979-4B9A-A9E6-1C6FDE71AD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Splitting criteria for Regression and Classification</a:t>
          </a:r>
        </a:p>
      </dgm:t>
    </dgm:pt>
    <dgm:pt modelId="{DE2EC91C-2756-4436-BF6B-6ADDC78E665B}" type="parTrans" cxnId="{37841ABA-BEDE-4CB7-A16B-19FB231D2302}">
      <dgm:prSet/>
      <dgm:spPr/>
      <dgm:t>
        <a:bodyPr/>
        <a:lstStyle/>
        <a:p>
          <a:endParaRPr lang="en-US"/>
        </a:p>
      </dgm:t>
    </dgm:pt>
    <dgm:pt modelId="{245CD4C9-C3FD-4B35-B514-BF9AEB839754}" type="sibTrans" cxnId="{37841ABA-BEDE-4CB7-A16B-19FB231D2302}">
      <dgm:prSet/>
      <dgm:spPr/>
      <dgm:t>
        <a:bodyPr/>
        <a:lstStyle/>
        <a:p>
          <a:endParaRPr lang="en-US"/>
        </a:p>
      </dgm:t>
    </dgm:pt>
    <dgm:pt modelId="{99920741-6C4B-4A39-8704-49FEDE4F8EC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Pruning with Cost Complexity parameter </a:t>
          </a:r>
        </a:p>
      </dgm:t>
    </dgm:pt>
    <dgm:pt modelId="{45A99A96-8BED-4077-9ECD-4ECDFCDB90F5}" type="parTrans" cxnId="{6D3A904B-1D16-4490-822D-EAB82ECD8F98}">
      <dgm:prSet/>
      <dgm:spPr/>
      <dgm:t>
        <a:bodyPr/>
        <a:lstStyle/>
        <a:p>
          <a:endParaRPr lang="en-US"/>
        </a:p>
      </dgm:t>
    </dgm:pt>
    <dgm:pt modelId="{462CFDDE-68B9-4BF4-969F-AD11347FB97A}" type="sibTrans" cxnId="{6D3A904B-1D16-4490-822D-EAB82ECD8F98}">
      <dgm:prSet/>
      <dgm:spPr/>
      <dgm:t>
        <a:bodyPr/>
        <a:lstStyle/>
        <a:p>
          <a:endParaRPr lang="en-US"/>
        </a:p>
      </dgm:t>
    </dgm:pt>
    <dgm:pt modelId="{BB68178C-86BB-4B89-B559-16B319B8776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Validation</a:t>
          </a:r>
        </a:p>
      </dgm:t>
    </dgm:pt>
    <dgm:pt modelId="{0636524C-E2D3-449C-857C-D1C720A04BF1}" type="parTrans" cxnId="{2379D5F6-FE1D-4DC8-A498-FBAC82AC3C9E}">
      <dgm:prSet/>
      <dgm:spPr/>
      <dgm:t>
        <a:bodyPr/>
        <a:lstStyle/>
        <a:p>
          <a:endParaRPr lang="en-US"/>
        </a:p>
      </dgm:t>
    </dgm:pt>
    <dgm:pt modelId="{15BC3625-DB35-4890-8AFC-401D69CA5308}" type="sibTrans" cxnId="{2379D5F6-FE1D-4DC8-A498-FBAC82AC3C9E}">
      <dgm:prSet/>
      <dgm:spPr/>
      <dgm:t>
        <a:bodyPr/>
        <a:lstStyle/>
        <a:p>
          <a:endParaRPr lang="en-US"/>
        </a:p>
      </dgm:t>
    </dgm:pt>
    <dgm:pt modelId="{71FD2B06-5172-46E6-A864-73D9A7B68DFE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Part 2 – Random Forest models</a:t>
          </a:r>
        </a:p>
      </dgm:t>
    </dgm:pt>
    <dgm:pt modelId="{130CB1F5-BC55-4A4C-8A3D-E1111C8328B6}" type="parTrans" cxnId="{7A74A20D-7BD1-4B9A-A808-7A160C88C450}">
      <dgm:prSet/>
      <dgm:spPr/>
      <dgm:t>
        <a:bodyPr/>
        <a:lstStyle/>
        <a:p>
          <a:endParaRPr lang="en-US"/>
        </a:p>
      </dgm:t>
    </dgm:pt>
    <dgm:pt modelId="{72E5A0F0-40CE-4BB5-B3EA-E2AC6FB3F023}" type="sibTrans" cxnId="{7A74A20D-7BD1-4B9A-A808-7A160C88C450}">
      <dgm:prSet/>
      <dgm:spPr/>
      <dgm:t>
        <a:bodyPr/>
        <a:lstStyle/>
        <a:p>
          <a:endParaRPr lang="en-US"/>
        </a:p>
      </dgm:t>
    </dgm:pt>
    <dgm:pt modelId="{E71D7225-923C-44D6-A968-2EB31F6F21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Random Forest Methods</a:t>
          </a:r>
        </a:p>
      </dgm:t>
    </dgm:pt>
    <dgm:pt modelId="{028EF745-271A-440C-A48C-5E810FF79EFB}" type="parTrans" cxnId="{07305BA7-DCB5-40CD-BC76-9F4456708351}">
      <dgm:prSet/>
      <dgm:spPr/>
      <dgm:t>
        <a:bodyPr/>
        <a:lstStyle/>
        <a:p>
          <a:endParaRPr lang="en-US"/>
        </a:p>
      </dgm:t>
    </dgm:pt>
    <dgm:pt modelId="{B08DE69A-7E30-4254-9DE6-EF515332FC33}" type="sibTrans" cxnId="{07305BA7-DCB5-40CD-BC76-9F4456708351}">
      <dgm:prSet/>
      <dgm:spPr/>
      <dgm:t>
        <a:bodyPr/>
        <a:lstStyle/>
        <a:p>
          <a:endParaRPr lang="en-US"/>
        </a:p>
      </dgm:t>
    </dgm:pt>
    <dgm:pt modelId="{07698A1C-BBE9-4CB3-A4B3-403AD02289F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Bootstrap Aggregation and Bagging</a:t>
          </a:r>
        </a:p>
      </dgm:t>
    </dgm:pt>
    <dgm:pt modelId="{BC305036-5E51-4D62-BC6B-137F94A18154}" type="parTrans" cxnId="{07B30D36-A003-4BCC-B550-CDDB75454822}">
      <dgm:prSet/>
      <dgm:spPr/>
      <dgm:t>
        <a:bodyPr/>
        <a:lstStyle/>
        <a:p>
          <a:endParaRPr lang="en-US"/>
        </a:p>
      </dgm:t>
    </dgm:pt>
    <dgm:pt modelId="{2B056616-B9A0-454A-B4C2-F650D0D64E99}" type="sibTrans" cxnId="{07B30D36-A003-4BCC-B550-CDDB75454822}">
      <dgm:prSet/>
      <dgm:spPr/>
      <dgm:t>
        <a:bodyPr/>
        <a:lstStyle/>
        <a:p>
          <a:endParaRPr lang="en-US"/>
        </a:p>
      </dgm:t>
    </dgm:pt>
    <dgm:pt modelId="{5A43DE8B-A890-473F-8BC4-AFE5AD86D8B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Variable Importance and OOB</a:t>
          </a:r>
        </a:p>
      </dgm:t>
    </dgm:pt>
    <dgm:pt modelId="{59A674E1-0406-4263-8EE2-22296BBAC4B3}" type="parTrans" cxnId="{A1040D2B-CD0A-4305-AF56-A6EA5B4390CD}">
      <dgm:prSet/>
      <dgm:spPr/>
      <dgm:t>
        <a:bodyPr/>
        <a:lstStyle/>
        <a:p>
          <a:endParaRPr lang="en-US"/>
        </a:p>
      </dgm:t>
    </dgm:pt>
    <dgm:pt modelId="{95DAFD0C-FB70-442E-90A4-0CDB389EDD35}" type="sibTrans" cxnId="{A1040D2B-CD0A-4305-AF56-A6EA5B4390CD}">
      <dgm:prSet/>
      <dgm:spPr/>
      <dgm:t>
        <a:bodyPr/>
        <a:lstStyle/>
        <a:p>
          <a:endParaRPr lang="en-US"/>
        </a:p>
      </dgm:t>
    </dgm:pt>
    <dgm:pt modelId="{CDB8C75F-32CF-4A08-A6DF-2D6351C2A38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altLang="en-US" b="0" dirty="0"/>
            <a:t>Interpretation — PDPs and SHAP</a:t>
          </a:r>
        </a:p>
        <a:p>
          <a:pPr>
            <a:lnSpc>
              <a:spcPct val="100000"/>
            </a:lnSpc>
          </a:pPr>
          <a:r>
            <a:rPr lang="en-US" altLang="en-US" b="0" dirty="0"/>
            <a:t>Uncertainty — QRF, </a:t>
          </a:r>
          <a:r>
            <a:rPr lang="en-US" altLang="en-US" b="0" dirty="0" err="1"/>
            <a:t>Shanon</a:t>
          </a:r>
          <a:r>
            <a:rPr lang="en-US" altLang="en-US" b="0" dirty="0"/>
            <a:t> Entropy, </a:t>
          </a:r>
          <a:r>
            <a:rPr lang="en-US" altLang="en-US" b="0" dirty="0" err="1"/>
            <a:t>etc</a:t>
          </a:r>
          <a:endParaRPr lang="en-US" altLang="en-US" b="0" dirty="0"/>
        </a:p>
        <a:p>
          <a:pPr>
            <a:lnSpc>
              <a:spcPct val="100000"/>
            </a:lnSpc>
          </a:pPr>
          <a:r>
            <a:rPr lang="en-US" altLang="en-US" b="0" dirty="0"/>
            <a:t>Spatial Validity — </a:t>
          </a:r>
          <a:r>
            <a:rPr lang="en-US" altLang="en-US" b="0" dirty="0" err="1"/>
            <a:t>kNNDM</a:t>
          </a:r>
          <a:r>
            <a:rPr lang="en-US" altLang="en-US" b="0" dirty="0"/>
            <a:t> CV and AOA</a:t>
          </a:r>
          <a:endParaRPr lang="en-US" b="0" dirty="0"/>
        </a:p>
      </dgm:t>
    </dgm:pt>
    <dgm:pt modelId="{69A98280-D998-4DAE-B004-2C91BFD49032}" type="parTrans" cxnId="{1A268B5F-BE14-426A-89E7-97868337FB41}">
      <dgm:prSet/>
      <dgm:spPr/>
      <dgm:t>
        <a:bodyPr/>
        <a:lstStyle/>
        <a:p>
          <a:endParaRPr lang="en-US"/>
        </a:p>
      </dgm:t>
    </dgm:pt>
    <dgm:pt modelId="{F88A26B0-34D6-444D-9290-BF0F6B25EBEA}" type="sibTrans" cxnId="{1A268B5F-BE14-426A-89E7-97868337FB41}">
      <dgm:prSet/>
      <dgm:spPr/>
      <dgm:t>
        <a:bodyPr/>
        <a:lstStyle/>
        <a:p>
          <a:endParaRPr lang="en-US"/>
        </a:p>
      </dgm:t>
    </dgm:pt>
    <dgm:pt modelId="{DC444DE5-1AC5-4218-9D7C-1D730D934F9A}" type="pres">
      <dgm:prSet presAssocID="{ECB8D77F-EA0D-4F5A-8116-2BABF34A1C31}" presName="root" presStyleCnt="0">
        <dgm:presLayoutVars>
          <dgm:dir/>
          <dgm:resizeHandles val="exact"/>
        </dgm:presLayoutVars>
      </dgm:prSet>
      <dgm:spPr/>
    </dgm:pt>
    <dgm:pt modelId="{69E706B5-893E-40A6-A7C6-F972B3C5A768}" type="pres">
      <dgm:prSet presAssocID="{5D1A7611-FEB0-41BD-A24A-F3C53EC8BA31}" presName="compNode" presStyleCnt="0"/>
      <dgm:spPr/>
    </dgm:pt>
    <dgm:pt modelId="{A0CEDDEE-BCAF-44C4-B73C-3C0994B12632}" type="pres">
      <dgm:prSet presAssocID="{5D1A7611-FEB0-41BD-A24A-F3C53EC8BA31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021B8FDC-D061-4D2B-87C7-E4F6FE55D419}" type="pres">
      <dgm:prSet presAssocID="{5D1A7611-FEB0-41BD-A24A-F3C53EC8BA31}" presName="iconSpace" presStyleCnt="0"/>
      <dgm:spPr/>
    </dgm:pt>
    <dgm:pt modelId="{6EE39310-F7F1-4CA9-97E4-CA6BE2F7ED4B}" type="pres">
      <dgm:prSet presAssocID="{5D1A7611-FEB0-41BD-A24A-F3C53EC8BA31}" presName="parTx" presStyleLbl="revTx" presStyleIdx="0" presStyleCnt="4">
        <dgm:presLayoutVars>
          <dgm:chMax val="0"/>
          <dgm:chPref val="0"/>
        </dgm:presLayoutVars>
      </dgm:prSet>
      <dgm:spPr/>
    </dgm:pt>
    <dgm:pt modelId="{8D32079A-7BC4-4E8A-B567-F59A700A9160}" type="pres">
      <dgm:prSet presAssocID="{5D1A7611-FEB0-41BD-A24A-F3C53EC8BA31}" presName="txSpace" presStyleCnt="0"/>
      <dgm:spPr/>
    </dgm:pt>
    <dgm:pt modelId="{B2C1CCD0-9931-4A58-937D-3F2B9C8D38E7}" type="pres">
      <dgm:prSet presAssocID="{5D1A7611-FEB0-41BD-A24A-F3C53EC8BA31}" presName="desTx" presStyleLbl="revTx" presStyleIdx="1" presStyleCnt="4">
        <dgm:presLayoutVars/>
      </dgm:prSet>
      <dgm:spPr/>
    </dgm:pt>
    <dgm:pt modelId="{8A0A3CD3-0A3E-4FC7-A9C1-14BF870FD429}" type="pres">
      <dgm:prSet presAssocID="{FE9E9FDC-BC4F-4CC6-8578-BE1449AA33DA}" presName="sibTrans" presStyleCnt="0"/>
      <dgm:spPr/>
    </dgm:pt>
    <dgm:pt modelId="{488DA745-E803-4F4E-AC46-C2A5F6EA93A7}" type="pres">
      <dgm:prSet presAssocID="{71FD2B06-5172-46E6-A864-73D9A7B68DFE}" presName="compNode" presStyleCnt="0"/>
      <dgm:spPr/>
    </dgm:pt>
    <dgm:pt modelId="{5FC32B09-8B8B-4DE3-8D8D-B62EA82A3BC0}" type="pres">
      <dgm:prSet presAssocID="{71FD2B06-5172-46E6-A864-73D9A7B68DF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2827FFAE-383B-4BB6-81E8-09EBD28A804F}" type="pres">
      <dgm:prSet presAssocID="{71FD2B06-5172-46E6-A864-73D9A7B68DFE}" presName="iconSpace" presStyleCnt="0"/>
      <dgm:spPr/>
    </dgm:pt>
    <dgm:pt modelId="{C83ED1AD-12C5-47EE-AEA3-4B4B1D472565}" type="pres">
      <dgm:prSet presAssocID="{71FD2B06-5172-46E6-A864-73D9A7B68DFE}" presName="parTx" presStyleLbl="revTx" presStyleIdx="2" presStyleCnt="4">
        <dgm:presLayoutVars>
          <dgm:chMax val="0"/>
          <dgm:chPref val="0"/>
        </dgm:presLayoutVars>
      </dgm:prSet>
      <dgm:spPr/>
    </dgm:pt>
    <dgm:pt modelId="{126FD170-D788-49D8-B8B1-CAFECBD52431}" type="pres">
      <dgm:prSet presAssocID="{71FD2B06-5172-46E6-A864-73D9A7B68DFE}" presName="txSpace" presStyleCnt="0"/>
      <dgm:spPr/>
    </dgm:pt>
    <dgm:pt modelId="{35FD0D0A-D27D-4B3B-AEA9-11CAFBBB77A1}" type="pres">
      <dgm:prSet presAssocID="{71FD2B06-5172-46E6-A864-73D9A7B68DFE}" presName="desTx" presStyleLbl="revTx" presStyleIdx="3" presStyleCnt="4">
        <dgm:presLayoutVars/>
      </dgm:prSet>
      <dgm:spPr/>
    </dgm:pt>
  </dgm:ptLst>
  <dgm:cxnLst>
    <dgm:cxn modelId="{FF764107-F9B4-4A0C-84C9-61863910E58B}" srcId="{5D1A7611-FEB0-41BD-A24A-F3C53EC8BA31}" destId="{B9C26557-1AC1-4186-BA3D-C01551150A14}" srcOrd="1" destOrd="0" parTransId="{0CE447F1-99F2-4E8B-A3A2-01C9F922B0D9}" sibTransId="{5E9ACCF0-A29C-457A-9C0E-88F82D439094}"/>
    <dgm:cxn modelId="{9756100A-C5B7-4126-8D7A-FDF36B366D69}" type="presOf" srcId="{07698A1C-BBE9-4CB3-A4B3-403AD02289FF}" destId="{35FD0D0A-D27D-4B3B-AEA9-11CAFBBB77A1}" srcOrd="0" destOrd="1" presId="urn:microsoft.com/office/officeart/2018/2/layout/IconLabelDescriptionList"/>
    <dgm:cxn modelId="{7A74A20D-7BD1-4B9A-A808-7A160C88C450}" srcId="{ECB8D77F-EA0D-4F5A-8116-2BABF34A1C31}" destId="{71FD2B06-5172-46E6-A864-73D9A7B68DFE}" srcOrd="1" destOrd="0" parTransId="{130CB1F5-BC55-4A4C-8A3D-E1111C8328B6}" sibTransId="{72E5A0F0-40CE-4BB5-B3EA-E2AC6FB3F023}"/>
    <dgm:cxn modelId="{7755C412-7877-4B01-A247-6A35B4200B29}" type="presOf" srcId="{ECB8D77F-EA0D-4F5A-8116-2BABF34A1C31}" destId="{DC444DE5-1AC5-4218-9D7C-1D730D934F9A}" srcOrd="0" destOrd="0" presId="urn:microsoft.com/office/officeart/2018/2/layout/IconLabelDescriptionList"/>
    <dgm:cxn modelId="{6A340923-363E-4D86-AC83-3B22087606C8}" type="presOf" srcId="{0D06C6EB-E7E7-4F08-B4A7-04592E557B16}" destId="{B2C1CCD0-9931-4A58-937D-3F2B9C8D38E7}" srcOrd="0" destOrd="0" presId="urn:microsoft.com/office/officeart/2018/2/layout/IconLabelDescriptionList"/>
    <dgm:cxn modelId="{A1040D2B-CD0A-4305-AF56-A6EA5B4390CD}" srcId="{71FD2B06-5172-46E6-A864-73D9A7B68DFE}" destId="{5A43DE8B-A890-473F-8BC4-AFE5AD86D8BC}" srcOrd="2" destOrd="0" parTransId="{59A674E1-0406-4263-8EE2-22296BBAC4B3}" sibTransId="{95DAFD0C-FB70-442E-90A4-0CDB389EDD35}"/>
    <dgm:cxn modelId="{6C45032F-89B3-4E24-84A6-7A4743D4BCCF}" srcId="{ECB8D77F-EA0D-4F5A-8116-2BABF34A1C31}" destId="{5D1A7611-FEB0-41BD-A24A-F3C53EC8BA31}" srcOrd="0" destOrd="0" parTransId="{880B4945-7DAA-41B6-A11F-51C25307C0E8}" sibTransId="{FE9E9FDC-BC4F-4CC6-8578-BE1449AA33DA}"/>
    <dgm:cxn modelId="{82E82E34-5502-47D0-9252-D7F3C67F1617}" type="presOf" srcId="{E4BA45A3-BD4A-4BBA-AE34-6AED42D9DC26}" destId="{B2C1CCD0-9931-4A58-937D-3F2B9C8D38E7}" srcOrd="0" destOrd="2" presId="urn:microsoft.com/office/officeart/2018/2/layout/IconLabelDescriptionList"/>
    <dgm:cxn modelId="{07B30D36-A003-4BCC-B550-CDDB75454822}" srcId="{71FD2B06-5172-46E6-A864-73D9A7B68DFE}" destId="{07698A1C-BBE9-4CB3-A4B3-403AD02289FF}" srcOrd="1" destOrd="0" parTransId="{BC305036-5E51-4D62-BC6B-137F94A18154}" sibTransId="{2B056616-B9A0-454A-B4C2-F650D0D64E99}"/>
    <dgm:cxn modelId="{2806BD3F-B8A2-4B17-BA57-6B9B1777AFE5}" type="presOf" srcId="{E71D7225-923C-44D6-A968-2EB31F6F210F}" destId="{35FD0D0A-D27D-4B3B-AEA9-11CAFBBB77A1}" srcOrd="0" destOrd="0" presId="urn:microsoft.com/office/officeart/2018/2/layout/IconLabelDescriptionList"/>
    <dgm:cxn modelId="{5CF37C5C-FD57-4D20-B8F2-A2F076599701}" type="presOf" srcId="{71FD2B06-5172-46E6-A864-73D9A7B68DFE}" destId="{C83ED1AD-12C5-47EE-AEA3-4B4B1D472565}" srcOrd="0" destOrd="0" presId="urn:microsoft.com/office/officeart/2018/2/layout/IconLabelDescriptionList"/>
    <dgm:cxn modelId="{1A268B5F-BE14-426A-89E7-97868337FB41}" srcId="{71FD2B06-5172-46E6-A864-73D9A7B68DFE}" destId="{CDB8C75F-32CF-4A08-A6DF-2D6351C2A38E}" srcOrd="3" destOrd="0" parTransId="{69A98280-D998-4DAE-B004-2C91BFD49032}" sibTransId="{F88A26B0-34D6-444D-9290-BF0F6B25EBEA}"/>
    <dgm:cxn modelId="{EE8C4741-5C9B-4E1F-84BB-D06210803429}" srcId="{5D1A7611-FEB0-41BD-A24A-F3C53EC8BA31}" destId="{DE5EC7E1-487B-4F51-9DAC-40C541B0D958}" srcOrd="3" destOrd="0" parTransId="{9D103188-4986-411C-B48B-063330A919FF}" sibTransId="{73AFF0D3-8B8C-4A81-81FD-D2ABAF896D55}"/>
    <dgm:cxn modelId="{9285766A-FBE8-4874-9C61-3B0A9F0C0301}" type="presOf" srcId="{5D1A7611-FEB0-41BD-A24A-F3C53EC8BA31}" destId="{6EE39310-F7F1-4CA9-97E4-CA6BE2F7ED4B}" srcOrd="0" destOrd="0" presId="urn:microsoft.com/office/officeart/2018/2/layout/IconLabelDescriptionList"/>
    <dgm:cxn modelId="{6D3A904B-1D16-4490-822D-EAB82ECD8F98}" srcId="{5D1A7611-FEB0-41BD-A24A-F3C53EC8BA31}" destId="{99920741-6C4B-4A39-8704-49FEDE4F8EC8}" srcOrd="5" destOrd="0" parTransId="{45A99A96-8BED-4077-9ECD-4ECDFCDB90F5}" sibTransId="{462CFDDE-68B9-4BF4-969F-AD11347FB97A}"/>
    <dgm:cxn modelId="{0C62C478-EB68-4F93-9F7B-0129059A1039}" type="presOf" srcId="{BB68178C-86BB-4B89-B559-16B319B8776B}" destId="{B2C1CCD0-9931-4A58-937D-3F2B9C8D38E7}" srcOrd="0" destOrd="6" presId="urn:microsoft.com/office/officeart/2018/2/layout/IconLabelDescriptionList"/>
    <dgm:cxn modelId="{19E6B359-8D57-44AB-816B-14CBD607E7E7}" type="presOf" srcId="{87C27A4C-3979-4B9A-A9E6-1C6FDE71AD29}" destId="{B2C1CCD0-9931-4A58-937D-3F2B9C8D38E7}" srcOrd="0" destOrd="4" presId="urn:microsoft.com/office/officeart/2018/2/layout/IconLabelDescriptionList"/>
    <dgm:cxn modelId="{30A5197E-51E9-434B-BF7E-6D43CCEFB10B}" type="presOf" srcId="{5A43DE8B-A890-473F-8BC4-AFE5AD86D8BC}" destId="{35FD0D0A-D27D-4B3B-AEA9-11CAFBBB77A1}" srcOrd="0" destOrd="2" presId="urn:microsoft.com/office/officeart/2018/2/layout/IconLabelDescriptionList"/>
    <dgm:cxn modelId="{7164FE8A-1052-40C4-BB60-91B92924D9C1}" type="presOf" srcId="{B9C26557-1AC1-4186-BA3D-C01551150A14}" destId="{B2C1CCD0-9931-4A58-937D-3F2B9C8D38E7}" srcOrd="0" destOrd="1" presId="urn:microsoft.com/office/officeart/2018/2/layout/IconLabelDescriptionList"/>
    <dgm:cxn modelId="{62302897-3482-4B14-B3D8-4D5D45CEB7D0}" srcId="{5D1A7611-FEB0-41BD-A24A-F3C53EC8BA31}" destId="{0D06C6EB-E7E7-4F08-B4A7-04592E557B16}" srcOrd="0" destOrd="0" parTransId="{6865D21C-688B-44B1-9110-07814BCBBF6C}" sibTransId="{0ECA294A-D095-4A0E-95E7-C145CB848989}"/>
    <dgm:cxn modelId="{A79894A2-C247-4239-99F7-7903C2A5930D}" type="presOf" srcId="{99920741-6C4B-4A39-8704-49FEDE4F8EC8}" destId="{B2C1CCD0-9931-4A58-937D-3F2B9C8D38E7}" srcOrd="0" destOrd="5" presId="urn:microsoft.com/office/officeart/2018/2/layout/IconLabelDescriptionList"/>
    <dgm:cxn modelId="{07305BA7-DCB5-40CD-BC76-9F4456708351}" srcId="{71FD2B06-5172-46E6-A864-73D9A7B68DFE}" destId="{E71D7225-923C-44D6-A968-2EB31F6F210F}" srcOrd="0" destOrd="0" parTransId="{028EF745-271A-440C-A48C-5E810FF79EFB}" sibTransId="{B08DE69A-7E30-4254-9DE6-EF515332FC33}"/>
    <dgm:cxn modelId="{D0E4C9B1-E137-48FE-A47C-DD4C9620F3F8}" type="presOf" srcId="{CDB8C75F-32CF-4A08-A6DF-2D6351C2A38E}" destId="{35FD0D0A-D27D-4B3B-AEA9-11CAFBBB77A1}" srcOrd="0" destOrd="3" presId="urn:microsoft.com/office/officeart/2018/2/layout/IconLabelDescriptionList"/>
    <dgm:cxn modelId="{CE3F6EB5-221A-4CC4-90FF-893DF09D75FE}" type="presOf" srcId="{DE5EC7E1-487B-4F51-9DAC-40C541B0D958}" destId="{B2C1CCD0-9931-4A58-937D-3F2B9C8D38E7}" srcOrd="0" destOrd="3" presId="urn:microsoft.com/office/officeart/2018/2/layout/IconLabelDescriptionList"/>
    <dgm:cxn modelId="{37841ABA-BEDE-4CB7-A16B-19FB231D2302}" srcId="{5D1A7611-FEB0-41BD-A24A-F3C53EC8BA31}" destId="{87C27A4C-3979-4B9A-A9E6-1C6FDE71AD29}" srcOrd="4" destOrd="0" parTransId="{DE2EC91C-2756-4436-BF6B-6ADDC78E665B}" sibTransId="{245CD4C9-C3FD-4B35-B514-BF9AEB839754}"/>
    <dgm:cxn modelId="{CFB0F6E6-219B-443F-B984-4BAAAB7F0046}" srcId="{5D1A7611-FEB0-41BD-A24A-F3C53EC8BA31}" destId="{E4BA45A3-BD4A-4BBA-AE34-6AED42D9DC26}" srcOrd="2" destOrd="0" parTransId="{EA8613DC-E9B9-4311-8F3C-620A3B3E1F87}" sibTransId="{9FE85FCC-1245-4AC2-9BBA-F08CD63F69A8}"/>
    <dgm:cxn modelId="{2379D5F6-FE1D-4DC8-A498-FBAC82AC3C9E}" srcId="{5D1A7611-FEB0-41BD-A24A-F3C53EC8BA31}" destId="{BB68178C-86BB-4B89-B559-16B319B8776B}" srcOrd="6" destOrd="0" parTransId="{0636524C-E2D3-449C-857C-D1C720A04BF1}" sibTransId="{15BC3625-DB35-4890-8AFC-401D69CA5308}"/>
    <dgm:cxn modelId="{49795734-2DCD-4389-A00E-9E2DBE1F2DD0}" type="presParOf" srcId="{DC444DE5-1AC5-4218-9D7C-1D730D934F9A}" destId="{69E706B5-893E-40A6-A7C6-F972B3C5A768}" srcOrd="0" destOrd="0" presId="urn:microsoft.com/office/officeart/2018/2/layout/IconLabelDescriptionList"/>
    <dgm:cxn modelId="{8126FE3B-5D05-44A2-AA4B-58D9EAAC6A14}" type="presParOf" srcId="{69E706B5-893E-40A6-A7C6-F972B3C5A768}" destId="{A0CEDDEE-BCAF-44C4-B73C-3C0994B12632}" srcOrd="0" destOrd="0" presId="urn:microsoft.com/office/officeart/2018/2/layout/IconLabelDescriptionList"/>
    <dgm:cxn modelId="{230B0920-8623-4DC5-B101-86F38D8BA5EA}" type="presParOf" srcId="{69E706B5-893E-40A6-A7C6-F972B3C5A768}" destId="{021B8FDC-D061-4D2B-87C7-E4F6FE55D419}" srcOrd="1" destOrd="0" presId="urn:microsoft.com/office/officeart/2018/2/layout/IconLabelDescriptionList"/>
    <dgm:cxn modelId="{E898E35C-3D68-43F3-9DEB-DD0E566C2209}" type="presParOf" srcId="{69E706B5-893E-40A6-A7C6-F972B3C5A768}" destId="{6EE39310-F7F1-4CA9-97E4-CA6BE2F7ED4B}" srcOrd="2" destOrd="0" presId="urn:microsoft.com/office/officeart/2018/2/layout/IconLabelDescriptionList"/>
    <dgm:cxn modelId="{966C8FF9-1A19-4D93-8D8B-CEAA5F8BA4E7}" type="presParOf" srcId="{69E706B5-893E-40A6-A7C6-F972B3C5A768}" destId="{8D32079A-7BC4-4E8A-B567-F59A700A9160}" srcOrd="3" destOrd="0" presId="urn:microsoft.com/office/officeart/2018/2/layout/IconLabelDescriptionList"/>
    <dgm:cxn modelId="{2D9E2170-476A-4CA8-9DE3-C9CC3BAADA30}" type="presParOf" srcId="{69E706B5-893E-40A6-A7C6-F972B3C5A768}" destId="{B2C1CCD0-9931-4A58-937D-3F2B9C8D38E7}" srcOrd="4" destOrd="0" presId="urn:microsoft.com/office/officeart/2018/2/layout/IconLabelDescriptionList"/>
    <dgm:cxn modelId="{9E9CFB92-BEAC-4CC9-9006-3B9BBA5E8148}" type="presParOf" srcId="{DC444DE5-1AC5-4218-9D7C-1D730D934F9A}" destId="{8A0A3CD3-0A3E-4FC7-A9C1-14BF870FD429}" srcOrd="1" destOrd="0" presId="urn:microsoft.com/office/officeart/2018/2/layout/IconLabelDescriptionList"/>
    <dgm:cxn modelId="{42FF0A33-E29F-4CDA-B21B-0BC05319982B}" type="presParOf" srcId="{DC444DE5-1AC5-4218-9D7C-1D730D934F9A}" destId="{488DA745-E803-4F4E-AC46-C2A5F6EA93A7}" srcOrd="2" destOrd="0" presId="urn:microsoft.com/office/officeart/2018/2/layout/IconLabelDescriptionList"/>
    <dgm:cxn modelId="{608F5F2A-EC76-4AF4-ADB0-73E81D9A941C}" type="presParOf" srcId="{488DA745-E803-4F4E-AC46-C2A5F6EA93A7}" destId="{5FC32B09-8B8B-4DE3-8D8D-B62EA82A3BC0}" srcOrd="0" destOrd="0" presId="urn:microsoft.com/office/officeart/2018/2/layout/IconLabelDescriptionList"/>
    <dgm:cxn modelId="{51D05A9D-50C9-4669-93AC-0BCF2DF8112F}" type="presParOf" srcId="{488DA745-E803-4F4E-AC46-C2A5F6EA93A7}" destId="{2827FFAE-383B-4BB6-81E8-09EBD28A804F}" srcOrd="1" destOrd="0" presId="urn:microsoft.com/office/officeart/2018/2/layout/IconLabelDescriptionList"/>
    <dgm:cxn modelId="{BDB89CEE-C406-42C9-9043-0FFBE9257798}" type="presParOf" srcId="{488DA745-E803-4F4E-AC46-C2A5F6EA93A7}" destId="{C83ED1AD-12C5-47EE-AEA3-4B4B1D472565}" srcOrd="2" destOrd="0" presId="urn:microsoft.com/office/officeart/2018/2/layout/IconLabelDescriptionList"/>
    <dgm:cxn modelId="{00FF4BAD-9CD0-4EDA-9183-63800DBD8D80}" type="presParOf" srcId="{488DA745-E803-4F4E-AC46-C2A5F6EA93A7}" destId="{126FD170-D788-49D8-B8B1-CAFECBD52431}" srcOrd="3" destOrd="0" presId="urn:microsoft.com/office/officeart/2018/2/layout/IconLabelDescriptionList"/>
    <dgm:cxn modelId="{83376E63-9603-4366-8811-45595656C749}" type="presParOf" srcId="{488DA745-E803-4F4E-AC46-C2A5F6EA93A7}" destId="{35FD0D0A-D27D-4B3B-AEA9-11CAFBBB77A1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3A63F1-ABC7-41EB-850F-B6F8466DE557}" type="doc">
      <dgm:prSet loTypeId="urn:microsoft.com/office/officeart/2005/8/layout/vList5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55E210E-E260-4CF9-BEE9-AD72B590567F}">
      <dgm:prSet/>
      <dgm:spPr/>
      <dgm:t>
        <a:bodyPr/>
        <a:lstStyle/>
        <a:p>
          <a:r>
            <a:rPr lang="en-US"/>
            <a:t>Missing Values</a:t>
          </a:r>
        </a:p>
      </dgm:t>
    </dgm:pt>
    <dgm:pt modelId="{0FD021D1-C47C-41FB-AE13-073EA3563E76}" type="parTrans" cxnId="{BCBC40DE-A81F-414F-A930-CE832282B531}">
      <dgm:prSet/>
      <dgm:spPr/>
      <dgm:t>
        <a:bodyPr/>
        <a:lstStyle/>
        <a:p>
          <a:endParaRPr lang="en-US"/>
        </a:p>
      </dgm:t>
    </dgm:pt>
    <dgm:pt modelId="{67F60F41-0EFE-487B-8F6C-43CE67D3C26A}" type="sibTrans" cxnId="{BCBC40DE-A81F-414F-A930-CE832282B531}">
      <dgm:prSet/>
      <dgm:spPr/>
      <dgm:t>
        <a:bodyPr/>
        <a:lstStyle/>
        <a:p>
          <a:endParaRPr lang="en-US"/>
        </a:p>
      </dgm:t>
    </dgm:pt>
    <dgm:pt modelId="{C1AFA1B5-9079-4A59-B616-78790AE06619}">
      <dgm:prSet/>
      <dgm:spPr/>
      <dgm:t>
        <a:bodyPr/>
        <a:lstStyle/>
        <a:p>
          <a:r>
            <a:rPr lang="en-US"/>
            <a:t>require imputation</a:t>
          </a:r>
        </a:p>
      </dgm:t>
    </dgm:pt>
    <dgm:pt modelId="{D40D206C-4990-4FA1-AFEC-1A603E966157}" type="parTrans" cxnId="{4AF055CA-3EC7-4D16-9161-329E630EAB8B}">
      <dgm:prSet/>
      <dgm:spPr/>
      <dgm:t>
        <a:bodyPr/>
        <a:lstStyle/>
        <a:p>
          <a:endParaRPr lang="en-US"/>
        </a:p>
      </dgm:t>
    </dgm:pt>
    <dgm:pt modelId="{83A31773-369E-4DC8-B93C-16931ABA2885}" type="sibTrans" cxnId="{4AF055CA-3EC7-4D16-9161-329E630EAB8B}">
      <dgm:prSet/>
      <dgm:spPr/>
      <dgm:t>
        <a:bodyPr/>
        <a:lstStyle/>
        <a:p>
          <a:endParaRPr lang="en-US"/>
        </a:p>
      </dgm:t>
    </dgm:pt>
    <dgm:pt modelId="{E53E368F-56BD-4533-9E58-49564B15E0C3}">
      <dgm:prSet/>
      <dgm:spPr/>
      <dgm:t>
        <a:bodyPr/>
        <a:lstStyle/>
        <a:p>
          <a:r>
            <a:rPr lang="en-US"/>
            <a:t>results in record deletion</a:t>
          </a:r>
        </a:p>
      </dgm:t>
    </dgm:pt>
    <dgm:pt modelId="{2094F5F9-8AF8-48CC-B503-D33AA71D0844}" type="parTrans" cxnId="{C7430B9E-05E9-4237-A37C-640B39E038D3}">
      <dgm:prSet/>
      <dgm:spPr/>
      <dgm:t>
        <a:bodyPr/>
        <a:lstStyle/>
        <a:p>
          <a:endParaRPr lang="en-US"/>
        </a:p>
      </dgm:t>
    </dgm:pt>
    <dgm:pt modelId="{852436A9-025B-4D8F-9794-A7C2D6EC2B26}" type="sibTrans" cxnId="{C7430B9E-05E9-4237-A37C-640B39E038D3}">
      <dgm:prSet/>
      <dgm:spPr/>
      <dgm:t>
        <a:bodyPr/>
        <a:lstStyle/>
        <a:p>
          <a:endParaRPr lang="en-US"/>
        </a:p>
      </dgm:t>
    </dgm:pt>
    <dgm:pt modelId="{F06C459B-DE3F-4480-81D6-C747F38263CE}">
      <dgm:prSet/>
      <dgm:spPr/>
      <dgm:t>
        <a:bodyPr/>
        <a:lstStyle/>
        <a:p>
          <a:r>
            <a:rPr lang="en-US"/>
            <a:t>limited “high value” observations</a:t>
          </a:r>
        </a:p>
      </dgm:t>
    </dgm:pt>
    <dgm:pt modelId="{02FA6D72-5CCA-4080-B5F6-CF0CF85C715C}" type="parTrans" cxnId="{24142168-91CA-47B9-B543-1D590FE873EA}">
      <dgm:prSet/>
      <dgm:spPr/>
      <dgm:t>
        <a:bodyPr/>
        <a:lstStyle/>
        <a:p>
          <a:endParaRPr lang="en-US"/>
        </a:p>
      </dgm:t>
    </dgm:pt>
    <dgm:pt modelId="{87A89223-F437-4BCE-B68E-49ADADA8076B}" type="sibTrans" cxnId="{24142168-91CA-47B9-B543-1D590FE873EA}">
      <dgm:prSet/>
      <dgm:spPr/>
      <dgm:t>
        <a:bodyPr/>
        <a:lstStyle/>
        <a:p>
          <a:endParaRPr lang="en-US"/>
        </a:p>
      </dgm:t>
    </dgm:pt>
    <dgm:pt modelId="{DD984943-4C52-41FD-B1A7-178B3A670AFA}">
      <dgm:prSet/>
      <dgm:spPr/>
      <dgm:t>
        <a:bodyPr/>
        <a:lstStyle/>
        <a:p>
          <a:r>
            <a:rPr lang="en-US"/>
            <a:t>Nonlinearity</a:t>
          </a:r>
        </a:p>
      </dgm:t>
    </dgm:pt>
    <dgm:pt modelId="{ACABE157-F6B8-42A6-89FA-126B9BA16425}" type="parTrans" cxnId="{D8176D1B-4869-4022-B7A9-A6E124DF3B72}">
      <dgm:prSet/>
      <dgm:spPr/>
      <dgm:t>
        <a:bodyPr/>
        <a:lstStyle/>
        <a:p>
          <a:endParaRPr lang="en-US"/>
        </a:p>
      </dgm:t>
    </dgm:pt>
    <dgm:pt modelId="{6AAD5D3F-C93D-4E20-B076-B36739426985}" type="sibTrans" cxnId="{D8176D1B-4869-4022-B7A9-A6E124DF3B72}">
      <dgm:prSet/>
      <dgm:spPr/>
      <dgm:t>
        <a:bodyPr/>
        <a:lstStyle/>
        <a:p>
          <a:endParaRPr lang="en-US"/>
        </a:p>
      </dgm:t>
    </dgm:pt>
    <dgm:pt modelId="{CC866920-1E2C-4215-9D6D-8A3965F960EE}">
      <dgm:prSet/>
      <dgm:spPr/>
      <dgm:t>
        <a:bodyPr/>
        <a:lstStyle/>
        <a:p>
          <a:r>
            <a:rPr lang="en-US"/>
            <a:t>Y = 10 + 3X</a:t>
          </a:r>
          <a:r>
            <a:rPr lang="en-US" baseline="-25000"/>
            <a:t>1</a:t>
          </a:r>
          <a:r>
            <a:rPr lang="en-US"/>
            <a:t> – 2X</a:t>
          </a:r>
          <a:r>
            <a:rPr lang="en-US" baseline="-25000"/>
            <a:t>2</a:t>
          </a:r>
          <a:r>
            <a:rPr lang="en-US"/>
            <a:t> + 0.3X</a:t>
          </a:r>
          <a:r>
            <a:rPr lang="en-US" baseline="-25000"/>
            <a:t>1</a:t>
          </a:r>
          <a:r>
            <a:rPr lang="en-US" baseline="30000"/>
            <a:t>2</a:t>
          </a:r>
          <a:endParaRPr lang="en-US"/>
        </a:p>
      </dgm:t>
    </dgm:pt>
    <dgm:pt modelId="{8C5476D5-CCE5-4744-8BCB-DD271799017E}" type="parTrans" cxnId="{F0B1E839-77FF-4147-9CAC-1FB5BD10E962}">
      <dgm:prSet/>
      <dgm:spPr/>
      <dgm:t>
        <a:bodyPr/>
        <a:lstStyle/>
        <a:p>
          <a:endParaRPr lang="en-US"/>
        </a:p>
      </dgm:t>
    </dgm:pt>
    <dgm:pt modelId="{0D280CB7-1FD8-4FA2-929D-7DC73CD67AB3}" type="sibTrans" cxnId="{F0B1E839-77FF-4147-9CAC-1FB5BD10E962}">
      <dgm:prSet/>
      <dgm:spPr/>
      <dgm:t>
        <a:bodyPr/>
        <a:lstStyle/>
        <a:p>
          <a:endParaRPr lang="en-US"/>
        </a:p>
      </dgm:t>
    </dgm:pt>
    <dgm:pt modelId="{7784305E-59FF-4267-A264-2FCA0769D010}">
      <dgm:prSet/>
      <dgm:spPr/>
      <dgm:t>
        <a:bodyPr/>
        <a:lstStyle/>
        <a:p>
          <a:r>
            <a:rPr lang="en-US"/>
            <a:t>difficult to account for local effects</a:t>
          </a:r>
        </a:p>
      </dgm:t>
    </dgm:pt>
    <dgm:pt modelId="{3A9FB246-9E17-4629-9EC3-DDDB1E55FB68}" type="parTrans" cxnId="{9364CFA8-2F59-454B-9D01-273A33C91CD0}">
      <dgm:prSet/>
      <dgm:spPr/>
      <dgm:t>
        <a:bodyPr/>
        <a:lstStyle/>
        <a:p>
          <a:endParaRPr lang="en-US"/>
        </a:p>
      </dgm:t>
    </dgm:pt>
    <dgm:pt modelId="{FA075B22-1412-429E-B183-FE4E871B1956}" type="sibTrans" cxnId="{9364CFA8-2F59-454B-9D01-273A33C91CD0}">
      <dgm:prSet/>
      <dgm:spPr/>
      <dgm:t>
        <a:bodyPr/>
        <a:lstStyle/>
        <a:p>
          <a:endParaRPr lang="en-US"/>
        </a:p>
      </dgm:t>
    </dgm:pt>
    <dgm:pt modelId="{49ABDBE8-F458-46A6-BF50-4509AA6D939B}">
      <dgm:prSet/>
      <dgm:spPr/>
      <dgm:t>
        <a:bodyPr/>
        <a:lstStyle/>
        <a:p>
          <a:r>
            <a:rPr lang="en-US"/>
            <a:t>Assumes a normal distribution</a:t>
          </a:r>
        </a:p>
      </dgm:t>
    </dgm:pt>
    <dgm:pt modelId="{D21774FE-0958-45C9-B809-B825A018D13F}" type="parTrans" cxnId="{FB816768-BFBC-4BDC-B69E-7A048993A957}">
      <dgm:prSet/>
      <dgm:spPr/>
      <dgm:t>
        <a:bodyPr/>
        <a:lstStyle/>
        <a:p>
          <a:endParaRPr lang="en-US"/>
        </a:p>
      </dgm:t>
    </dgm:pt>
    <dgm:pt modelId="{09579F92-178D-464F-A4BB-46B109657E4D}" type="sibTrans" cxnId="{FB816768-BFBC-4BDC-B69E-7A048993A957}">
      <dgm:prSet/>
      <dgm:spPr/>
      <dgm:t>
        <a:bodyPr/>
        <a:lstStyle/>
        <a:p>
          <a:endParaRPr lang="en-US"/>
        </a:p>
      </dgm:t>
    </dgm:pt>
    <dgm:pt modelId="{9E9550CA-BFDD-42E9-8E26-6A5EBCEC425B}">
      <dgm:prSet/>
      <dgm:spPr/>
      <dgm:t>
        <a:bodyPr/>
        <a:lstStyle/>
        <a:p>
          <a:r>
            <a:rPr lang="en-US"/>
            <a:t>Interactions</a:t>
          </a:r>
        </a:p>
      </dgm:t>
    </dgm:pt>
    <dgm:pt modelId="{40B16CA6-7135-43D6-B78B-2CB17A7E4B02}" type="parTrans" cxnId="{6D3E69FB-D8A6-4C03-9E0A-9182B66A8187}">
      <dgm:prSet/>
      <dgm:spPr/>
      <dgm:t>
        <a:bodyPr/>
        <a:lstStyle/>
        <a:p>
          <a:endParaRPr lang="en-US"/>
        </a:p>
      </dgm:t>
    </dgm:pt>
    <dgm:pt modelId="{8CE555AA-7CF4-4EC3-8D3F-24545891A434}" type="sibTrans" cxnId="{6D3E69FB-D8A6-4C03-9E0A-9182B66A8187}">
      <dgm:prSet/>
      <dgm:spPr/>
      <dgm:t>
        <a:bodyPr/>
        <a:lstStyle/>
        <a:p>
          <a:endParaRPr lang="en-US"/>
        </a:p>
      </dgm:t>
    </dgm:pt>
    <dgm:pt modelId="{808A9D04-1F16-4E2F-8D96-A59EA7F99AA2}">
      <dgm:prSet/>
      <dgm:spPr/>
      <dgm:t>
        <a:bodyPr/>
        <a:lstStyle/>
        <a:p>
          <a:r>
            <a:rPr lang="en-US"/>
            <a:t>Y = 10 + 3X</a:t>
          </a:r>
          <a:r>
            <a:rPr lang="en-US" baseline="-25000"/>
            <a:t>1</a:t>
          </a:r>
          <a:r>
            <a:rPr lang="en-US"/>
            <a:t> – 2X</a:t>
          </a:r>
          <a:r>
            <a:rPr lang="en-US" baseline="-25000"/>
            <a:t>2</a:t>
          </a:r>
          <a:r>
            <a:rPr lang="en-US"/>
            <a:t> + 0.25X</a:t>
          </a:r>
          <a:r>
            <a:rPr lang="en-US" baseline="-25000"/>
            <a:t>1</a:t>
          </a:r>
          <a:r>
            <a:rPr lang="en-US"/>
            <a:t>X</a:t>
          </a:r>
          <a:r>
            <a:rPr lang="en-US" baseline="-25000"/>
            <a:t>2</a:t>
          </a:r>
          <a:endParaRPr lang="en-US"/>
        </a:p>
      </dgm:t>
    </dgm:pt>
    <dgm:pt modelId="{E6D89F22-F908-4F3A-A1E7-A5C50F257D4D}" type="parTrans" cxnId="{A8DF723A-8F19-4441-A7BC-D7B23252FC37}">
      <dgm:prSet/>
      <dgm:spPr/>
      <dgm:t>
        <a:bodyPr/>
        <a:lstStyle/>
        <a:p>
          <a:endParaRPr lang="en-US"/>
        </a:p>
      </dgm:t>
    </dgm:pt>
    <dgm:pt modelId="{763513DC-E864-4039-B060-5A617AE6E1B2}" type="sibTrans" cxnId="{A8DF723A-8F19-4441-A7BC-D7B23252FC37}">
      <dgm:prSet/>
      <dgm:spPr/>
      <dgm:t>
        <a:bodyPr/>
        <a:lstStyle/>
        <a:p>
          <a:endParaRPr lang="en-US"/>
        </a:p>
      </dgm:t>
    </dgm:pt>
    <dgm:pt modelId="{593E0A1D-0519-4E96-BA60-52651989CB4A}">
      <dgm:prSet/>
      <dgm:spPr/>
      <dgm:t>
        <a:bodyPr/>
        <a:lstStyle/>
        <a:p>
          <a:r>
            <a:rPr lang="en-US" baseline="-25000"/>
            <a:t>i.e. forward / backward / stepwise regression</a:t>
          </a:r>
          <a:endParaRPr lang="en-US"/>
        </a:p>
      </dgm:t>
    </dgm:pt>
    <dgm:pt modelId="{B364460F-E7C1-4FA3-AA93-A3894F18EC23}" type="parTrans" cxnId="{804B0474-ED66-44D4-9950-5D9A84436443}">
      <dgm:prSet/>
      <dgm:spPr/>
      <dgm:t>
        <a:bodyPr/>
        <a:lstStyle/>
        <a:p>
          <a:endParaRPr lang="en-US"/>
        </a:p>
      </dgm:t>
    </dgm:pt>
    <dgm:pt modelId="{7FDA0C0E-5A86-4723-87D1-D03BDBA3CBD6}" type="sibTrans" cxnId="{804B0474-ED66-44D4-9950-5D9A84436443}">
      <dgm:prSet/>
      <dgm:spPr/>
      <dgm:t>
        <a:bodyPr/>
        <a:lstStyle/>
        <a:p>
          <a:endParaRPr lang="en-US"/>
        </a:p>
      </dgm:t>
    </dgm:pt>
    <dgm:pt modelId="{27DF2A50-DED7-49E9-997A-48AD8AAE67E0}" type="pres">
      <dgm:prSet presAssocID="{FD3A63F1-ABC7-41EB-850F-B6F8466DE557}" presName="Name0" presStyleCnt="0">
        <dgm:presLayoutVars>
          <dgm:dir/>
          <dgm:animLvl val="lvl"/>
          <dgm:resizeHandles val="exact"/>
        </dgm:presLayoutVars>
      </dgm:prSet>
      <dgm:spPr/>
    </dgm:pt>
    <dgm:pt modelId="{94EF682A-0A97-4599-A403-97FC69FDD592}" type="pres">
      <dgm:prSet presAssocID="{D55E210E-E260-4CF9-BEE9-AD72B590567F}" presName="linNode" presStyleCnt="0"/>
      <dgm:spPr/>
    </dgm:pt>
    <dgm:pt modelId="{190CDCD6-73C2-4553-93E2-B839031D4D79}" type="pres">
      <dgm:prSet presAssocID="{D55E210E-E260-4CF9-BEE9-AD72B590567F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EAFD6072-07D4-4A13-94E6-463C60E89F62}" type="pres">
      <dgm:prSet presAssocID="{D55E210E-E260-4CF9-BEE9-AD72B590567F}" presName="descendantText" presStyleLbl="alignAccFollowNode1" presStyleIdx="0" presStyleCnt="3">
        <dgm:presLayoutVars>
          <dgm:bulletEnabled val="1"/>
        </dgm:presLayoutVars>
      </dgm:prSet>
      <dgm:spPr/>
    </dgm:pt>
    <dgm:pt modelId="{5097BBC6-AEC9-47A9-BDBF-AEE153E38CB7}" type="pres">
      <dgm:prSet presAssocID="{67F60F41-0EFE-487B-8F6C-43CE67D3C26A}" presName="sp" presStyleCnt="0"/>
      <dgm:spPr/>
    </dgm:pt>
    <dgm:pt modelId="{F0A180C6-4A08-49B9-90F7-674790702A87}" type="pres">
      <dgm:prSet presAssocID="{DD984943-4C52-41FD-B1A7-178B3A670AFA}" presName="linNode" presStyleCnt="0"/>
      <dgm:spPr/>
    </dgm:pt>
    <dgm:pt modelId="{505095A9-F0B8-49E6-9DF1-BE083175A031}" type="pres">
      <dgm:prSet presAssocID="{DD984943-4C52-41FD-B1A7-178B3A670AFA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5F545F53-1365-49C8-83D5-254F33C562E3}" type="pres">
      <dgm:prSet presAssocID="{DD984943-4C52-41FD-B1A7-178B3A670AFA}" presName="descendantText" presStyleLbl="alignAccFollowNode1" presStyleIdx="1" presStyleCnt="3">
        <dgm:presLayoutVars>
          <dgm:bulletEnabled val="1"/>
        </dgm:presLayoutVars>
      </dgm:prSet>
      <dgm:spPr/>
    </dgm:pt>
    <dgm:pt modelId="{B11652C3-4757-4597-AFE1-3E0DB8A2C83D}" type="pres">
      <dgm:prSet presAssocID="{6AAD5D3F-C93D-4E20-B076-B36739426985}" presName="sp" presStyleCnt="0"/>
      <dgm:spPr/>
    </dgm:pt>
    <dgm:pt modelId="{457CBBAA-C3E9-486A-8054-0957938660B6}" type="pres">
      <dgm:prSet presAssocID="{9E9550CA-BFDD-42E9-8E26-6A5EBCEC425B}" presName="linNode" presStyleCnt="0"/>
      <dgm:spPr/>
    </dgm:pt>
    <dgm:pt modelId="{382D21F3-7E47-4EBD-95A3-4B4A3B391931}" type="pres">
      <dgm:prSet presAssocID="{9E9550CA-BFDD-42E9-8E26-6A5EBCEC425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BBCD7AC0-FF99-414A-82F4-488BC96C7735}" type="pres">
      <dgm:prSet presAssocID="{9E9550CA-BFDD-42E9-8E26-6A5EBCEC425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3D2ACD04-E77C-448B-96A8-B844D18DBB7C}" type="presOf" srcId="{F06C459B-DE3F-4480-81D6-C747F38263CE}" destId="{EAFD6072-07D4-4A13-94E6-463C60E89F62}" srcOrd="0" destOrd="2" presId="urn:microsoft.com/office/officeart/2005/8/layout/vList5"/>
    <dgm:cxn modelId="{29C63910-68E3-4A03-B20E-15BD6288097B}" type="presOf" srcId="{49ABDBE8-F458-46A6-BF50-4509AA6D939B}" destId="{5F545F53-1365-49C8-83D5-254F33C562E3}" srcOrd="0" destOrd="2" presId="urn:microsoft.com/office/officeart/2005/8/layout/vList5"/>
    <dgm:cxn modelId="{D8176D1B-4869-4022-B7A9-A6E124DF3B72}" srcId="{FD3A63F1-ABC7-41EB-850F-B6F8466DE557}" destId="{DD984943-4C52-41FD-B1A7-178B3A670AFA}" srcOrd="1" destOrd="0" parTransId="{ACABE157-F6B8-42A6-89FA-126B9BA16425}" sibTransId="{6AAD5D3F-C93D-4E20-B076-B36739426985}"/>
    <dgm:cxn modelId="{343EE92C-4465-43BC-B547-20FF1E6F6CCC}" type="presOf" srcId="{DD984943-4C52-41FD-B1A7-178B3A670AFA}" destId="{505095A9-F0B8-49E6-9DF1-BE083175A031}" srcOrd="0" destOrd="0" presId="urn:microsoft.com/office/officeart/2005/8/layout/vList5"/>
    <dgm:cxn modelId="{31D02738-E50C-423E-A846-AFDDB93CC4B2}" type="presOf" srcId="{FD3A63F1-ABC7-41EB-850F-B6F8466DE557}" destId="{27DF2A50-DED7-49E9-997A-48AD8AAE67E0}" srcOrd="0" destOrd="0" presId="urn:microsoft.com/office/officeart/2005/8/layout/vList5"/>
    <dgm:cxn modelId="{F0B1E839-77FF-4147-9CAC-1FB5BD10E962}" srcId="{DD984943-4C52-41FD-B1A7-178B3A670AFA}" destId="{CC866920-1E2C-4215-9D6D-8A3965F960EE}" srcOrd="0" destOrd="0" parTransId="{8C5476D5-CCE5-4744-8BCB-DD271799017E}" sibTransId="{0D280CB7-1FD8-4FA2-929D-7DC73CD67AB3}"/>
    <dgm:cxn modelId="{A8DF723A-8F19-4441-A7BC-D7B23252FC37}" srcId="{9E9550CA-BFDD-42E9-8E26-6A5EBCEC425B}" destId="{808A9D04-1F16-4E2F-8D96-A59EA7F99AA2}" srcOrd="0" destOrd="0" parTransId="{E6D89F22-F908-4F3A-A1E7-A5C50F257D4D}" sibTransId="{763513DC-E864-4039-B060-5A617AE6E1B2}"/>
    <dgm:cxn modelId="{400C0B3E-3427-42F2-BEA0-017D392FCB55}" type="presOf" srcId="{CC866920-1E2C-4215-9D6D-8A3965F960EE}" destId="{5F545F53-1365-49C8-83D5-254F33C562E3}" srcOrd="0" destOrd="0" presId="urn:microsoft.com/office/officeart/2005/8/layout/vList5"/>
    <dgm:cxn modelId="{24142168-91CA-47B9-B543-1D590FE873EA}" srcId="{D55E210E-E260-4CF9-BEE9-AD72B590567F}" destId="{F06C459B-DE3F-4480-81D6-C747F38263CE}" srcOrd="2" destOrd="0" parTransId="{02FA6D72-5CCA-4080-B5F6-CF0CF85C715C}" sibTransId="{87A89223-F437-4BCE-B68E-49ADADA8076B}"/>
    <dgm:cxn modelId="{FB816768-BFBC-4BDC-B69E-7A048993A957}" srcId="{DD984943-4C52-41FD-B1A7-178B3A670AFA}" destId="{49ABDBE8-F458-46A6-BF50-4509AA6D939B}" srcOrd="2" destOrd="0" parTransId="{D21774FE-0958-45C9-B809-B825A018D13F}" sibTransId="{09579F92-178D-464F-A4BB-46B109657E4D}"/>
    <dgm:cxn modelId="{EC33B34E-BA42-460A-B760-F6143095C883}" type="presOf" srcId="{C1AFA1B5-9079-4A59-B616-78790AE06619}" destId="{EAFD6072-07D4-4A13-94E6-463C60E89F62}" srcOrd="0" destOrd="0" presId="urn:microsoft.com/office/officeart/2005/8/layout/vList5"/>
    <dgm:cxn modelId="{804B0474-ED66-44D4-9950-5D9A84436443}" srcId="{9E9550CA-BFDD-42E9-8E26-6A5EBCEC425B}" destId="{593E0A1D-0519-4E96-BA60-52651989CB4A}" srcOrd="1" destOrd="0" parTransId="{B364460F-E7C1-4FA3-AA93-A3894F18EC23}" sibTransId="{7FDA0C0E-5A86-4723-87D1-D03BDBA3CBD6}"/>
    <dgm:cxn modelId="{459B8859-5629-4EE6-8C7E-2741B1B40129}" type="presOf" srcId="{7784305E-59FF-4267-A264-2FCA0769D010}" destId="{5F545F53-1365-49C8-83D5-254F33C562E3}" srcOrd="0" destOrd="1" presId="urn:microsoft.com/office/officeart/2005/8/layout/vList5"/>
    <dgm:cxn modelId="{D63F5285-AFCD-4B77-A407-B66FCB350BE7}" type="presOf" srcId="{D55E210E-E260-4CF9-BEE9-AD72B590567F}" destId="{190CDCD6-73C2-4553-93E2-B839031D4D79}" srcOrd="0" destOrd="0" presId="urn:microsoft.com/office/officeart/2005/8/layout/vList5"/>
    <dgm:cxn modelId="{6C2A6C86-35C3-4730-8AF8-9A798F51B0FC}" type="presOf" srcId="{E53E368F-56BD-4533-9E58-49564B15E0C3}" destId="{EAFD6072-07D4-4A13-94E6-463C60E89F62}" srcOrd="0" destOrd="1" presId="urn:microsoft.com/office/officeart/2005/8/layout/vList5"/>
    <dgm:cxn modelId="{D26F138E-3D92-45A9-8469-6E6168F79395}" type="presOf" srcId="{593E0A1D-0519-4E96-BA60-52651989CB4A}" destId="{BBCD7AC0-FF99-414A-82F4-488BC96C7735}" srcOrd="0" destOrd="1" presId="urn:microsoft.com/office/officeart/2005/8/layout/vList5"/>
    <dgm:cxn modelId="{C7430B9E-05E9-4237-A37C-640B39E038D3}" srcId="{D55E210E-E260-4CF9-BEE9-AD72B590567F}" destId="{E53E368F-56BD-4533-9E58-49564B15E0C3}" srcOrd="1" destOrd="0" parTransId="{2094F5F9-8AF8-48CC-B503-D33AA71D0844}" sibTransId="{852436A9-025B-4D8F-9794-A7C2D6EC2B26}"/>
    <dgm:cxn modelId="{9364CFA8-2F59-454B-9D01-273A33C91CD0}" srcId="{DD984943-4C52-41FD-B1A7-178B3A670AFA}" destId="{7784305E-59FF-4267-A264-2FCA0769D010}" srcOrd="1" destOrd="0" parTransId="{3A9FB246-9E17-4629-9EC3-DDDB1E55FB68}" sibTransId="{FA075B22-1412-429E-B183-FE4E871B1956}"/>
    <dgm:cxn modelId="{4AF055CA-3EC7-4D16-9161-329E630EAB8B}" srcId="{D55E210E-E260-4CF9-BEE9-AD72B590567F}" destId="{C1AFA1B5-9079-4A59-B616-78790AE06619}" srcOrd="0" destOrd="0" parTransId="{D40D206C-4990-4FA1-AFEC-1A603E966157}" sibTransId="{83A31773-369E-4DC8-B93C-16931ABA2885}"/>
    <dgm:cxn modelId="{0EB468D6-12C9-4FA7-8BDC-A264671F9D85}" type="presOf" srcId="{9E9550CA-BFDD-42E9-8E26-6A5EBCEC425B}" destId="{382D21F3-7E47-4EBD-95A3-4B4A3B391931}" srcOrd="0" destOrd="0" presId="urn:microsoft.com/office/officeart/2005/8/layout/vList5"/>
    <dgm:cxn modelId="{BCBC40DE-A81F-414F-A930-CE832282B531}" srcId="{FD3A63F1-ABC7-41EB-850F-B6F8466DE557}" destId="{D55E210E-E260-4CF9-BEE9-AD72B590567F}" srcOrd="0" destOrd="0" parTransId="{0FD021D1-C47C-41FB-AE13-073EA3563E76}" sibTransId="{67F60F41-0EFE-487B-8F6C-43CE67D3C26A}"/>
    <dgm:cxn modelId="{DB7331E7-FC46-4BA2-9801-4C2307D42F4F}" type="presOf" srcId="{808A9D04-1F16-4E2F-8D96-A59EA7F99AA2}" destId="{BBCD7AC0-FF99-414A-82F4-488BC96C7735}" srcOrd="0" destOrd="0" presId="urn:microsoft.com/office/officeart/2005/8/layout/vList5"/>
    <dgm:cxn modelId="{6D3E69FB-D8A6-4C03-9E0A-9182B66A8187}" srcId="{FD3A63F1-ABC7-41EB-850F-B6F8466DE557}" destId="{9E9550CA-BFDD-42E9-8E26-6A5EBCEC425B}" srcOrd="2" destOrd="0" parTransId="{40B16CA6-7135-43D6-B78B-2CB17A7E4B02}" sibTransId="{8CE555AA-7CF4-4EC3-8D3F-24545891A434}"/>
    <dgm:cxn modelId="{A522A299-CBFB-462E-9D9D-6D24E2036460}" type="presParOf" srcId="{27DF2A50-DED7-49E9-997A-48AD8AAE67E0}" destId="{94EF682A-0A97-4599-A403-97FC69FDD592}" srcOrd="0" destOrd="0" presId="urn:microsoft.com/office/officeart/2005/8/layout/vList5"/>
    <dgm:cxn modelId="{BB57EBBD-9AD8-42D2-9A2D-60E2FE43177F}" type="presParOf" srcId="{94EF682A-0A97-4599-A403-97FC69FDD592}" destId="{190CDCD6-73C2-4553-93E2-B839031D4D79}" srcOrd="0" destOrd="0" presId="urn:microsoft.com/office/officeart/2005/8/layout/vList5"/>
    <dgm:cxn modelId="{A7C17C11-94A3-4E5A-8798-524C20406AF0}" type="presParOf" srcId="{94EF682A-0A97-4599-A403-97FC69FDD592}" destId="{EAFD6072-07D4-4A13-94E6-463C60E89F62}" srcOrd="1" destOrd="0" presId="urn:microsoft.com/office/officeart/2005/8/layout/vList5"/>
    <dgm:cxn modelId="{331F0F03-6E8A-4221-B404-872524EAAED9}" type="presParOf" srcId="{27DF2A50-DED7-49E9-997A-48AD8AAE67E0}" destId="{5097BBC6-AEC9-47A9-BDBF-AEE153E38CB7}" srcOrd="1" destOrd="0" presId="urn:microsoft.com/office/officeart/2005/8/layout/vList5"/>
    <dgm:cxn modelId="{BF4D0323-3214-4C60-BC23-8BC4A28167E9}" type="presParOf" srcId="{27DF2A50-DED7-49E9-997A-48AD8AAE67E0}" destId="{F0A180C6-4A08-49B9-90F7-674790702A87}" srcOrd="2" destOrd="0" presId="urn:microsoft.com/office/officeart/2005/8/layout/vList5"/>
    <dgm:cxn modelId="{0F994427-B688-4256-9272-FC2FAB8D4BC6}" type="presParOf" srcId="{F0A180C6-4A08-49B9-90F7-674790702A87}" destId="{505095A9-F0B8-49E6-9DF1-BE083175A031}" srcOrd="0" destOrd="0" presId="urn:microsoft.com/office/officeart/2005/8/layout/vList5"/>
    <dgm:cxn modelId="{1CB31D54-8228-402D-9489-AAEB538B9CEB}" type="presParOf" srcId="{F0A180C6-4A08-49B9-90F7-674790702A87}" destId="{5F545F53-1365-49C8-83D5-254F33C562E3}" srcOrd="1" destOrd="0" presId="urn:microsoft.com/office/officeart/2005/8/layout/vList5"/>
    <dgm:cxn modelId="{CA50BB18-9C8F-4120-81B6-A2766F43903A}" type="presParOf" srcId="{27DF2A50-DED7-49E9-997A-48AD8AAE67E0}" destId="{B11652C3-4757-4597-AFE1-3E0DB8A2C83D}" srcOrd="3" destOrd="0" presId="urn:microsoft.com/office/officeart/2005/8/layout/vList5"/>
    <dgm:cxn modelId="{180EFD30-1EB4-4B87-966E-C4AB280372E2}" type="presParOf" srcId="{27DF2A50-DED7-49E9-997A-48AD8AAE67E0}" destId="{457CBBAA-C3E9-486A-8054-0957938660B6}" srcOrd="4" destOrd="0" presId="urn:microsoft.com/office/officeart/2005/8/layout/vList5"/>
    <dgm:cxn modelId="{FA4618F6-4399-4233-97FE-FAE449655C06}" type="presParOf" srcId="{457CBBAA-C3E9-486A-8054-0957938660B6}" destId="{382D21F3-7E47-4EBD-95A3-4B4A3B391931}" srcOrd="0" destOrd="0" presId="urn:microsoft.com/office/officeart/2005/8/layout/vList5"/>
    <dgm:cxn modelId="{8CA4A665-F043-4BDA-A1E3-887491633A0B}" type="presParOf" srcId="{457CBBAA-C3E9-486A-8054-0957938660B6}" destId="{BBCD7AC0-FF99-414A-82F4-488BC96C773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01A3AE-D48A-46A3-A303-1356700373F5}" type="doc">
      <dgm:prSet loTypeId="urn:microsoft.com/office/officeart/2008/layout/LinedList" loCatId="list" qsTypeId="urn:microsoft.com/office/officeart/2005/8/quickstyle/simple4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38ED31F-CEDC-4966-9872-A11D530E1075}">
      <dgm:prSet/>
      <dgm:spPr/>
      <dgm:t>
        <a:bodyPr/>
        <a:lstStyle/>
        <a:p>
          <a:r>
            <a:rPr lang="en-US"/>
            <a:t>Closely resemble human reasoning</a:t>
          </a:r>
        </a:p>
      </dgm:t>
    </dgm:pt>
    <dgm:pt modelId="{4C9C1E45-A887-4D03-8649-8B7D9DECCF87}" type="parTrans" cxnId="{53688852-B6B0-4A60-BD4D-84EC58CB587B}">
      <dgm:prSet/>
      <dgm:spPr/>
      <dgm:t>
        <a:bodyPr/>
        <a:lstStyle/>
        <a:p>
          <a:endParaRPr lang="en-US"/>
        </a:p>
      </dgm:t>
    </dgm:pt>
    <dgm:pt modelId="{CFE9571F-FE07-49CA-8AE2-E3C7ED92AD66}" type="sibTrans" cxnId="{53688852-B6B0-4A60-BD4D-84EC58CB587B}">
      <dgm:prSet/>
      <dgm:spPr/>
      <dgm:t>
        <a:bodyPr/>
        <a:lstStyle/>
        <a:p>
          <a:endParaRPr lang="en-US"/>
        </a:p>
      </dgm:t>
    </dgm:pt>
    <dgm:pt modelId="{A2DF38F9-E679-40A9-BE8B-5D193B743F32}">
      <dgm:prSet/>
      <dgm:spPr/>
      <dgm:t>
        <a:bodyPr/>
        <a:lstStyle/>
        <a:p>
          <a:r>
            <a:rPr lang="en-US"/>
            <a:t>Quickly executed</a:t>
          </a:r>
        </a:p>
      </dgm:t>
    </dgm:pt>
    <dgm:pt modelId="{02B0B759-43EC-4F8B-8816-37953FB7D00A}" type="parTrans" cxnId="{7A80C4BB-A8D4-449A-91B1-0D439DCA7416}">
      <dgm:prSet/>
      <dgm:spPr/>
      <dgm:t>
        <a:bodyPr/>
        <a:lstStyle/>
        <a:p>
          <a:endParaRPr lang="en-US"/>
        </a:p>
      </dgm:t>
    </dgm:pt>
    <dgm:pt modelId="{7533CD59-85E8-4E69-99C3-CEE422B16F32}" type="sibTrans" cxnId="{7A80C4BB-A8D4-449A-91B1-0D439DCA7416}">
      <dgm:prSet/>
      <dgm:spPr/>
      <dgm:t>
        <a:bodyPr/>
        <a:lstStyle/>
        <a:p>
          <a:endParaRPr lang="en-US"/>
        </a:p>
      </dgm:t>
    </dgm:pt>
    <dgm:pt modelId="{41F0228F-8B04-469A-B816-50977E6004CC}">
      <dgm:prSet/>
      <dgm:spPr/>
      <dgm:t>
        <a:bodyPr/>
        <a:lstStyle/>
        <a:p>
          <a:r>
            <a:rPr lang="en-US"/>
            <a:t>Do not assume / require normality</a:t>
          </a:r>
        </a:p>
      </dgm:t>
    </dgm:pt>
    <dgm:pt modelId="{04BA49E8-AA68-48CF-A179-3A6BE9D196AA}" type="parTrans" cxnId="{45C1EE08-C573-4BDD-82AA-1FE78E2FCF7F}">
      <dgm:prSet/>
      <dgm:spPr/>
      <dgm:t>
        <a:bodyPr/>
        <a:lstStyle/>
        <a:p>
          <a:endParaRPr lang="en-US"/>
        </a:p>
      </dgm:t>
    </dgm:pt>
    <dgm:pt modelId="{4D2A6A87-3333-492F-A7E8-18F7A242498D}" type="sibTrans" cxnId="{45C1EE08-C573-4BDD-82AA-1FE78E2FCF7F}">
      <dgm:prSet/>
      <dgm:spPr/>
      <dgm:t>
        <a:bodyPr/>
        <a:lstStyle/>
        <a:p>
          <a:endParaRPr lang="en-US"/>
        </a:p>
      </dgm:t>
    </dgm:pt>
    <dgm:pt modelId="{46310378-7DD0-479C-ACC3-A5CD31AA60DB}">
      <dgm:prSet/>
      <dgm:spPr/>
      <dgm:t>
        <a:bodyPr/>
        <a:lstStyle/>
        <a:p>
          <a:r>
            <a:rPr lang="en-US"/>
            <a:t>Handles both continuous and categorical data</a:t>
          </a:r>
        </a:p>
      </dgm:t>
    </dgm:pt>
    <dgm:pt modelId="{A971D087-DA68-4FAD-97D3-9B6A9E28CCFB}" type="parTrans" cxnId="{9F11C064-CD5D-4CE9-88D1-CDF0949522CF}">
      <dgm:prSet/>
      <dgm:spPr/>
      <dgm:t>
        <a:bodyPr/>
        <a:lstStyle/>
        <a:p>
          <a:endParaRPr lang="en-US"/>
        </a:p>
      </dgm:t>
    </dgm:pt>
    <dgm:pt modelId="{A22F2093-2BD4-48DD-9961-08DCAEFF50AB}" type="sibTrans" cxnId="{9F11C064-CD5D-4CE9-88D1-CDF0949522CF}">
      <dgm:prSet/>
      <dgm:spPr/>
      <dgm:t>
        <a:bodyPr/>
        <a:lstStyle/>
        <a:p>
          <a:endParaRPr lang="en-US"/>
        </a:p>
      </dgm:t>
    </dgm:pt>
    <dgm:pt modelId="{79A6E2E0-38DE-496C-B7E0-AED5174E57C6}">
      <dgm:prSet/>
      <dgm:spPr/>
      <dgm:t>
        <a:bodyPr/>
        <a:lstStyle/>
        <a:p>
          <a:r>
            <a:rPr lang="en-US"/>
            <a:t>Perform Regression and Classification</a:t>
          </a:r>
        </a:p>
      </dgm:t>
    </dgm:pt>
    <dgm:pt modelId="{BF381066-50E6-4C75-99C7-56F387980667}" type="parTrans" cxnId="{94D9430A-F79A-48C9-8A04-CA8ECB155716}">
      <dgm:prSet/>
      <dgm:spPr/>
      <dgm:t>
        <a:bodyPr/>
        <a:lstStyle/>
        <a:p>
          <a:endParaRPr lang="en-US"/>
        </a:p>
      </dgm:t>
    </dgm:pt>
    <dgm:pt modelId="{3545A4EE-FBD4-4EF6-82E1-ABB64C764181}" type="sibTrans" cxnId="{94D9430A-F79A-48C9-8A04-CA8ECB155716}">
      <dgm:prSet/>
      <dgm:spPr/>
      <dgm:t>
        <a:bodyPr/>
        <a:lstStyle/>
        <a:p>
          <a:endParaRPr lang="en-US"/>
        </a:p>
      </dgm:t>
    </dgm:pt>
    <dgm:pt modelId="{F3341A32-ACB1-4FBD-B540-1D96E4FE53DE}">
      <dgm:prSet/>
      <dgm:spPr/>
      <dgm:t>
        <a:bodyPr/>
        <a:lstStyle/>
        <a:p>
          <a:r>
            <a:rPr lang="en-US"/>
            <a:t>*Easily interpretable results</a:t>
          </a:r>
        </a:p>
      </dgm:t>
    </dgm:pt>
    <dgm:pt modelId="{60F39DE4-355A-4845-A568-59369147F372}" type="parTrans" cxnId="{2E360556-5F28-4E3A-9BBD-22AFEA260D3E}">
      <dgm:prSet/>
      <dgm:spPr/>
      <dgm:t>
        <a:bodyPr/>
        <a:lstStyle/>
        <a:p>
          <a:endParaRPr lang="en-US"/>
        </a:p>
      </dgm:t>
    </dgm:pt>
    <dgm:pt modelId="{0B5AF99B-42F6-48E0-924D-9BCE6EB7885C}" type="sibTrans" cxnId="{2E360556-5F28-4E3A-9BBD-22AFEA260D3E}">
      <dgm:prSet/>
      <dgm:spPr/>
      <dgm:t>
        <a:bodyPr/>
        <a:lstStyle/>
        <a:p>
          <a:endParaRPr lang="en-US"/>
        </a:p>
      </dgm:t>
    </dgm:pt>
    <dgm:pt modelId="{39FAD115-9D8C-407C-8050-C7FE1A09D6A8}">
      <dgm:prSet/>
      <dgm:spPr/>
      <dgm:t>
        <a:bodyPr/>
        <a:lstStyle/>
        <a:p>
          <a:r>
            <a:rPr lang="en-US"/>
            <a:t>Handles missing values and dirty data</a:t>
          </a:r>
        </a:p>
      </dgm:t>
    </dgm:pt>
    <dgm:pt modelId="{589530F9-F052-4344-8C6A-97D4702B4C3F}" type="parTrans" cxnId="{19C253D7-794F-486B-AEB2-EB8D0C74C0FE}">
      <dgm:prSet/>
      <dgm:spPr/>
      <dgm:t>
        <a:bodyPr/>
        <a:lstStyle/>
        <a:p>
          <a:endParaRPr lang="en-US"/>
        </a:p>
      </dgm:t>
    </dgm:pt>
    <dgm:pt modelId="{BE80374A-3C0B-48EA-8D03-68273F5B2E12}" type="sibTrans" cxnId="{19C253D7-794F-486B-AEB2-EB8D0C74C0FE}">
      <dgm:prSet/>
      <dgm:spPr/>
      <dgm:t>
        <a:bodyPr/>
        <a:lstStyle/>
        <a:p>
          <a:endParaRPr lang="en-US"/>
        </a:p>
      </dgm:t>
    </dgm:pt>
    <dgm:pt modelId="{9A1E50ED-ACBA-4514-962E-C96CAD0503D5}">
      <dgm:prSet/>
      <dgm:spPr/>
      <dgm:t>
        <a:bodyPr/>
        <a:lstStyle/>
        <a:p>
          <a:r>
            <a:rPr lang="en-US"/>
            <a:t>Useful for exploratory analysis and prediction</a:t>
          </a:r>
        </a:p>
      </dgm:t>
    </dgm:pt>
    <dgm:pt modelId="{A672820F-F89A-4AB4-BC67-10594E92B742}" type="parTrans" cxnId="{25063821-8802-43D8-82B3-D47B57E25AE7}">
      <dgm:prSet/>
      <dgm:spPr/>
      <dgm:t>
        <a:bodyPr/>
        <a:lstStyle/>
        <a:p>
          <a:endParaRPr lang="en-US"/>
        </a:p>
      </dgm:t>
    </dgm:pt>
    <dgm:pt modelId="{D0F3B17F-1861-43F3-8F9F-5D566E60F3F2}" type="sibTrans" cxnId="{25063821-8802-43D8-82B3-D47B57E25AE7}">
      <dgm:prSet/>
      <dgm:spPr/>
      <dgm:t>
        <a:bodyPr/>
        <a:lstStyle/>
        <a:p>
          <a:endParaRPr lang="en-US"/>
        </a:p>
      </dgm:t>
    </dgm:pt>
    <dgm:pt modelId="{AC68D879-4E19-410C-B76A-C40414436036}" type="pres">
      <dgm:prSet presAssocID="{A001A3AE-D48A-46A3-A303-1356700373F5}" presName="vert0" presStyleCnt="0">
        <dgm:presLayoutVars>
          <dgm:dir/>
          <dgm:animOne val="branch"/>
          <dgm:animLvl val="lvl"/>
        </dgm:presLayoutVars>
      </dgm:prSet>
      <dgm:spPr/>
    </dgm:pt>
    <dgm:pt modelId="{55EDC44B-6D4D-4E85-9F96-9F107D5D44A8}" type="pres">
      <dgm:prSet presAssocID="{338ED31F-CEDC-4966-9872-A11D530E1075}" presName="thickLine" presStyleLbl="alignNode1" presStyleIdx="0" presStyleCnt="8"/>
      <dgm:spPr/>
    </dgm:pt>
    <dgm:pt modelId="{1080BF73-C5BB-4757-BB2D-9F89BCC434E5}" type="pres">
      <dgm:prSet presAssocID="{338ED31F-CEDC-4966-9872-A11D530E1075}" presName="horz1" presStyleCnt="0"/>
      <dgm:spPr/>
    </dgm:pt>
    <dgm:pt modelId="{BF791EF8-1120-4534-95C6-1354EF4C888C}" type="pres">
      <dgm:prSet presAssocID="{338ED31F-CEDC-4966-9872-A11D530E1075}" presName="tx1" presStyleLbl="revTx" presStyleIdx="0" presStyleCnt="8"/>
      <dgm:spPr/>
    </dgm:pt>
    <dgm:pt modelId="{2071BAFC-5828-4BA8-9A40-C4C758528120}" type="pres">
      <dgm:prSet presAssocID="{338ED31F-CEDC-4966-9872-A11D530E1075}" presName="vert1" presStyleCnt="0"/>
      <dgm:spPr/>
    </dgm:pt>
    <dgm:pt modelId="{53189C4B-31E9-41BB-B066-03B149C28F1E}" type="pres">
      <dgm:prSet presAssocID="{A2DF38F9-E679-40A9-BE8B-5D193B743F32}" presName="thickLine" presStyleLbl="alignNode1" presStyleIdx="1" presStyleCnt="8"/>
      <dgm:spPr/>
    </dgm:pt>
    <dgm:pt modelId="{E7BEFE19-51FE-4ED6-97F9-BEE2F024ACA0}" type="pres">
      <dgm:prSet presAssocID="{A2DF38F9-E679-40A9-BE8B-5D193B743F32}" presName="horz1" presStyleCnt="0"/>
      <dgm:spPr/>
    </dgm:pt>
    <dgm:pt modelId="{52EE7316-A5E6-4458-9A8E-A6BE219EA4EB}" type="pres">
      <dgm:prSet presAssocID="{A2DF38F9-E679-40A9-BE8B-5D193B743F32}" presName="tx1" presStyleLbl="revTx" presStyleIdx="1" presStyleCnt="8"/>
      <dgm:spPr/>
    </dgm:pt>
    <dgm:pt modelId="{06BF3EBD-A6DC-4837-8D64-73BE6A3BB41B}" type="pres">
      <dgm:prSet presAssocID="{A2DF38F9-E679-40A9-BE8B-5D193B743F32}" presName="vert1" presStyleCnt="0"/>
      <dgm:spPr/>
    </dgm:pt>
    <dgm:pt modelId="{273888FC-E11F-4771-BEEE-B1A2D8FD6A1C}" type="pres">
      <dgm:prSet presAssocID="{41F0228F-8B04-469A-B816-50977E6004CC}" presName="thickLine" presStyleLbl="alignNode1" presStyleIdx="2" presStyleCnt="8"/>
      <dgm:spPr/>
    </dgm:pt>
    <dgm:pt modelId="{A9B42358-D9F0-4D66-80A8-DD105EA1D95C}" type="pres">
      <dgm:prSet presAssocID="{41F0228F-8B04-469A-B816-50977E6004CC}" presName="horz1" presStyleCnt="0"/>
      <dgm:spPr/>
    </dgm:pt>
    <dgm:pt modelId="{CF98C3D2-B082-4507-B671-413162230044}" type="pres">
      <dgm:prSet presAssocID="{41F0228F-8B04-469A-B816-50977E6004CC}" presName="tx1" presStyleLbl="revTx" presStyleIdx="2" presStyleCnt="8"/>
      <dgm:spPr/>
    </dgm:pt>
    <dgm:pt modelId="{5235E342-A65D-4616-99D0-B916BCA3B0BE}" type="pres">
      <dgm:prSet presAssocID="{41F0228F-8B04-469A-B816-50977E6004CC}" presName="vert1" presStyleCnt="0"/>
      <dgm:spPr/>
    </dgm:pt>
    <dgm:pt modelId="{1C98BFCD-545F-49F3-88A3-3B68CDA735FF}" type="pres">
      <dgm:prSet presAssocID="{46310378-7DD0-479C-ACC3-A5CD31AA60DB}" presName="thickLine" presStyleLbl="alignNode1" presStyleIdx="3" presStyleCnt="8"/>
      <dgm:spPr/>
    </dgm:pt>
    <dgm:pt modelId="{EC984069-99D2-49B1-8DD4-E972593F994A}" type="pres">
      <dgm:prSet presAssocID="{46310378-7DD0-479C-ACC3-A5CD31AA60DB}" presName="horz1" presStyleCnt="0"/>
      <dgm:spPr/>
    </dgm:pt>
    <dgm:pt modelId="{021813CB-FA6A-4BF7-8F70-3FE454F5980D}" type="pres">
      <dgm:prSet presAssocID="{46310378-7DD0-479C-ACC3-A5CD31AA60DB}" presName="tx1" presStyleLbl="revTx" presStyleIdx="3" presStyleCnt="8"/>
      <dgm:spPr/>
    </dgm:pt>
    <dgm:pt modelId="{C12EFC6C-2CF8-4BA3-BA36-AC6CA466E3DC}" type="pres">
      <dgm:prSet presAssocID="{46310378-7DD0-479C-ACC3-A5CD31AA60DB}" presName="vert1" presStyleCnt="0"/>
      <dgm:spPr/>
    </dgm:pt>
    <dgm:pt modelId="{2B279F3F-3EF3-440F-9376-DEBE260C874F}" type="pres">
      <dgm:prSet presAssocID="{79A6E2E0-38DE-496C-B7E0-AED5174E57C6}" presName="thickLine" presStyleLbl="alignNode1" presStyleIdx="4" presStyleCnt="8"/>
      <dgm:spPr/>
    </dgm:pt>
    <dgm:pt modelId="{F83A4244-A8BA-47B9-9BB0-28E9FC2FE051}" type="pres">
      <dgm:prSet presAssocID="{79A6E2E0-38DE-496C-B7E0-AED5174E57C6}" presName="horz1" presStyleCnt="0"/>
      <dgm:spPr/>
    </dgm:pt>
    <dgm:pt modelId="{32EAB84F-7889-48E7-A6CA-51B67F2D182D}" type="pres">
      <dgm:prSet presAssocID="{79A6E2E0-38DE-496C-B7E0-AED5174E57C6}" presName="tx1" presStyleLbl="revTx" presStyleIdx="4" presStyleCnt="8"/>
      <dgm:spPr/>
    </dgm:pt>
    <dgm:pt modelId="{CB547CCD-1C74-4C08-A280-140CC69BB77B}" type="pres">
      <dgm:prSet presAssocID="{79A6E2E0-38DE-496C-B7E0-AED5174E57C6}" presName="vert1" presStyleCnt="0"/>
      <dgm:spPr/>
    </dgm:pt>
    <dgm:pt modelId="{B053508F-5EC8-4DC3-86AB-77319D1C726E}" type="pres">
      <dgm:prSet presAssocID="{F3341A32-ACB1-4FBD-B540-1D96E4FE53DE}" presName="thickLine" presStyleLbl="alignNode1" presStyleIdx="5" presStyleCnt="8"/>
      <dgm:spPr/>
    </dgm:pt>
    <dgm:pt modelId="{A3B56108-2ED6-4983-B5B9-6D299DB39151}" type="pres">
      <dgm:prSet presAssocID="{F3341A32-ACB1-4FBD-B540-1D96E4FE53DE}" presName="horz1" presStyleCnt="0"/>
      <dgm:spPr/>
    </dgm:pt>
    <dgm:pt modelId="{1BDC4C4E-A74B-4B9C-89EA-4C62B90E04E1}" type="pres">
      <dgm:prSet presAssocID="{F3341A32-ACB1-4FBD-B540-1D96E4FE53DE}" presName="tx1" presStyleLbl="revTx" presStyleIdx="5" presStyleCnt="8"/>
      <dgm:spPr/>
    </dgm:pt>
    <dgm:pt modelId="{82BF6BA3-E297-40A0-9976-3C0B7E4C0ABE}" type="pres">
      <dgm:prSet presAssocID="{F3341A32-ACB1-4FBD-B540-1D96E4FE53DE}" presName="vert1" presStyleCnt="0"/>
      <dgm:spPr/>
    </dgm:pt>
    <dgm:pt modelId="{FC3C1D32-9572-468B-8051-F99C9587342F}" type="pres">
      <dgm:prSet presAssocID="{39FAD115-9D8C-407C-8050-C7FE1A09D6A8}" presName="thickLine" presStyleLbl="alignNode1" presStyleIdx="6" presStyleCnt="8"/>
      <dgm:spPr/>
    </dgm:pt>
    <dgm:pt modelId="{6F82B473-6226-4D4F-9B90-E726637E0BA9}" type="pres">
      <dgm:prSet presAssocID="{39FAD115-9D8C-407C-8050-C7FE1A09D6A8}" presName="horz1" presStyleCnt="0"/>
      <dgm:spPr/>
    </dgm:pt>
    <dgm:pt modelId="{3B15C789-C9F4-42C0-92D4-94C716CB0845}" type="pres">
      <dgm:prSet presAssocID="{39FAD115-9D8C-407C-8050-C7FE1A09D6A8}" presName="tx1" presStyleLbl="revTx" presStyleIdx="6" presStyleCnt="8"/>
      <dgm:spPr/>
    </dgm:pt>
    <dgm:pt modelId="{9B67E930-F703-489A-AC08-593E6BBE31A6}" type="pres">
      <dgm:prSet presAssocID="{39FAD115-9D8C-407C-8050-C7FE1A09D6A8}" presName="vert1" presStyleCnt="0"/>
      <dgm:spPr/>
    </dgm:pt>
    <dgm:pt modelId="{DEC9070F-4FFB-4F85-A43F-05EFB41DCF0E}" type="pres">
      <dgm:prSet presAssocID="{9A1E50ED-ACBA-4514-962E-C96CAD0503D5}" presName="thickLine" presStyleLbl="alignNode1" presStyleIdx="7" presStyleCnt="8"/>
      <dgm:spPr/>
    </dgm:pt>
    <dgm:pt modelId="{0A53E3B5-A77B-4667-A274-9595394CEB3B}" type="pres">
      <dgm:prSet presAssocID="{9A1E50ED-ACBA-4514-962E-C96CAD0503D5}" presName="horz1" presStyleCnt="0"/>
      <dgm:spPr/>
    </dgm:pt>
    <dgm:pt modelId="{185B6E90-FF8D-4AFB-98CB-581421CF1DE1}" type="pres">
      <dgm:prSet presAssocID="{9A1E50ED-ACBA-4514-962E-C96CAD0503D5}" presName="tx1" presStyleLbl="revTx" presStyleIdx="7" presStyleCnt="8"/>
      <dgm:spPr/>
    </dgm:pt>
    <dgm:pt modelId="{B94FB721-A9C0-4974-B9DB-BA8A87BAB156}" type="pres">
      <dgm:prSet presAssocID="{9A1E50ED-ACBA-4514-962E-C96CAD0503D5}" presName="vert1" presStyleCnt="0"/>
      <dgm:spPr/>
    </dgm:pt>
  </dgm:ptLst>
  <dgm:cxnLst>
    <dgm:cxn modelId="{E11F4D01-CB16-4F77-AB1A-FD8E59E33DBE}" type="presOf" srcId="{46310378-7DD0-479C-ACC3-A5CD31AA60DB}" destId="{021813CB-FA6A-4BF7-8F70-3FE454F5980D}" srcOrd="0" destOrd="0" presId="urn:microsoft.com/office/officeart/2008/layout/LinedList"/>
    <dgm:cxn modelId="{45C1EE08-C573-4BDD-82AA-1FE78E2FCF7F}" srcId="{A001A3AE-D48A-46A3-A303-1356700373F5}" destId="{41F0228F-8B04-469A-B816-50977E6004CC}" srcOrd="2" destOrd="0" parTransId="{04BA49E8-AA68-48CF-A179-3A6BE9D196AA}" sibTransId="{4D2A6A87-3333-492F-A7E8-18F7A242498D}"/>
    <dgm:cxn modelId="{94D9430A-F79A-48C9-8A04-CA8ECB155716}" srcId="{A001A3AE-D48A-46A3-A303-1356700373F5}" destId="{79A6E2E0-38DE-496C-B7E0-AED5174E57C6}" srcOrd="4" destOrd="0" parTransId="{BF381066-50E6-4C75-99C7-56F387980667}" sibTransId="{3545A4EE-FBD4-4EF6-82E1-ABB64C764181}"/>
    <dgm:cxn modelId="{25063821-8802-43D8-82B3-D47B57E25AE7}" srcId="{A001A3AE-D48A-46A3-A303-1356700373F5}" destId="{9A1E50ED-ACBA-4514-962E-C96CAD0503D5}" srcOrd="7" destOrd="0" parTransId="{A672820F-F89A-4AB4-BC67-10594E92B742}" sibTransId="{D0F3B17F-1861-43F3-8F9F-5D566E60F3F2}"/>
    <dgm:cxn modelId="{A2B44021-EF29-4BD9-92AD-CD8E038A00C2}" type="presOf" srcId="{9A1E50ED-ACBA-4514-962E-C96CAD0503D5}" destId="{185B6E90-FF8D-4AFB-98CB-581421CF1DE1}" srcOrd="0" destOrd="0" presId="urn:microsoft.com/office/officeart/2008/layout/LinedList"/>
    <dgm:cxn modelId="{8EC9BD31-6247-44B5-A87F-273D1371618B}" type="presOf" srcId="{A2DF38F9-E679-40A9-BE8B-5D193B743F32}" destId="{52EE7316-A5E6-4458-9A8E-A6BE219EA4EB}" srcOrd="0" destOrd="0" presId="urn:microsoft.com/office/officeart/2008/layout/LinedList"/>
    <dgm:cxn modelId="{9F11C064-CD5D-4CE9-88D1-CDF0949522CF}" srcId="{A001A3AE-D48A-46A3-A303-1356700373F5}" destId="{46310378-7DD0-479C-ACC3-A5CD31AA60DB}" srcOrd="3" destOrd="0" parTransId="{A971D087-DA68-4FAD-97D3-9B6A9E28CCFB}" sibTransId="{A22F2093-2BD4-48DD-9961-08DCAEFF50AB}"/>
    <dgm:cxn modelId="{2E6BA54A-8167-46A8-B4DE-EAD379C870AD}" type="presOf" srcId="{41F0228F-8B04-469A-B816-50977E6004CC}" destId="{CF98C3D2-B082-4507-B671-413162230044}" srcOrd="0" destOrd="0" presId="urn:microsoft.com/office/officeart/2008/layout/LinedList"/>
    <dgm:cxn modelId="{53688852-B6B0-4A60-BD4D-84EC58CB587B}" srcId="{A001A3AE-D48A-46A3-A303-1356700373F5}" destId="{338ED31F-CEDC-4966-9872-A11D530E1075}" srcOrd="0" destOrd="0" parTransId="{4C9C1E45-A887-4D03-8649-8B7D9DECCF87}" sibTransId="{CFE9571F-FE07-49CA-8AE2-E3C7ED92AD66}"/>
    <dgm:cxn modelId="{2E360556-5F28-4E3A-9BBD-22AFEA260D3E}" srcId="{A001A3AE-D48A-46A3-A303-1356700373F5}" destId="{F3341A32-ACB1-4FBD-B540-1D96E4FE53DE}" srcOrd="5" destOrd="0" parTransId="{60F39DE4-355A-4845-A568-59369147F372}" sibTransId="{0B5AF99B-42F6-48E0-924D-9BCE6EB7885C}"/>
    <dgm:cxn modelId="{B82508A8-D017-4EDB-B7D0-AAA9AB78D1FA}" type="presOf" srcId="{A001A3AE-D48A-46A3-A303-1356700373F5}" destId="{AC68D879-4E19-410C-B76A-C40414436036}" srcOrd="0" destOrd="0" presId="urn:microsoft.com/office/officeart/2008/layout/LinedList"/>
    <dgm:cxn modelId="{7A80C4BB-A8D4-449A-91B1-0D439DCA7416}" srcId="{A001A3AE-D48A-46A3-A303-1356700373F5}" destId="{A2DF38F9-E679-40A9-BE8B-5D193B743F32}" srcOrd="1" destOrd="0" parTransId="{02B0B759-43EC-4F8B-8816-37953FB7D00A}" sibTransId="{7533CD59-85E8-4E69-99C3-CEE422B16F32}"/>
    <dgm:cxn modelId="{19C253D7-794F-486B-AEB2-EB8D0C74C0FE}" srcId="{A001A3AE-D48A-46A3-A303-1356700373F5}" destId="{39FAD115-9D8C-407C-8050-C7FE1A09D6A8}" srcOrd="6" destOrd="0" parTransId="{589530F9-F052-4344-8C6A-97D4702B4C3F}" sibTransId="{BE80374A-3C0B-48EA-8D03-68273F5B2E12}"/>
    <dgm:cxn modelId="{7B22DBDF-728A-4168-939C-3F29BE8854E8}" type="presOf" srcId="{39FAD115-9D8C-407C-8050-C7FE1A09D6A8}" destId="{3B15C789-C9F4-42C0-92D4-94C716CB0845}" srcOrd="0" destOrd="0" presId="urn:microsoft.com/office/officeart/2008/layout/LinedList"/>
    <dgm:cxn modelId="{E9DA5EE2-4D5E-40A8-986B-BF0CA24F4F1D}" type="presOf" srcId="{F3341A32-ACB1-4FBD-B540-1D96E4FE53DE}" destId="{1BDC4C4E-A74B-4B9C-89EA-4C62B90E04E1}" srcOrd="0" destOrd="0" presId="urn:microsoft.com/office/officeart/2008/layout/LinedList"/>
    <dgm:cxn modelId="{E06144E3-B6F3-429A-94AF-4576350990C4}" type="presOf" srcId="{338ED31F-CEDC-4966-9872-A11D530E1075}" destId="{BF791EF8-1120-4534-95C6-1354EF4C888C}" srcOrd="0" destOrd="0" presId="urn:microsoft.com/office/officeart/2008/layout/LinedList"/>
    <dgm:cxn modelId="{F8636CEA-83AB-4786-838C-B58E1C666A96}" type="presOf" srcId="{79A6E2E0-38DE-496C-B7E0-AED5174E57C6}" destId="{32EAB84F-7889-48E7-A6CA-51B67F2D182D}" srcOrd="0" destOrd="0" presId="urn:microsoft.com/office/officeart/2008/layout/LinedList"/>
    <dgm:cxn modelId="{24B526AC-4A56-4950-861A-F0DA8AE00571}" type="presParOf" srcId="{AC68D879-4E19-410C-B76A-C40414436036}" destId="{55EDC44B-6D4D-4E85-9F96-9F107D5D44A8}" srcOrd="0" destOrd="0" presId="urn:microsoft.com/office/officeart/2008/layout/LinedList"/>
    <dgm:cxn modelId="{1670D9FD-7F9B-4707-86A7-54FCE95AC501}" type="presParOf" srcId="{AC68D879-4E19-410C-B76A-C40414436036}" destId="{1080BF73-C5BB-4757-BB2D-9F89BCC434E5}" srcOrd="1" destOrd="0" presId="urn:microsoft.com/office/officeart/2008/layout/LinedList"/>
    <dgm:cxn modelId="{87C7D1BC-E0EA-4B0C-A78D-AAB4473E100E}" type="presParOf" srcId="{1080BF73-C5BB-4757-BB2D-9F89BCC434E5}" destId="{BF791EF8-1120-4534-95C6-1354EF4C888C}" srcOrd="0" destOrd="0" presId="urn:microsoft.com/office/officeart/2008/layout/LinedList"/>
    <dgm:cxn modelId="{B71FD59A-8BC4-47D4-81A9-8356E3918430}" type="presParOf" srcId="{1080BF73-C5BB-4757-BB2D-9F89BCC434E5}" destId="{2071BAFC-5828-4BA8-9A40-C4C758528120}" srcOrd="1" destOrd="0" presId="urn:microsoft.com/office/officeart/2008/layout/LinedList"/>
    <dgm:cxn modelId="{5C3BA014-55C9-4074-AC9B-5B6E8D7DF30E}" type="presParOf" srcId="{AC68D879-4E19-410C-B76A-C40414436036}" destId="{53189C4B-31E9-41BB-B066-03B149C28F1E}" srcOrd="2" destOrd="0" presId="urn:microsoft.com/office/officeart/2008/layout/LinedList"/>
    <dgm:cxn modelId="{B95C5DE5-17A4-4029-AF22-F574C4A23A18}" type="presParOf" srcId="{AC68D879-4E19-410C-B76A-C40414436036}" destId="{E7BEFE19-51FE-4ED6-97F9-BEE2F024ACA0}" srcOrd="3" destOrd="0" presId="urn:microsoft.com/office/officeart/2008/layout/LinedList"/>
    <dgm:cxn modelId="{185EC85E-0316-4C73-A778-86BFF56C337F}" type="presParOf" srcId="{E7BEFE19-51FE-4ED6-97F9-BEE2F024ACA0}" destId="{52EE7316-A5E6-4458-9A8E-A6BE219EA4EB}" srcOrd="0" destOrd="0" presId="urn:microsoft.com/office/officeart/2008/layout/LinedList"/>
    <dgm:cxn modelId="{6A3AF3F4-F544-4C1E-896F-BC784C4D30AE}" type="presParOf" srcId="{E7BEFE19-51FE-4ED6-97F9-BEE2F024ACA0}" destId="{06BF3EBD-A6DC-4837-8D64-73BE6A3BB41B}" srcOrd="1" destOrd="0" presId="urn:microsoft.com/office/officeart/2008/layout/LinedList"/>
    <dgm:cxn modelId="{D4085789-8BC4-49C2-88D8-70896470D9A5}" type="presParOf" srcId="{AC68D879-4E19-410C-B76A-C40414436036}" destId="{273888FC-E11F-4771-BEEE-B1A2D8FD6A1C}" srcOrd="4" destOrd="0" presId="urn:microsoft.com/office/officeart/2008/layout/LinedList"/>
    <dgm:cxn modelId="{11762D32-4B5A-4B5D-887C-A872798D8162}" type="presParOf" srcId="{AC68D879-4E19-410C-B76A-C40414436036}" destId="{A9B42358-D9F0-4D66-80A8-DD105EA1D95C}" srcOrd="5" destOrd="0" presId="urn:microsoft.com/office/officeart/2008/layout/LinedList"/>
    <dgm:cxn modelId="{86E59873-84E6-4B0F-9351-A6D71124C191}" type="presParOf" srcId="{A9B42358-D9F0-4D66-80A8-DD105EA1D95C}" destId="{CF98C3D2-B082-4507-B671-413162230044}" srcOrd="0" destOrd="0" presId="urn:microsoft.com/office/officeart/2008/layout/LinedList"/>
    <dgm:cxn modelId="{D33CDFC9-EFAF-458F-B76F-893DFF82FEA5}" type="presParOf" srcId="{A9B42358-D9F0-4D66-80A8-DD105EA1D95C}" destId="{5235E342-A65D-4616-99D0-B916BCA3B0BE}" srcOrd="1" destOrd="0" presId="urn:microsoft.com/office/officeart/2008/layout/LinedList"/>
    <dgm:cxn modelId="{C0C79EF6-9BA4-463C-978D-B0F3A42009D2}" type="presParOf" srcId="{AC68D879-4E19-410C-B76A-C40414436036}" destId="{1C98BFCD-545F-49F3-88A3-3B68CDA735FF}" srcOrd="6" destOrd="0" presId="urn:microsoft.com/office/officeart/2008/layout/LinedList"/>
    <dgm:cxn modelId="{F1E93309-DAAB-4A52-87A3-F3319F3468BB}" type="presParOf" srcId="{AC68D879-4E19-410C-B76A-C40414436036}" destId="{EC984069-99D2-49B1-8DD4-E972593F994A}" srcOrd="7" destOrd="0" presId="urn:microsoft.com/office/officeart/2008/layout/LinedList"/>
    <dgm:cxn modelId="{D6BE593E-F201-4CDC-963D-CBECAAC57C78}" type="presParOf" srcId="{EC984069-99D2-49B1-8DD4-E972593F994A}" destId="{021813CB-FA6A-4BF7-8F70-3FE454F5980D}" srcOrd="0" destOrd="0" presId="urn:microsoft.com/office/officeart/2008/layout/LinedList"/>
    <dgm:cxn modelId="{31D9E5A1-DABD-497D-A449-4A977CE9317C}" type="presParOf" srcId="{EC984069-99D2-49B1-8DD4-E972593F994A}" destId="{C12EFC6C-2CF8-4BA3-BA36-AC6CA466E3DC}" srcOrd="1" destOrd="0" presId="urn:microsoft.com/office/officeart/2008/layout/LinedList"/>
    <dgm:cxn modelId="{546BE745-5F57-498C-AF95-9E4D73A509D4}" type="presParOf" srcId="{AC68D879-4E19-410C-B76A-C40414436036}" destId="{2B279F3F-3EF3-440F-9376-DEBE260C874F}" srcOrd="8" destOrd="0" presId="urn:microsoft.com/office/officeart/2008/layout/LinedList"/>
    <dgm:cxn modelId="{6E67098C-9F20-43AE-A512-FFFADC20AA42}" type="presParOf" srcId="{AC68D879-4E19-410C-B76A-C40414436036}" destId="{F83A4244-A8BA-47B9-9BB0-28E9FC2FE051}" srcOrd="9" destOrd="0" presId="urn:microsoft.com/office/officeart/2008/layout/LinedList"/>
    <dgm:cxn modelId="{ADF57218-5D9F-4B30-9607-EA0A3D287FA6}" type="presParOf" srcId="{F83A4244-A8BA-47B9-9BB0-28E9FC2FE051}" destId="{32EAB84F-7889-48E7-A6CA-51B67F2D182D}" srcOrd="0" destOrd="0" presId="urn:microsoft.com/office/officeart/2008/layout/LinedList"/>
    <dgm:cxn modelId="{48652E1A-B2F7-4C0D-9FE9-8A3E41C25AE8}" type="presParOf" srcId="{F83A4244-A8BA-47B9-9BB0-28E9FC2FE051}" destId="{CB547CCD-1C74-4C08-A280-140CC69BB77B}" srcOrd="1" destOrd="0" presId="urn:microsoft.com/office/officeart/2008/layout/LinedList"/>
    <dgm:cxn modelId="{6A903C57-43BA-42E7-B20F-3C30D0FBE4AB}" type="presParOf" srcId="{AC68D879-4E19-410C-B76A-C40414436036}" destId="{B053508F-5EC8-4DC3-86AB-77319D1C726E}" srcOrd="10" destOrd="0" presId="urn:microsoft.com/office/officeart/2008/layout/LinedList"/>
    <dgm:cxn modelId="{3F1C35D3-E7F2-4491-9ACD-E9C53C936422}" type="presParOf" srcId="{AC68D879-4E19-410C-B76A-C40414436036}" destId="{A3B56108-2ED6-4983-B5B9-6D299DB39151}" srcOrd="11" destOrd="0" presId="urn:microsoft.com/office/officeart/2008/layout/LinedList"/>
    <dgm:cxn modelId="{FA69BE0D-2655-4D1F-9FDE-7F298BF781A4}" type="presParOf" srcId="{A3B56108-2ED6-4983-B5B9-6D299DB39151}" destId="{1BDC4C4E-A74B-4B9C-89EA-4C62B90E04E1}" srcOrd="0" destOrd="0" presId="urn:microsoft.com/office/officeart/2008/layout/LinedList"/>
    <dgm:cxn modelId="{DDC88D99-6692-40D0-9670-2173B0A6FF6B}" type="presParOf" srcId="{A3B56108-2ED6-4983-B5B9-6D299DB39151}" destId="{82BF6BA3-E297-40A0-9976-3C0B7E4C0ABE}" srcOrd="1" destOrd="0" presId="urn:microsoft.com/office/officeart/2008/layout/LinedList"/>
    <dgm:cxn modelId="{A4BB08E2-1DF9-4E7D-B252-61C56D339C44}" type="presParOf" srcId="{AC68D879-4E19-410C-B76A-C40414436036}" destId="{FC3C1D32-9572-468B-8051-F99C9587342F}" srcOrd="12" destOrd="0" presId="urn:microsoft.com/office/officeart/2008/layout/LinedList"/>
    <dgm:cxn modelId="{6FB54A41-9069-4BB8-9A7F-44B0A15E3B15}" type="presParOf" srcId="{AC68D879-4E19-410C-B76A-C40414436036}" destId="{6F82B473-6226-4D4F-9B90-E726637E0BA9}" srcOrd="13" destOrd="0" presId="urn:microsoft.com/office/officeart/2008/layout/LinedList"/>
    <dgm:cxn modelId="{054B3262-8CE8-4079-A50F-FFE5337AA29B}" type="presParOf" srcId="{6F82B473-6226-4D4F-9B90-E726637E0BA9}" destId="{3B15C789-C9F4-42C0-92D4-94C716CB0845}" srcOrd="0" destOrd="0" presId="urn:microsoft.com/office/officeart/2008/layout/LinedList"/>
    <dgm:cxn modelId="{CF457EEF-1D4D-4D56-93FD-2424E40E4993}" type="presParOf" srcId="{6F82B473-6226-4D4F-9B90-E726637E0BA9}" destId="{9B67E930-F703-489A-AC08-593E6BBE31A6}" srcOrd="1" destOrd="0" presId="urn:microsoft.com/office/officeart/2008/layout/LinedList"/>
    <dgm:cxn modelId="{B3BA8CCF-0EFA-4E5A-9613-1BF3AA1415BB}" type="presParOf" srcId="{AC68D879-4E19-410C-B76A-C40414436036}" destId="{DEC9070F-4FFB-4F85-A43F-05EFB41DCF0E}" srcOrd="14" destOrd="0" presId="urn:microsoft.com/office/officeart/2008/layout/LinedList"/>
    <dgm:cxn modelId="{7BF0A47A-8153-48C6-A381-C51BDDF01A32}" type="presParOf" srcId="{AC68D879-4E19-410C-B76A-C40414436036}" destId="{0A53E3B5-A77B-4667-A274-9595394CEB3B}" srcOrd="15" destOrd="0" presId="urn:microsoft.com/office/officeart/2008/layout/LinedList"/>
    <dgm:cxn modelId="{5A5EFCDE-4159-40BB-8724-0E3E312A1D39}" type="presParOf" srcId="{0A53E3B5-A77B-4667-A274-9595394CEB3B}" destId="{185B6E90-FF8D-4AFB-98CB-581421CF1DE1}" srcOrd="0" destOrd="0" presId="urn:microsoft.com/office/officeart/2008/layout/LinedList"/>
    <dgm:cxn modelId="{E8002D6E-5EE9-4BAC-A9BC-E2AF41567F82}" type="presParOf" srcId="{0A53E3B5-A77B-4667-A274-9595394CEB3B}" destId="{B94FB721-A9C0-4974-B9DB-BA8A87BAB15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7E06CE8-DC6E-4CFD-BFE9-298DD92417F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B59BD92-AA1A-4799-BC49-067F1DDF97DE}">
      <dgm:prSet/>
      <dgm:spPr/>
      <dgm:t>
        <a:bodyPr/>
        <a:lstStyle/>
        <a:p>
          <a:r>
            <a:rPr lang="en-US" b="1"/>
            <a:t>rpart</a:t>
          </a:r>
          <a:endParaRPr lang="en-US"/>
        </a:p>
      </dgm:t>
    </dgm:pt>
    <dgm:pt modelId="{3E2FC3CD-3DDD-423E-9D1E-5BC6EF586F73}" type="parTrans" cxnId="{865E055C-6434-4D34-B46E-9C16637BF98C}">
      <dgm:prSet/>
      <dgm:spPr/>
      <dgm:t>
        <a:bodyPr/>
        <a:lstStyle/>
        <a:p>
          <a:endParaRPr lang="en-US"/>
        </a:p>
      </dgm:t>
    </dgm:pt>
    <dgm:pt modelId="{86AC2BDC-D763-4481-AC3C-CCE2F7B03256}" type="sibTrans" cxnId="{865E055C-6434-4D34-B46E-9C16637BF98C}">
      <dgm:prSet/>
      <dgm:spPr/>
      <dgm:t>
        <a:bodyPr/>
        <a:lstStyle/>
        <a:p>
          <a:endParaRPr lang="en-US"/>
        </a:p>
      </dgm:t>
    </dgm:pt>
    <dgm:pt modelId="{8C71AA2D-229A-4020-A908-5DA0F275BDF4}">
      <dgm:prSet/>
      <dgm:spPr/>
      <dgm:t>
        <a:bodyPr/>
        <a:lstStyle/>
        <a:p>
          <a:r>
            <a:rPr lang="en-US" b="1"/>
            <a:t>caret</a:t>
          </a:r>
          <a:endParaRPr lang="en-US"/>
        </a:p>
      </dgm:t>
    </dgm:pt>
    <dgm:pt modelId="{620ED87A-5AF2-4CF0-9951-25E3DA2EE743}" type="parTrans" cxnId="{7D7CF40F-AB60-4789-8313-6E5941FCEB38}">
      <dgm:prSet/>
      <dgm:spPr/>
      <dgm:t>
        <a:bodyPr/>
        <a:lstStyle/>
        <a:p>
          <a:endParaRPr lang="en-US"/>
        </a:p>
      </dgm:t>
    </dgm:pt>
    <dgm:pt modelId="{27424C32-70C8-4F23-BA46-E6E37F45F648}" type="sibTrans" cxnId="{7D7CF40F-AB60-4789-8313-6E5941FCEB38}">
      <dgm:prSet/>
      <dgm:spPr/>
      <dgm:t>
        <a:bodyPr/>
        <a:lstStyle/>
        <a:p>
          <a:endParaRPr lang="en-US"/>
        </a:p>
      </dgm:t>
    </dgm:pt>
    <dgm:pt modelId="{254C957F-373D-4C56-BE33-2C8E120336B4}">
      <dgm:prSet/>
      <dgm:spPr/>
      <dgm:t>
        <a:bodyPr/>
        <a:lstStyle/>
        <a:p>
          <a:r>
            <a:rPr lang="en-US" b="1"/>
            <a:t>randomForest</a:t>
          </a:r>
          <a:endParaRPr lang="en-US"/>
        </a:p>
      </dgm:t>
    </dgm:pt>
    <dgm:pt modelId="{5B037950-18EE-4B42-BED6-5BD6D8C26E95}" type="parTrans" cxnId="{41D05183-3811-48F4-BD31-C7B60FBCCC50}">
      <dgm:prSet/>
      <dgm:spPr/>
      <dgm:t>
        <a:bodyPr/>
        <a:lstStyle/>
        <a:p>
          <a:endParaRPr lang="en-US"/>
        </a:p>
      </dgm:t>
    </dgm:pt>
    <dgm:pt modelId="{D0D5BCE7-30FE-4885-91AC-0C070A937582}" type="sibTrans" cxnId="{41D05183-3811-48F4-BD31-C7B60FBCCC50}">
      <dgm:prSet/>
      <dgm:spPr/>
      <dgm:t>
        <a:bodyPr/>
        <a:lstStyle/>
        <a:p>
          <a:endParaRPr lang="en-US"/>
        </a:p>
      </dgm:t>
    </dgm:pt>
    <dgm:pt modelId="{D545AC98-981F-4267-BFB4-9EFDBCB71458}">
      <dgm:prSet/>
      <dgm:spPr/>
      <dgm:t>
        <a:bodyPr/>
        <a:lstStyle/>
        <a:p>
          <a:r>
            <a:rPr lang="en-US" b="1"/>
            <a:t>ranger</a:t>
          </a:r>
          <a:endParaRPr lang="en-US"/>
        </a:p>
      </dgm:t>
    </dgm:pt>
    <dgm:pt modelId="{5AA3D6DB-7380-436A-9018-10C0EA75BBF1}" type="parTrans" cxnId="{7B451D7F-5F8D-4DC0-A45C-0CC94B27C8F3}">
      <dgm:prSet/>
      <dgm:spPr/>
      <dgm:t>
        <a:bodyPr/>
        <a:lstStyle/>
        <a:p>
          <a:endParaRPr lang="en-US"/>
        </a:p>
      </dgm:t>
    </dgm:pt>
    <dgm:pt modelId="{765EE716-A7B7-4565-89E2-E644B38E1AAF}" type="sibTrans" cxnId="{7B451D7F-5F8D-4DC0-A45C-0CC94B27C8F3}">
      <dgm:prSet/>
      <dgm:spPr/>
      <dgm:t>
        <a:bodyPr/>
        <a:lstStyle/>
        <a:p>
          <a:endParaRPr lang="en-US"/>
        </a:p>
      </dgm:t>
    </dgm:pt>
    <dgm:pt modelId="{F1577EF5-842F-46F2-B2D2-316CA6EB5D85}">
      <dgm:prSet/>
      <dgm:spPr/>
      <dgm:t>
        <a:bodyPr/>
        <a:lstStyle/>
        <a:p>
          <a:r>
            <a:rPr lang="en-US" b="1"/>
            <a:t>GBM / XGB</a:t>
          </a:r>
          <a:endParaRPr lang="en-US"/>
        </a:p>
      </dgm:t>
    </dgm:pt>
    <dgm:pt modelId="{96ECEFC6-50EF-4EBF-BF7F-3ADDDB604ACF}" type="parTrans" cxnId="{2137988D-FAFA-4F65-8E5E-5B9AD61B10A4}">
      <dgm:prSet/>
      <dgm:spPr/>
      <dgm:t>
        <a:bodyPr/>
        <a:lstStyle/>
        <a:p>
          <a:endParaRPr lang="en-US"/>
        </a:p>
      </dgm:t>
    </dgm:pt>
    <dgm:pt modelId="{1092703E-4BFB-4F96-A345-E99998892787}" type="sibTrans" cxnId="{2137988D-FAFA-4F65-8E5E-5B9AD61B10A4}">
      <dgm:prSet/>
      <dgm:spPr/>
      <dgm:t>
        <a:bodyPr/>
        <a:lstStyle/>
        <a:p>
          <a:endParaRPr lang="en-US"/>
        </a:p>
      </dgm:t>
    </dgm:pt>
    <dgm:pt modelId="{6AF06146-9CE4-46A5-BBC7-46F4E034B696}" type="pres">
      <dgm:prSet presAssocID="{47E06CE8-DC6E-4CFD-BFE9-298DD92417FA}" presName="diagram" presStyleCnt="0">
        <dgm:presLayoutVars>
          <dgm:dir/>
          <dgm:resizeHandles val="exact"/>
        </dgm:presLayoutVars>
      </dgm:prSet>
      <dgm:spPr/>
    </dgm:pt>
    <dgm:pt modelId="{4EA24D7E-8F1E-41D5-87CB-62043C9C30A0}" type="pres">
      <dgm:prSet presAssocID="{1B59BD92-AA1A-4799-BC49-067F1DDF97DE}" presName="node" presStyleLbl="node1" presStyleIdx="0" presStyleCnt="5">
        <dgm:presLayoutVars>
          <dgm:bulletEnabled val="1"/>
        </dgm:presLayoutVars>
      </dgm:prSet>
      <dgm:spPr/>
    </dgm:pt>
    <dgm:pt modelId="{4B1DD3BE-B242-4CBC-9002-2D57B61CE1BD}" type="pres">
      <dgm:prSet presAssocID="{86AC2BDC-D763-4481-AC3C-CCE2F7B03256}" presName="sibTrans" presStyleCnt="0"/>
      <dgm:spPr/>
    </dgm:pt>
    <dgm:pt modelId="{48B7A0BD-4CF5-4A65-967E-112DB9458462}" type="pres">
      <dgm:prSet presAssocID="{8C71AA2D-229A-4020-A908-5DA0F275BDF4}" presName="node" presStyleLbl="node1" presStyleIdx="1" presStyleCnt="5">
        <dgm:presLayoutVars>
          <dgm:bulletEnabled val="1"/>
        </dgm:presLayoutVars>
      </dgm:prSet>
      <dgm:spPr/>
    </dgm:pt>
    <dgm:pt modelId="{6BF18059-514C-4E4D-A6F4-1AE4519E3B2F}" type="pres">
      <dgm:prSet presAssocID="{27424C32-70C8-4F23-BA46-E6E37F45F648}" presName="sibTrans" presStyleCnt="0"/>
      <dgm:spPr/>
    </dgm:pt>
    <dgm:pt modelId="{92CF0382-B5B2-499F-AE90-6936C629691A}" type="pres">
      <dgm:prSet presAssocID="{254C957F-373D-4C56-BE33-2C8E120336B4}" presName="node" presStyleLbl="node1" presStyleIdx="2" presStyleCnt="5">
        <dgm:presLayoutVars>
          <dgm:bulletEnabled val="1"/>
        </dgm:presLayoutVars>
      </dgm:prSet>
      <dgm:spPr/>
    </dgm:pt>
    <dgm:pt modelId="{63F8C1C4-7AFE-43CE-87A0-5C2C99B0D0A7}" type="pres">
      <dgm:prSet presAssocID="{D0D5BCE7-30FE-4885-91AC-0C070A937582}" presName="sibTrans" presStyleCnt="0"/>
      <dgm:spPr/>
    </dgm:pt>
    <dgm:pt modelId="{C42F9ADD-21BE-4B2D-AAE8-4075B975D561}" type="pres">
      <dgm:prSet presAssocID="{D545AC98-981F-4267-BFB4-9EFDBCB71458}" presName="node" presStyleLbl="node1" presStyleIdx="3" presStyleCnt="5">
        <dgm:presLayoutVars>
          <dgm:bulletEnabled val="1"/>
        </dgm:presLayoutVars>
      </dgm:prSet>
      <dgm:spPr/>
    </dgm:pt>
    <dgm:pt modelId="{4A5F59C7-AFA5-4A81-A12A-865E32B2C60C}" type="pres">
      <dgm:prSet presAssocID="{765EE716-A7B7-4565-89E2-E644B38E1AAF}" presName="sibTrans" presStyleCnt="0"/>
      <dgm:spPr/>
    </dgm:pt>
    <dgm:pt modelId="{B3CCF378-54A1-4B1D-8C97-A6F5D42B06DB}" type="pres">
      <dgm:prSet presAssocID="{F1577EF5-842F-46F2-B2D2-316CA6EB5D85}" presName="node" presStyleLbl="node1" presStyleIdx="4" presStyleCnt="5">
        <dgm:presLayoutVars>
          <dgm:bulletEnabled val="1"/>
        </dgm:presLayoutVars>
      </dgm:prSet>
      <dgm:spPr/>
    </dgm:pt>
  </dgm:ptLst>
  <dgm:cxnLst>
    <dgm:cxn modelId="{7D7CF40F-AB60-4789-8313-6E5941FCEB38}" srcId="{47E06CE8-DC6E-4CFD-BFE9-298DD92417FA}" destId="{8C71AA2D-229A-4020-A908-5DA0F275BDF4}" srcOrd="1" destOrd="0" parTransId="{620ED87A-5AF2-4CF0-9951-25E3DA2EE743}" sibTransId="{27424C32-70C8-4F23-BA46-E6E37F45F648}"/>
    <dgm:cxn modelId="{865E055C-6434-4D34-B46E-9C16637BF98C}" srcId="{47E06CE8-DC6E-4CFD-BFE9-298DD92417FA}" destId="{1B59BD92-AA1A-4799-BC49-067F1DDF97DE}" srcOrd="0" destOrd="0" parTransId="{3E2FC3CD-3DDD-423E-9D1E-5BC6EF586F73}" sibTransId="{86AC2BDC-D763-4481-AC3C-CCE2F7B03256}"/>
    <dgm:cxn modelId="{4A90714B-1595-46CB-8CE0-F420FD2F7500}" type="presOf" srcId="{1B59BD92-AA1A-4799-BC49-067F1DDF97DE}" destId="{4EA24D7E-8F1E-41D5-87CB-62043C9C30A0}" srcOrd="0" destOrd="0" presId="urn:microsoft.com/office/officeart/2005/8/layout/default"/>
    <dgm:cxn modelId="{9135AC56-ACB4-4859-9598-DFA8BA9D5EB5}" type="presOf" srcId="{D545AC98-981F-4267-BFB4-9EFDBCB71458}" destId="{C42F9ADD-21BE-4B2D-AAE8-4075B975D561}" srcOrd="0" destOrd="0" presId="urn:microsoft.com/office/officeart/2005/8/layout/default"/>
    <dgm:cxn modelId="{7B451D7F-5F8D-4DC0-A45C-0CC94B27C8F3}" srcId="{47E06CE8-DC6E-4CFD-BFE9-298DD92417FA}" destId="{D545AC98-981F-4267-BFB4-9EFDBCB71458}" srcOrd="3" destOrd="0" parTransId="{5AA3D6DB-7380-436A-9018-10C0EA75BBF1}" sibTransId="{765EE716-A7B7-4565-89E2-E644B38E1AAF}"/>
    <dgm:cxn modelId="{41D05183-3811-48F4-BD31-C7B60FBCCC50}" srcId="{47E06CE8-DC6E-4CFD-BFE9-298DD92417FA}" destId="{254C957F-373D-4C56-BE33-2C8E120336B4}" srcOrd="2" destOrd="0" parTransId="{5B037950-18EE-4B42-BED6-5BD6D8C26E95}" sibTransId="{D0D5BCE7-30FE-4885-91AC-0C070A937582}"/>
    <dgm:cxn modelId="{2137988D-FAFA-4F65-8E5E-5B9AD61B10A4}" srcId="{47E06CE8-DC6E-4CFD-BFE9-298DD92417FA}" destId="{F1577EF5-842F-46F2-B2D2-316CA6EB5D85}" srcOrd="4" destOrd="0" parTransId="{96ECEFC6-50EF-4EBF-BF7F-3ADDDB604ACF}" sibTransId="{1092703E-4BFB-4F96-A345-E99998892787}"/>
    <dgm:cxn modelId="{C92DC490-FFF2-4588-9B98-2336688B03D9}" type="presOf" srcId="{8C71AA2D-229A-4020-A908-5DA0F275BDF4}" destId="{48B7A0BD-4CF5-4A65-967E-112DB9458462}" srcOrd="0" destOrd="0" presId="urn:microsoft.com/office/officeart/2005/8/layout/default"/>
    <dgm:cxn modelId="{89DD5CB0-DFE9-4AE3-8FC4-88AE82D8E774}" type="presOf" srcId="{F1577EF5-842F-46F2-B2D2-316CA6EB5D85}" destId="{B3CCF378-54A1-4B1D-8C97-A6F5D42B06DB}" srcOrd="0" destOrd="0" presId="urn:microsoft.com/office/officeart/2005/8/layout/default"/>
    <dgm:cxn modelId="{3C6F4CBE-223F-4A68-AC64-771E82F3901C}" type="presOf" srcId="{254C957F-373D-4C56-BE33-2C8E120336B4}" destId="{92CF0382-B5B2-499F-AE90-6936C629691A}" srcOrd="0" destOrd="0" presId="urn:microsoft.com/office/officeart/2005/8/layout/default"/>
    <dgm:cxn modelId="{3C5569F4-757F-4B2F-9713-044A7CAB29FA}" type="presOf" srcId="{47E06CE8-DC6E-4CFD-BFE9-298DD92417FA}" destId="{6AF06146-9CE4-46A5-BBC7-46F4E034B696}" srcOrd="0" destOrd="0" presId="urn:microsoft.com/office/officeart/2005/8/layout/default"/>
    <dgm:cxn modelId="{FD841580-B26E-45EC-8D2A-728DBA4F40D3}" type="presParOf" srcId="{6AF06146-9CE4-46A5-BBC7-46F4E034B696}" destId="{4EA24D7E-8F1E-41D5-87CB-62043C9C30A0}" srcOrd="0" destOrd="0" presId="urn:microsoft.com/office/officeart/2005/8/layout/default"/>
    <dgm:cxn modelId="{3020A624-ACCB-41AD-BB1E-78AD08F20F34}" type="presParOf" srcId="{6AF06146-9CE4-46A5-BBC7-46F4E034B696}" destId="{4B1DD3BE-B242-4CBC-9002-2D57B61CE1BD}" srcOrd="1" destOrd="0" presId="urn:microsoft.com/office/officeart/2005/8/layout/default"/>
    <dgm:cxn modelId="{B3FE27B7-FB4C-438B-9B8E-47DF76EC8D83}" type="presParOf" srcId="{6AF06146-9CE4-46A5-BBC7-46F4E034B696}" destId="{48B7A0BD-4CF5-4A65-967E-112DB9458462}" srcOrd="2" destOrd="0" presId="urn:microsoft.com/office/officeart/2005/8/layout/default"/>
    <dgm:cxn modelId="{60C9C3D6-F5AE-4286-8AA8-588AD455EC21}" type="presParOf" srcId="{6AF06146-9CE4-46A5-BBC7-46F4E034B696}" destId="{6BF18059-514C-4E4D-A6F4-1AE4519E3B2F}" srcOrd="3" destOrd="0" presId="urn:microsoft.com/office/officeart/2005/8/layout/default"/>
    <dgm:cxn modelId="{F35A0E1D-26AC-492B-B264-8AAAA2CA21DC}" type="presParOf" srcId="{6AF06146-9CE4-46A5-BBC7-46F4E034B696}" destId="{92CF0382-B5B2-499F-AE90-6936C629691A}" srcOrd="4" destOrd="0" presId="urn:microsoft.com/office/officeart/2005/8/layout/default"/>
    <dgm:cxn modelId="{842BBF78-2838-4AEC-B780-1397D8C90539}" type="presParOf" srcId="{6AF06146-9CE4-46A5-BBC7-46F4E034B696}" destId="{63F8C1C4-7AFE-43CE-87A0-5C2C99B0D0A7}" srcOrd="5" destOrd="0" presId="urn:microsoft.com/office/officeart/2005/8/layout/default"/>
    <dgm:cxn modelId="{394845D3-B4DD-42B6-A1F5-336966FED2EA}" type="presParOf" srcId="{6AF06146-9CE4-46A5-BBC7-46F4E034B696}" destId="{C42F9ADD-21BE-4B2D-AAE8-4075B975D561}" srcOrd="6" destOrd="0" presId="urn:microsoft.com/office/officeart/2005/8/layout/default"/>
    <dgm:cxn modelId="{824CA43A-1103-4111-8D80-6EC850F459B7}" type="presParOf" srcId="{6AF06146-9CE4-46A5-BBC7-46F4E034B696}" destId="{4A5F59C7-AFA5-4A81-A12A-865E32B2C60C}" srcOrd="7" destOrd="0" presId="urn:microsoft.com/office/officeart/2005/8/layout/default"/>
    <dgm:cxn modelId="{AF351C05-2220-4C9C-891D-B74117908E2D}" type="presParOf" srcId="{6AF06146-9CE4-46A5-BBC7-46F4E034B696}" destId="{B3CCF378-54A1-4B1D-8C97-A6F5D42B06D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B2133CA-BD7A-4D84-8DFF-71426519545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84D70A-19F2-4521-9813-26BC4E1995E0}">
      <dgm:prSet/>
      <dgm:spPr/>
      <dgm:t>
        <a:bodyPr/>
        <a:lstStyle/>
        <a:p>
          <a:r>
            <a:rPr lang="en-US" b="1" dirty="0"/>
            <a:t>1. Find the best split</a:t>
          </a:r>
          <a:r>
            <a:rPr lang="en-US" dirty="0"/>
            <a:t> </a:t>
          </a:r>
        </a:p>
        <a:p>
          <a:r>
            <a:rPr lang="en-US" dirty="0"/>
            <a:t>Test every variable × threshold. </a:t>
          </a:r>
        </a:p>
        <a:p>
          <a:r>
            <a:rPr lang="en-US" dirty="0"/>
            <a:t>Choose the pair that maximally reduces RSS (regression) or Gini/entropy (classification).</a:t>
          </a:r>
        </a:p>
      </dgm:t>
    </dgm:pt>
    <dgm:pt modelId="{EE485BEF-4E50-4936-8259-1654A1A5A175}" type="parTrans" cxnId="{ADD36CFA-5EAE-48D8-A747-C7390FEC7721}">
      <dgm:prSet/>
      <dgm:spPr/>
      <dgm:t>
        <a:bodyPr/>
        <a:lstStyle/>
        <a:p>
          <a:endParaRPr lang="en-US"/>
        </a:p>
      </dgm:t>
    </dgm:pt>
    <dgm:pt modelId="{E83554C0-35A7-4904-947B-400CF208FEE6}" type="sibTrans" cxnId="{ADD36CFA-5EAE-48D8-A747-C7390FEC7721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C6D45383-63DA-4CCE-A789-926490CEA2C0}">
      <dgm:prSet/>
      <dgm:spPr/>
      <dgm:t>
        <a:bodyPr/>
        <a:lstStyle/>
        <a:p>
          <a:r>
            <a:rPr lang="en-US" b="1" dirty="0"/>
            <a:t>2. Route observations</a:t>
          </a:r>
          <a:r>
            <a:rPr lang="en-US" dirty="0"/>
            <a:t> </a:t>
          </a:r>
        </a:p>
        <a:p>
          <a:r>
            <a:rPr lang="en-US" dirty="0"/>
            <a:t>X &lt; t → left. </a:t>
          </a:r>
        </a:p>
        <a:p>
          <a:r>
            <a:rPr lang="en-US" dirty="0"/>
            <a:t>X ≥ t → right. </a:t>
          </a:r>
        </a:p>
        <a:p>
          <a:r>
            <a:rPr lang="en-US" dirty="0"/>
            <a:t>Splits are always axis-aligned — one variable, one threshold.</a:t>
          </a:r>
        </a:p>
      </dgm:t>
    </dgm:pt>
    <dgm:pt modelId="{8DBAF59D-102D-4147-B674-8350CE4B1251}" type="parTrans" cxnId="{2F05B1E8-B6E9-4C00-9DC4-2D5E71F2669B}">
      <dgm:prSet/>
      <dgm:spPr/>
      <dgm:t>
        <a:bodyPr/>
        <a:lstStyle/>
        <a:p>
          <a:endParaRPr lang="en-US"/>
        </a:p>
      </dgm:t>
    </dgm:pt>
    <dgm:pt modelId="{576726D0-2419-4D0C-8FF3-AFF6DFE65B45}" type="sibTrans" cxnId="{2F05B1E8-B6E9-4C00-9DC4-2D5E71F2669B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908902F5-146B-4ED8-B329-819C206C3607}">
      <dgm:prSet/>
      <dgm:spPr/>
      <dgm:t>
        <a:bodyPr/>
        <a:lstStyle/>
        <a:p>
          <a:r>
            <a:rPr lang="en-US" b="1" dirty="0"/>
            <a:t>3. Repeat recursively</a:t>
          </a:r>
          <a:r>
            <a:rPr lang="en-US" dirty="0"/>
            <a:t> </a:t>
          </a:r>
        </a:p>
        <a:p>
          <a:r>
            <a:rPr lang="en-US" dirty="0"/>
            <a:t>Each child becomes a new root. Stop when node size, depth, or impurity gain criteria are met.</a:t>
          </a:r>
        </a:p>
      </dgm:t>
    </dgm:pt>
    <dgm:pt modelId="{963DEDD4-1717-4DD6-91E5-3F3EF3034E61}" type="parTrans" cxnId="{6B519BFC-4078-4CAC-8A3B-22DF5C347BDB}">
      <dgm:prSet/>
      <dgm:spPr/>
      <dgm:t>
        <a:bodyPr/>
        <a:lstStyle/>
        <a:p>
          <a:endParaRPr lang="en-US"/>
        </a:p>
      </dgm:t>
    </dgm:pt>
    <dgm:pt modelId="{836936D0-9547-454D-B980-2B08C560C611}" type="sibTrans" cxnId="{6B519BFC-4078-4CAC-8A3B-22DF5C347BDB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1F77349C-221B-4A97-9598-1FF6078ABD08}" type="pres">
      <dgm:prSet presAssocID="{4B2133CA-BD7A-4D84-8DFF-714265195455}" presName="Name0" presStyleCnt="0">
        <dgm:presLayoutVars>
          <dgm:animLvl val="lvl"/>
          <dgm:resizeHandles val="exact"/>
        </dgm:presLayoutVars>
      </dgm:prSet>
      <dgm:spPr/>
    </dgm:pt>
    <dgm:pt modelId="{001FE33C-6E98-4F29-B70E-B3037F8E6498}" type="pres">
      <dgm:prSet presAssocID="{F084D70A-19F2-4521-9813-26BC4E1995E0}" presName="compositeNode" presStyleCnt="0">
        <dgm:presLayoutVars>
          <dgm:bulletEnabled val="1"/>
        </dgm:presLayoutVars>
      </dgm:prSet>
      <dgm:spPr/>
    </dgm:pt>
    <dgm:pt modelId="{3FFD92C3-E4BC-4E24-B4BC-6A134AB5D3B5}" type="pres">
      <dgm:prSet presAssocID="{F084D70A-19F2-4521-9813-26BC4E1995E0}" presName="bgRect" presStyleLbl="bgAccFollowNode1" presStyleIdx="0" presStyleCnt="3"/>
      <dgm:spPr/>
    </dgm:pt>
    <dgm:pt modelId="{1768739C-5049-49C8-B776-189BBEDD0D19}" type="pres">
      <dgm:prSet presAssocID="{E83554C0-35A7-4904-947B-400CF208FEE6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83B9143B-41CC-4BD2-805C-2B9B7BD8BFB9}" type="pres">
      <dgm:prSet presAssocID="{F084D70A-19F2-4521-9813-26BC4E1995E0}" presName="bottomLine" presStyleLbl="alignNode1" presStyleIdx="1" presStyleCnt="6">
        <dgm:presLayoutVars/>
      </dgm:prSet>
      <dgm:spPr/>
    </dgm:pt>
    <dgm:pt modelId="{DFECB101-3EEF-45C4-A3CA-A29FFDCA1CFB}" type="pres">
      <dgm:prSet presAssocID="{F084D70A-19F2-4521-9813-26BC4E1995E0}" presName="nodeText" presStyleLbl="bgAccFollowNode1" presStyleIdx="0" presStyleCnt="3">
        <dgm:presLayoutVars>
          <dgm:bulletEnabled val="1"/>
        </dgm:presLayoutVars>
      </dgm:prSet>
      <dgm:spPr/>
    </dgm:pt>
    <dgm:pt modelId="{8912F021-CB11-44E3-B530-4AB937C4BBB0}" type="pres">
      <dgm:prSet presAssocID="{E83554C0-35A7-4904-947B-400CF208FEE6}" presName="sibTrans" presStyleCnt="0"/>
      <dgm:spPr/>
    </dgm:pt>
    <dgm:pt modelId="{E35E6B65-8FA1-42F5-8F04-C115F0D33003}" type="pres">
      <dgm:prSet presAssocID="{C6D45383-63DA-4CCE-A789-926490CEA2C0}" presName="compositeNode" presStyleCnt="0">
        <dgm:presLayoutVars>
          <dgm:bulletEnabled val="1"/>
        </dgm:presLayoutVars>
      </dgm:prSet>
      <dgm:spPr/>
    </dgm:pt>
    <dgm:pt modelId="{88CEDF77-6D15-49D9-B435-C19E66F4574B}" type="pres">
      <dgm:prSet presAssocID="{C6D45383-63DA-4CCE-A789-926490CEA2C0}" presName="bgRect" presStyleLbl="bgAccFollowNode1" presStyleIdx="1" presStyleCnt="3"/>
      <dgm:spPr/>
    </dgm:pt>
    <dgm:pt modelId="{BBD590AE-39D5-4732-9965-7BF9B292EB52}" type="pres">
      <dgm:prSet presAssocID="{576726D0-2419-4D0C-8FF3-AFF6DFE65B45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C18B13C0-64E4-4C70-86F6-8A2F9B5A1036}" type="pres">
      <dgm:prSet presAssocID="{C6D45383-63DA-4CCE-A789-926490CEA2C0}" presName="bottomLine" presStyleLbl="alignNode1" presStyleIdx="3" presStyleCnt="6">
        <dgm:presLayoutVars/>
      </dgm:prSet>
      <dgm:spPr/>
    </dgm:pt>
    <dgm:pt modelId="{43CFEF5A-7048-4EAE-A402-27017768D9A6}" type="pres">
      <dgm:prSet presAssocID="{C6D45383-63DA-4CCE-A789-926490CEA2C0}" presName="nodeText" presStyleLbl="bgAccFollowNode1" presStyleIdx="1" presStyleCnt="3">
        <dgm:presLayoutVars>
          <dgm:bulletEnabled val="1"/>
        </dgm:presLayoutVars>
      </dgm:prSet>
      <dgm:spPr/>
    </dgm:pt>
    <dgm:pt modelId="{4535EAFC-788A-4658-BEF8-A080AFC4145C}" type="pres">
      <dgm:prSet presAssocID="{576726D0-2419-4D0C-8FF3-AFF6DFE65B45}" presName="sibTrans" presStyleCnt="0"/>
      <dgm:spPr/>
    </dgm:pt>
    <dgm:pt modelId="{6940A655-10A7-4D02-8663-F490B8289234}" type="pres">
      <dgm:prSet presAssocID="{908902F5-146B-4ED8-B329-819C206C3607}" presName="compositeNode" presStyleCnt="0">
        <dgm:presLayoutVars>
          <dgm:bulletEnabled val="1"/>
        </dgm:presLayoutVars>
      </dgm:prSet>
      <dgm:spPr/>
    </dgm:pt>
    <dgm:pt modelId="{09069943-109F-43E3-BBE1-10E64089A10B}" type="pres">
      <dgm:prSet presAssocID="{908902F5-146B-4ED8-B329-819C206C3607}" presName="bgRect" presStyleLbl="bgAccFollowNode1" presStyleIdx="2" presStyleCnt="3"/>
      <dgm:spPr/>
    </dgm:pt>
    <dgm:pt modelId="{410A0197-79A9-48FE-8D0D-C2CFCDFE0827}" type="pres">
      <dgm:prSet presAssocID="{836936D0-9547-454D-B980-2B08C560C611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C5DF3B6D-C08A-4EA1-9697-8C9DA2412B1C}" type="pres">
      <dgm:prSet presAssocID="{908902F5-146B-4ED8-B329-819C206C3607}" presName="bottomLine" presStyleLbl="alignNode1" presStyleIdx="5" presStyleCnt="6">
        <dgm:presLayoutVars/>
      </dgm:prSet>
      <dgm:spPr/>
    </dgm:pt>
    <dgm:pt modelId="{10231CF3-AF10-4792-8BEE-85C37E43E408}" type="pres">
      <dgm:prSet presAssocID="{908902F5-146B-4ED8-B329-819C206C3607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60FCB230-F206-4A40-90D9-8DD8DD143260}" type="presOf" srcId="{836936D0-9547-454D-B980-2B08C560C611}" destId="{410A0197-79A9-48FE-8D0D-C2CFCDFE0827}" srcOrd="0" destOrd="0" presId="urn:microsoft.com/office/officeart/2016/7/layout/BasicLinearProcessNumbered"/>
    <dgm:cxn modelId="{1FD8F264-9A0D-4A07-9150-7EB61D960796}" type="presOf" srcId="{908902F5-146B-4ED8-B329-819C206C3607}" destId="{09069943-109F-43E3-BBE1-10E64089A10B}" srcOrd="0" destOrd="0" presId="urn:microsoft.com/office/officeart/2016/7/layout/BasicLinearProcessNumbered"/>
    <dgm:cxn modelId="{18694286-9563-4EB4-8A23-DB2A928970CD}" type="presOf" srcId="{4B2133CA-BD7A-4D84-8DFF-714265195455}" destId="{1F77349C-221B-4A97-9598-1FF6078ABD08}" srcOrd="0" destOrd="0" presId="urn:microsoft.com/office/officeart/2016/7/layout/BasicLinearProcessNumbered"/>
    <dgm:cxn modelId="{F11FA49A-417D-48C3-9346-9CC8306062E6}" type="presOf" srcId="{576726D0-2419-4D0C-8FF3-AFF6DFE65B45}" destId="{BBD590AE-39D5-4732-9965-7BF9B292EB52}" srcOrd="0" destOrd="0" presId="urn:microsoft.com/office/officeart/2016/7/layout/BasicLinearProcessNumbered"/>
    <dgm:cxn modelId="{EF06BF9D-D672-47D4-B88B-052B174C133F}" type="presOf" srcId="{F084D70A-19F2-4521-9813-26BC4E1995E0}" destId="{3FFD92C3-E4BC-4E24-B4BC-6A134AB5D3B5}" srcOrd="0" destOrd="0" presId="urn:microsoft.com/office/officeart/2016/7/layout/BasicLinearProcessNumbered"/>
    <dgm:cxn modelId="{8B6BE8AA-A233-4BE9-8FEE-3AC2130DCB76}" type="presOf" srcId="{C6D45383-63DA-4CCE-A789-926490CEA2C0}" destId="{88CEDF77-6D15-49D9-B435-C19E66F4574B}" srcOrd="0" destOrd="0" presId="urn:microsoft.com/office/officeart/2016/7/layout/BasicLinearProcessNumbered"/>
    <dgm:cxn modelId="{10F22BBF-98A8-41A0-B6F3-6072BC10D4B1}" type="presOf" srcId="{C6D45383-63DA-4CCE-A789-926490CEA2C0}" destId="{43CFEF5A-7048-4EAE-A402-27017768D9A6}" srcOrd="1" destOrd="0" presId="urn:microsoft.com/office/officeart/2016/7/layout/BasicLinearProcessNumbered"/>
    <dgm:cxn modelId="{0CA655C4-1F38-4686-B489-0E39386396B1}" type="presOf" srcId="{F084D70A-19F2-4521-9813-26BC4E1995E0}" destId="{DFECB101-3EEF-45C4-A3CA-A29FFDCA1CFB}" srcOrd="1" destOrd="0" presId="urn:microsoft.com/office/officeart/2016/7/layout/BasicLinearProcessNumbered"/>
    <dgm:cxn modelId="{923675D4-2847-4832-AE5D-BEEF66047E33}" type="presOf" srcId="{908902F5-146B-4ED8-B329-819C206C3607}" destId="{10231CF3-AF10-4792-8BEE-85C37E43E408}" srcOrd="1" destOrd="0" presId="urn:microsoft.com/office/officeart/2016/7/layout/BasicLinearProcessNumbered"/>
    <dgm:cxn modelId="{5C6108D7-A5DB-4972-B84A-A4D777F3023F}" type="presOf" srcId="{E83554C0-35A7-4904-947B-400CF208FEE6}" destId="{1768739C-5049-49C8-B776-189BBEDD0D19}" srcOrd="0" destOrd="0" presId="urn:microsoft.com/office/officeart/2016/7/layout/BasicLinearProcessNumbered"/>
    <dgm:cxn modelId="{2F05B1E8-B6E9-4C00-9DC4-2D5E71F2669B}" srcId="{4B2133CA-BD7A-4D84-8DFF-714265195455}" destId="{C6D45383-63DA-4CCE-A789-926490CEA2C0}" srcOrd="1" destOrd="0" parTransId="{8DBAF59D-102D-4147-B674-8350CE4B1251}" sibTransId="{576726D0-2419-4D0C-8FF3-AFF6DFE65B45}"/>
    <dgm:cxn modelId="{ADD36CFA-5EAE-48D8-A747-C7390FEC7721}" srcId="{4B2133CA-BD7A-4D84-8DFF-714265195455}" destId="{F084D70A-19F2-4521-9813-26BC4E1995E0}" srcOrd="0" destOrd="0" parTransId="{EE485BEF-4E50-4936-8259-1654A1A5A175}" sibTransId="{E83554C0-35A7-4904-947B-400CF208FEE6}"/>
    <dgm:cxn modelId="{6B519BFC-4078-4CAC-8A3B-22DF5C347BDB}" srcId="{4B2133CA-BD7A-4D84-8DFF-714265195455}" destId="{908902F5-146B-4ED8-B329-819C206C3607}" srcOrd="2" destOrd="0" parTransId="{963DEDD4-1717-4DD6-91E5-3F3EF3034E61}" sibTransId="{836936D0-9547-454D-B980-2B08C560C611}"/>
    <dgm:cxn modelId="{D242D83E-9E78-45A3-A5C7-1EE606F2BC2C}" type="presParOf" srcId="{1F77349C-221B-4A97-9598-1FF6078ABD08}" destId="{001FE33C-6E98-4F29-B70E-B3037F8E6498}" srcOrd="0" destOrd="0" presId="urn:microsoft.com/office/officeart/2016/7/layout/BasicLinearProcessNumbered"/>
    <dgm:cxn modelId="{B70A3FC3-ED9C-43A8-A4D2-B407BFE1ECB7}" type="presParOf" srcId="{001FE33C-6E98-4F29-B70E-B3037F8E6498}" destId="{3FFD92C3-E4BC-4E24-B4BC-6A134AB5D3B5}" srcOrd="0" destOrd="0" presId="urn:microsoft.com/office/officeart/2016/7/layout/BasicLinearProcessNumbered"/>
    <dgm:cxn modelId="{C887CAEB-0FBB-4A17-89B8-2ECFC9FB4AF0}" type="presParOf" srcId="{001FE33C-6E98-4F29-B70E-B3037F8E6498}" destId="{1768739C-5049-49C8-B776-189BBEDD0D19}" srcOrd="1" destOrd="0" presId="urn:microsoft.com/office/officeart/2016/7/layout/BasicLinearProcessNumbered"/>
    <dgm:cxn modelId="{B209C97A-FA17-4D0A-A18E-DD8F6D215667}" type="presParOf" srcId="{001FE33C-6E98-4F29-B70E-B3037F8E6498}" destId="{83B9143B-41CC-4BD2-805C-2B9B7BD8BFB9}" srcOrd="2" destOrd="0" presId="urn:microsoft.com/office/officeart/2016/7/layout/BasicLinearProcessNumbered"/>
    <dgm:cxn modelId="{28945621-D0FA-4F9C-B8FA-E7EEEF54939B}" type="presParOf" srcId="{001FE33C-6E98-4F29-B70E-B3037F8E6498}" destId="{DFECB101-3EEF-45C4-A3CA-A29FFDCA1CFB}" srcOrd="3" destOrd="0" presId="urn:microsoft.com/office/officeart/2016/7/layout/BasicLinearProcessNumbered"/>
    <dgm:cxn modelId="{C0D9A238-9021-4DFD-BE51-9F3422795ADD}" type="presParOf" srcId="{1F77349C-221B-4A97-9598-1FF6078ABD08}" destId="{8912F021-CB11-44E3-B530-4AB937C4BBB0}" srcOrd="1" destOrd="0" presId="urn:microsoft.com/office/officeart/2016/7/layout/BasicLinearProcessNumbered"/>
    <dgm:cxn modelId="{4B7E756C-4C58-4425-B1B0-C00CA0F6716A}" type="presParOf" srcId="{1F77349C-221B-4A97-9598-1FF6078ABD08}" destId="{E35E6B65-8FA1-42F5-8F04-C115F0D33003}" srcOrd="2" destOrd="0" presId="urn:microsoft.com/office/officeart/2016/7/layout/BasicLinearProcessNumbered"/>
    <dgm:cxn modelId="{149E9F55-7AEC-4662-9995-B4EBBA5E58F0}" type="presParOf" srcId="{E35E6B65-8FA1-42F5-8F04-C115F0D33003}" destId="{88CEDF77-6D15-49D9-B435-C19E66F4574B}" srcOrd="0" destOrd="0" presId="urn:microsoft.com/office/officeart/2016/7/layout/BasicLinearProcessNumbered"/>
    <dgm:cxn modelId="{814C0024-A319-46B7-9F52-044561A17136}" type="presParOf" srcId="{E35E6B65-8FA1-42F5-8F04-C115F0D33003}" destId="{BBD590AE-39D5-4732-9965-7BF9B292EB52}" srcOrd="1" destOrd="0" presId="urn:microsoft.com/office/officeart/2016/7/layout/BasicLinearProcessNumbered"/>
    <dgm:cxn modelId="{EB4A9A17-048B-411C-965A-8B717308AC86}" type="presParOf" srcId="{E35E6B65-8FA1-42F5-8F04-C115F0D33003}" destId="{C18B13C0-64E4-4C70-86F6-8A2F9B5A1036}" srcOrd="2" destOrd="0" presId="urn:microsoft.com/office/officeart/2016/7/layout/BasicLinearProcessNumbered"/>
    <dgm:cxn modelId="{BC38A60D-20C9-43DB-A206-5B0D2A44CBEB}" type="presParOf" srcId="{E35E6B65-8FA1-42F5-8F04-C115F0D33003}" destId="{43CFEF5A-7048-4EAE-A402-27017768D9A6}" srcOrd="3" destOrd="0" presId="urn:microsoft.com/office/officeart/2016/7/layout/BasicLinearProcessNumbered"/>
    <dgm:cxn modelId="{0DF3D784-2204-4C98-8E41-733A9158F2E2}" type="presParOf" srcId="{1F77349C-221B-4A97-9598-1FF6078ABD08}" destId="{4535EAFC-788A-4658-BEF8-A080AFC4145C}" srcOrd="3" destOrd="0" presId="urn:microsoft.com/office/officeart/2016/7/layout/BasicLinearProcessNumbered"/>
    <dgm:cxn modelId="{66673DE3-A8C9-4177-B102-717C54BC8D11}" type="presParOf" srcId="{1F77349C-221B-4A97-9598-1FF6078ABD08}" destId="{6940A655-10A7-4D02-8663-F490B8289234}" srcOrd="4" destOrd="0" presId="urn:microsoft.com/office/officeart/2016/7/layout/BasicLinearProcessNumbered"/>
    <dgm:cxn modelId="{11A49D2E-62F2-4B19-BE45-1B5B8D4C6ED7}" type="presParOf" srcId="{6940A655-10A7-4D02-8663-F490B8289234}" destId="{09069943-109F-43E3-BBE1-10E64089A10B}" srcOrd="0" destOrd="0" presId="urn:microsoft.com/office/officeart/2016/7/layout/BasicLinearProcessNumbered"/>
    <dgm:cxn modelId="{AFFD9C72-C289-40A6-B7B2-E88EF530FCEC}" type="presParOf" srcId="{6940A655-10A7-4D02-8663-F490B8289234}" destId="{410A0197-79A9-48FE-8D0D-C2CFCDFE0827}" srcOrd="1" destOrd="0" presId="urn:microsoft.com/office/officeart/2016/7/layout/BasicLinearProcessNumbered"/>
    <dgm:cxn modelId="{0CFAA47B-CD5B-45D5-92F2-07DD04C8B6F4}" type="presParOf" srcId="{6940A655-10A7-4D02-8663-F490B8289234}" destId="{C5DF3B6D-C08A-4EA1-9697-8C9DA2412B1C}" srcOrd="2" destOrd="0" presId="urn:microsoft.com/office/officeart/2016/7/layout/BasicLinearProcessNumbered"/>
    <dgm:cxn modelId="{697121AC-AA93-41D9-8E8A-5DE04B5E3FAC}" type="presParOf" srcId="{6940A655-10A7-4D02-8663-F490B8289234}" destId="{10231CF3-AF10-4792-8BEE-85C37E43E408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E42697B-3A55-4D4B-AD6C-9350138852DA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0AAAD52-017D-4005-A9FA-AFC0421D45EA}">
      <dgm:prSet/>
      <dgm:spPr/>
      <dgm:t>
        <a:bodyPr/>
        <a:lstStyle/>
        <a:p>
          <a:r>
            <a:rPr lang="en-US" b="1"/>
            <a:t>Greedy</a:t>
          </a:r>
          <a:r>
            <a:rPr lang="en-US"/>
            <a:t> — Each split is locally optimal. No backtracking. Early mistakes propagate.</a:t>
          </a:r>
        </a:p>
      </dgm:t>
    </dgm:pt>
    <dgm:pt modelId="{3B36E213-7F14-4DFB-8E17-6C7302B19776}" type="parTrans" cxnId="{9E66000A-FBE5-474E-AFA7-3F8B8460C7F4}">
      <dgm:prSet/>
      <dgm:spPr/>
      <dgm:t>
        <a:bodyPr/>
        <a:lstStyle/>
        <a:p>
          <a:endParaRPr lang="en-US"/>
        </a:p>
      </dgm:t>
    </dgm:pt>
    <dgm:pt modelId="{1D91928D-6455-4F72-BC98-ACAA72F5E371}" type="sibTrans" cxnId="{9E66000A-FBE5-474E-AFA7-3F8B8460C7F4}">
      <dgm:prSet/>
      <dgm:spPr/>
      <dgm:t>
        <a:bodyPr/>
        <a:lstStyle/>
        <a:p>
          <a:endParaRPr lang="en-US"/>
        </a:p>
      </dgm:t>
    </dgm:pt>
    <dgm:pt modelId="{7CFC04F9-CAE0-421E-8AD8-6C983CBC6C08}">
      <dgm:prSet/>
      <dgm:spPr/>
      <dgm:t>
        <a:bodyPr/>
        <a:lstStyle/>
        <a:p>
          <a:r>
            <a:rPr lang="en-US" b="1"/>
            <a:t>Variables reusable</a:t>
          </a:r>
          <a:r>
            <a:rPr lang="en-US"/>
            <a:t> — The same predictor can split at multiple depths, capturing nonlinear thresholds.</a:t>
          </a:r>
        </a:p>
      </dgm:t>
    </dgm:pt>
    <dgm:pt modelId="{70F8AC9F-A35A-4958-9FCB-47C58136271B}" type="parTrans" cxnId="{4FA9598D-8FA6-46A8-A422-564FEE961CCC}">
      <dgm:prSet/>
      <dgm:spPr/>
      <dgm:t>
        <a:bodyPr/>
        <a:lstStyle/>
        <a:p>
          <a:endParaRPr lang="en-US"/>
        </a:p>
      </dgm:t>
    </dgm:pt>
    <dgm:pt modelId="{F88D3E55-9690-497B-89E4-9357D11775E5}" type="sibTrans" cxnId="{4FA9598D-8FA6-46A8-A422-564FEE961CCC}">
      <dgm:prSet/>
      <dgm:spPr/>
      <dgm:t>
        <a:bodyPr/>
        <a:lstStyle/>
        <a:p>
          <a:endParaRPr lang="en-US"/>
        </a:p>
      </dgm:t>
    </dgm:pt>
    <dgm:pt modelId="{9F7BFE0C-CAD8-4C9E-8981-07F7CDCF496B}">
      <dgm:prSet/>
      <dgm:spPr/>
      <dgm:t>
        <a:bodyPr/>
        <a:lstStyle/>
        <a:p>
          <a:r>
            <a:rPr lang="en-US" b="1"/>
            <a:t>Pruning required</a:t>
          </a:r>
          <a:r>
            <a:rPr lang="en-US"/>
            <a:t> — Fully grown trees overfit. The 1-SE rule removes splits not justified by the data.</a:t>
          </a:r>
        </a:p>
      </dgm:t>
    </dgm:pt>
    <dgm:pt modelId="{8E24E9A7-EFCE-44E1-B8C6-FB0513C459FD}" type="parTrans" cxnId="{8A5DCCBD-A04D-4833-A78D-1697483A8235}">
      <dgm:prSet/>
      <dgm:spPr/>
      <dgm:t>
        <a:bodyPr/>
        <a:lstStyle/>
        <a:p>
          <a:endParaRPr lang="en-US"/>
        </a:p>
      </dgm:t>
    </dgm:pt>
    <dgm:pt modelId="{CF18F325-0F55-4B52-A9A5-FB23A894060B}" type="sibTrans" cxnId="{8A5DCCBD-A04D-4833-A78D-1697483A8235}">
      <dgm:prSet/>
      <dgm:spPr/>
      <dgm:t>
        <a:bodyPr/>
        <a:lstStyle/>
        <a:p>
          <a:endParaRPr lang="en-US"/>
        </a:p>
      </dgm:t>
    </dgm:pt>
    <dgm:pt modelId="{6EE720DF-8279-4E6C-BD0A-DEBE7AA96525}" type="pres">
      <dgm:prSet presAssocID="{8E42697B-3A55-4D4B-AD6C-9350138852DA}" presName="diagram" presStyleCnt="0">
        <dgm:presLayoutVars>
          <dgm:dir/>
          <dgm:resizeHandles val="exact"/>
        </dgm:presLayoutVars>
      </dgm:prSet>
      <dgm:spPr/>
    </dgm:pt>
    <dgm:pt modelId="{47B8CAC0-2120-4DD8-B3E7-BCB8160D175C}" type="pres">
      <dgm:prSet presAssocID="{E0AAAD52-017D-4005-A9FA-AFC0421D45EA}" presName="node" presStyleLbl="node1" presStyleIdx="0" presStyleCnt="3">
        <dgm:presLayoutVars>
          <dgm:bulletEnabled val="1"/>
        </dgm:presLayoutVars>
      </dgm:prSet>
      <dgm:spPr/>
    </dgm:pt>
    <dgm:pt modelId="{71745D5D-560D-4C7D-B2A3-FADDBDCBFBFE}" type="pres">
      <dgm:prSet presAssocID="{1D91928D-6455-4F72-BC98-ACAA72F5E371}" presName="sibTrans" presStyleCnt="0"/>
      <dgm:spPr/>
    </dgm:pt>
    <dgm:pt modelId="{BA9DA171-D514-4A9A-96D4-D34A7B83746B}" type="pres">
      <dgm:prSet presAssocID="{7CFC04F9-CAE0-421E-8AD8-6C983CBC6C08}" presName="node" presStyleLbl="node1" presStyleIdx="1" presStyleCnt="3">
        <dgm:presLayoutVars>
          <dgm:bulletEnabled val="1"/>
        </dgm:presLayoutVars>
      </dgm:prSet>
      <dgm:spPr/>
    </dgm:pt>
    <dgm:pt modelId="{52C5252B-6A9C-4AF3-8E82-C4685CD811E2}" type="pres">
      <dgm:prSet presAssocID="{F88D3E55-9690-497B-89E4-9357D11775E5}" presName="sibTrans" presStyleCnt="0"/>
      <dgm:spPr/>
    </dgm:pt>
    <dgm:pt modelId="{7C0F265C-F0F9-49B3-8EE6-32075D6E4FFD}" type="pres">
      <dgm:prSet presAssocID="{9F7BFE0C-CAD8-4C9E-8981-07F7CDCF496B}" presName="node" presStyleLbl="node1" presStyleIdx="2" presStyleCnt="3">
        <dgm:presLayoutVars>
          <dgm:bulletEnabled val="1"/>
        </dgm:presLayoutVars>
      </dgm:prSet>
      <dgm:spPr/>
    </dgm:pt>
  </dgm:ptLst>
  <dgm:cxnLst>
    <dgm:cxn modelId="{9E66000A-FBE5-474E-AFA7-3F8B8460C7F4}" srcId="{8E42697B-3A55-4D4B-AD6C-9350138852DA}" destId="{E0AAAD52-017D-4005-A9FA-AFC0421D45EA}" srcOrd="0" destOrd="0" parTransId="{3B36E213-7F14-4DFB-8E17-6C7302B19776}" sibTransId="{1D91928D-6455-4F72-BC98-ACAA72F5E371}"/>
    <dgm:cxn modelId="{17E69B32-6B3B-48A4-8F5B-2134D9771A9F}" type="presOf" srcId="{E0AAAD52-017D-4005-A9FA-AFC0421D45EA}" destId="{47B8CAC0-2120-4DD8-B3E7-BCB8160D175C}" srcOrd="0" destOrd="0" presId="urn:microsoft.com/office/officeart/2005/8/layout/default"/>
    <dgm:cxn modelId="{87112148-5BF2-49DE-A446-81926B723316}" type="presOf" srcId="{9F7BFE0C-CAD8-4C9E-8981-07F7CDCF496B}" destId="{7C0F265C-F0F9-49B3-8EE6-32075D6E4FFD}" srcOrd="0" destOrd="0" presId="urn:microsoft.com/office/officeart/2005/8/layout/default"/>
    <dgm:cxn modelId="{7F8C7158-43DD-4D78-80F4-17E948CED7D8}" type="presOf" srcId="{7CFC04F9-CAE0-421E-8AD8-6C983CBC6C08}" destId="{BA9DA171-D514-4A9A-96D4-D34A7B83746B}" srcOrd="0" destOrd="0" presId="urn:microsoft.com/office/officeart/2005/8/layout/default"/>
    <dgm:cxn modelId="{4FA9598D-8FA6-46A8-A422-564FEE961CCC}" srcId="{8E42697B-3A55-4D4B-AD6C-9350138852DA}" destId="{7CFC04F9-CAE0-421E-8AD8-6C983CBC6C08}" srcOrd="1" destOrd="0" parTransId="{70F8AC9F-A35A-4958-9FCB-47C58136271B}" sibTransId="{F88D3E55-9690-497B-89E4-9357D11775E5}"/>
    <dgm:cxn modelId="{8A5DCCBD-A04D-4833-A78D-1697483A8235}" srcId="{8E42697B-3A55-4D4B-AD6C-9350138852DA}" destId="{9F7BFE0C-CAD8-4C9E-8981-07F7CDCF496B}" srcOrd="2" destOrd="0" parTransId="{8E24E9A7-EFCE-44E1-B8C6-FB0513C459FD}" sibTransId="{CF18F325-0F55-4B52-A9A5-FB23A894060B}"/>
    <dgm:cxn modelId="{5AFF2BEA-8B31-4703-9BA7-24FD26734DE3}" type="presOf" srcId="{8E42697B-3A55-4D4B-AD6C-9350138852DA}" destId="{6EE720DF-8279-4E6C-BD0A-DEBE7AA96525}" srcOrd="0" destOrd="0" presId="urn:microsoft.com/office/officeart/2005/8/layout/default"/>
    <dgm:cxn modelId="{1336E9E1-B496-4265-A383-77411C660858}" type="presParOf" srcId="{6EE720DF-8279-4E6C-BD0A-DEBE7AA96525}" destId="{47B8CAC0-2120-4DD8-B3E7-BCB8160D175C}" srcOrd="0" destOrd="0" presId="urn:microsoft.com/office/officeart/2005/8/layout/default"/>
    <dgm:cxn modelId="{6F7E15E7-FA1A-4F7C-9715-35A77DF55141}" type="presParOf" srcId="{6EE720DF-8279-4E6C-BD0A-DEBE7AA96525}" destId="{71745D5D-560D-4C7D-B2A3-FADDBDCBFBFE}" srcOrd="1" destOrd="0" presId="urn:microsoft.com/office/officeart/2005/8/layout/default"/>
    <dgm:cxn modelId="{F1967CF9-EF1E-40D1-B87B-9AD11B7C5D20}" type="presParOf" srcId="{6EE720DF-8279-4E6C-BD0A-DEBE7AA96525}" destId="{BA9DA171-D514-4A9A-96D4-D34A7B83746B}" srcOrd="2" destOrd="0" presId="urn:microsoft.com/office/officeart/2005/8/layout/default"/>
    <dgm:cxn modelId="{8FC4D86C-F7C2-4FAE-9B94-104E74D4E09C}" type="presParOf" srcId="{6EE720DF-8279-4E6C-BD0A-DEBE7AA96525}" destId="{52C5252B-6A9C-4AF3-8E82-C4685CD811E2}" srcOrd="3" destOrd="0" presId="urn:microsoft.com/office/officeart/2005/8/layout/default"/>
    <dgm:cxn modelId="{EFB87BF2-9808-4AA3-9896-C4FEDB3A332E}" type="presParOf" srcId="{6EE720DF-8279-4E6C-BD0A-DEBE7AA96525}" destId="{7C0F265C-F0F9-49B3-8EE6-32075D6E4FFD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EDDEE-BCAF-44C4-B73C-3C0994B12632}">
      <dsp:nvSpPr>
        <dsp:cNvPr id="0" name=""/>
        <dsp:cNvSpPr/>
      </dsp:nvSpPr>
      <dsp:spPr>
        <a:xfrm>
          <a:off x="4950" y="0"/>
          <a:ext cx="1317282" cy="11740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E39310-F7F1-4CA9-97E4-CA6BE2F7ED4B}">
      <dsp:nvSpPr>
        <dsp:cNvPr id="0" name=""/>
        <dsp:cNvSpPr/>
      </dsp:nvSpPr>
      <dsp:spPr>
        <a:xfrm>
          <a:off x="4950" y="1334683"/>
          <a:ext cx="3763664" cy="50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Part 1 – CART models</a:t>
          </a:r>
        </a:p>
      </dsp:txBody>
      <dsp:txXfrm>
        <a:off x="4950" y="1334683"/>
        <a:ext cx="3763664" cy="503144"/>
      </dsp:txXfrm>
    </dsp:sp>
    <dsp:sp modelId="{B2C1CCD0-9931-4A58-937D-3F2B9C8D38E7}">
      <dsp:nvSpPr>
        <dsp:cNvPr id="0" name=""/>
        <dsp:cNvSpPr/>
      </dsp:nvSpPr>
      <dsp:spPr>
        <a:xfrm>
          <a:off x="4950" y="1912562"/>
          <a:ext cx="3763664" cy="2280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Overview and Concepts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Examples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Advantages over other modeling methods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Rpart Method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Splitting criteria for Regression and Classification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Pruning with Cost Complexity parameter 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 Validation</a:t>
          </a:r>
        </a:p>
      </dsp:txBody>
      <dsp:txXfrm>
        <a:off x="4950" y="1912562"/>
        <a:ext cx="3763664" cy="2280242"/>
      </dsp:txXfrm>
    </dsp:sp>
    <dsp:sp modelId="{5FC32B09-8B8B-4DE3-8D8D-B62EA82A3BC0}">
      <dsp:nvSpPr>
        <dsp:cNvPr id="0" name=""/>
        <dsp:cNvSpPr/>
      </dsp:nvSpPr>
      <dsp:spPr>
        <a:xfrm>
          <a:off x="4427256" y="0"/>
          <a:ext cx="1317282" cy="11740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3ED1AD-12C5-47EE-AEA3-4B4B1D472565}">
      <dsp:nvSpPr>
        <dsp:cNvPr id="0" name=""/>
        <dsp:cNvSpPr/>
      </dsp:nvSpPr>
      <dsp:spPr>
        <a:xfrm>
          <a:off x="4427256" y="1334683"/>
          <a:ext cx="3763664" cy="5031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200" kern="1200"/>
            <a:t>Part 2 – Random Forest models</a:t>
          </a:r>
        </a:p>
      </dsp:txBody>
      <dsp:txXfrm>
        <a:off x="4427256" y="1334683"/>
        <a:ext cx="3763664" cy="503144"/>
      </dsp:txXfrm>
    </dsp:sp>
    <dsp:sp modelId="{35FD0D0A-D27D-4B3B-AEA9-11CAFBBB77A1}">
      <dsp:nvSpPr>
        <dsp:cNvPr id="0" name=""/>
        <dsp:cNvSpPr/>
      </dsp:nvSpPr>
      <dsp:spPr>
        <a:xfrm>
          <a:off x="4427256" y="1912562"/>
          <a:ext cx="3763664" cy="22802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Random Forest Methods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Bootstrap Aggregation and Bagging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Variable Importance and OOB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0" kern="1200" dirty="0"/>
            <a:t>Interpretation — PDPs and SHAP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0" kern="1200" dirty="0"/>
            <a:t>Uncertainty — QRF, </a:t>
          </a:r>
          <a:r>
            <a:rPr lang="en-US" altLang="en-US" sz="1600" b="0" kern="1200" dirty="0" err="1"/>
            <a:t>Shanon</a:t>
          </a:r>
          <a:r>
            <a:rPr lang="en-US" altLang="en-US" sz="1600" b="0" kern="1200" dirty="0"/>
            <a:t> Entropy, </a:t>
          </a:r>
          <a:r>
            <a:rPr lang="en-US" altLang="en-US" sz="1600" b="0" kern="1200" dirty="0" err="1"/>
            <a:t>etc</a:t>
          </a:r>
          <a:endParaRPr lang="en-US" altLang="en-US" sz="1600" b="0" kern="1200" dirty="0"/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en-US" sz="1600" b="0" kern="1200" dirty="0"/>
            <a:t>Spatial Validity — </a:t>
          </a:r>
          <a:r>
            <a:rPr lang="en-US" altLang="en-US" sz="1600" b="0" kern="1200" dirty="0" err="1"/>
            <a:t>kNNDM</a:t>
          </a:r>
          <a:r>
            <a:rPr lang="en-US" altLang="en-US" sz="1600" b="0" kern="1200" dirty="0"/>
            <a:t> CV and AOA</a:t>
          </a:r>
          <a:endParaRPr lang="en-US" sz="1600" b="0" kern="1200" dirty="0"/>
        </a:p>
      </dsp:txBody>
      <dsp:txXfrm>
        <a:off x="4427256" y="1912562"/>
        <a:ext cx="3763664" cy="228024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FD6072-07D4-4A13-94E6-463C60E89F62}">
      <dsp:nvSpPr>
        <dsp:cNvPr id="0" name=""/>
        <dsp:cNvSpPr/>
      </dsp:nvSpPr>
      <dsp:spPr>
        <a:xfrm rot="5400000">
          <a:off x="4802041" y="-1820475"/>
          <a:ext cx="1121829" cy="5047488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require imputation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results in record deletion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limited “high value” observations</a:t>
          </a:r>
        </a:p>
      </dsp:txBody>
      <dsp:txXfrm rot="-5400000">
        <a:off x="2839212" y="197117"/>
        <a:ext cx="4992725" cy="1012303"/>
      </dsp:txXfrm>
    </dsp:sp>
    <dsp:sp modelId="{190CDCD6-73C2-4553-93E2-B839031D4D79}">
      <dsp:nvSpPr>
        <dsp:cNvPr id="0" name=""/>
        <dsp:cNvSpPr/>
      </dsp:nvSpPr>
      <dsp:spPr>
        <a:xfrm>
          <a:off x="0" y="2124"/>
          <a:ext cx="2839212" cy="140228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Missing Values</a:t>
          </a:r>
        </a:p>
      </dsp:txBody>
      <dsp:txXfrm>
        <a:off x="68454" y="70578"/>
        <a:ext cx="2702304" cy="1265378"/>
      </dsp:txXfrm>
    </dsp:sp>
    <dsp:sp modelId="{5F545F53-1365-49C8-83D5-254F33C562E3}">
      <dsp:nvSpPr>
        <dsp:cNvPr id="0" name=""/>
        <dsp:cNvSpPr/>
      </dsp:nvSpPr>
      <dsp:spPr>
        <a:xfrm rot="5400000">
          <a:off x="4802041" y="-348074"/>
          <a:ext cx="1121829" cy="5047488"/>
        </a:xfrm>
        <a:prstGeom prst="round2Same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Y = 10 + 3X</a:t>
          </a:r>
          <a:r>
            <a:rPr lang="en-US" sz="2000" kern="1200" baseline="-25000"/>
            <a:t>1</a:t>
          </a:r>
          <a:r>
            <a:rPr lang="en-US" sz="2000" kern="1200"/>
            <a:t> – 2X</a:t>
          </a:r>
          <a:r>
            <a:rPr lang="en-US" sz="2000" kern="1200" baseline="-25000"/>
            <a:t>2</a:t>
          </a:r>
          <a:r>
            <a:rPr lang="en-US" sz="2000" kern="1200"/>
            <a:t> + 0.3X</a:t>
          </a:r>
          <a:r>
            <a:rPr lang="en-US" sz="2000" kern="1200" baseline="-25000"/>
            <a:t>1</a:t>
          </a:r>
          <a:r>
            <a:rPr lang="en-US" sz="2000" kern="1200" baseline="30000"/>
            <a:t>2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difficult to account for local effects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Assumes a normal distribution</a:t>
          </a:r>
        </a:p>
      </dsp:txBody>
      <dsp:txXfrm rot="-5400000">
        <a:off x="2839212" y="1669518"/>
        <a:ext cx="4992725" cy="1012303"/>
      </dsp:txXfrm>
    </dsp:sp>
    <dsp:sp modelId="{505095A9-F0B8-49E6-9DF1-BE083175A031}">
      <dsp:nvSpPr>
        <dsp:cNvPr id="0" name=""/>
        <dsp:cNvSpPr/>
      </dsp:nvSpPr>
      <dsp:spPr>
        <a:xfrm>
          <a:off x="0" y="1474525"/>
          <a:ext cx="2839212" cy="1402286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Nonlinearity</a:t>
          </a:r>
        </a:p>
      </dsp:txBody>
      <dsp:txXfrm>
        <a:off x="68454" y="1542979"/>
        <a:ext cx="2702304" cy="1265378"/>
      </dsp:txXfrm>
    </dsp:sp>
    <dsp:sp modelId="{BBCD7AC0-FF99-414A-82F4-488BC96C7735}">
      <dsp:nvSpPr>
        <dsp:cNvPr id="0" name=""/>
        <dsp:cNvSpPr/>
      </dsp:nvSpPr>
      <dsp:spPr>
        <a:xfrm rot="5400000">
          <a:off x="4802041" y="1124325"/>
          <a:ext cx="1121829" cy="5047488"/>
        </a:xfrm>
        <a:prstGeom prst="round2Same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Y = 10 + 3X</a:t>
          </a:r>
          <a:r>
            <a:rPr lang="en-US" sz="2000" kern="1200" baseline="-25000"/>
            <a:t>1</a:t>
          </a:r>
          <a:r>
            <a:rPr lang="en-US" sz="2000" kern="1200"/>
            <a:t> – 2X</a:t>
          </a:r>
          <a:r>
            <a:rPr lang="en-US" sz="2000" kern="1200" baseline="-25000"/>
            <a:t>2</a:t>
          </a:r>
          <a:r>
            <a:rPr lang="en-US" sz="2000" kern="1200"/>
            <a:t> + 0.25X</a:t>
          </a:r>
          <a:r>
            <a:rPr lang="en-US" sz="2000" kern="1200" baseline="-25000"/>
            <a:t>1</a:t>
          </a:r>
          <a:r>
            <a:rPr lang="en-US" sz="2000" kern="1200"/>
            <a:t>X</a:t>
          </a:r>
          <a:r>
            <a:rPr lang="en-US" sz="2000" kern="1200" baseline="-25000"/>
            <a:t>2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 baseline="-25000"/>
            <a:t>i.e. forward / backward / stepwise regression</a:t>
          </a:r>
          <a:endParaRPr lang="en-US" sz="2000" kern="1200"/>
        </a:p>
      </dsp:txBody>
      <dsp:txXfrm rot="-5400000">
        <a:off x="2839212" y="3141918"/>
        <a:ext cx="4992725" cy="1012303"/>
      </dsp:txXfrm>
    </dsp:sp>
    <dsp:sp modelId="{382D21F3-7E47-4EBD-95A3-4B4A3B391931}">
      <dsp:nvSpPr>
        <dsp:cNvPr id="0" name=""/>
        <dsp:cNvSpPr/>
      </dsp:nvSpPr>
      <dsp:spPr>
        <a:xfrm>
          <a:off x="0" y="2946926"/>
          <a:ext cx="2839212" cy="1402286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66675" rIns="133350" bIns="66675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Interactions</a:t>
          </a:r>
        </a:p>
      </dsp:txBody>
      <dsp:txXfrm>
        <a:off x="68454" y="3015380"/>
        <a:ext cx="2702304" cy="12653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DC44B-6D4D-4E85-9F96-9F107D5D44A8}">
      <dsp:nvSpPr>
        <dsp:cNvPr id="0" name=""/>
        <dsp:cNvSpPr/>
      </dsp:nvSpPr>
      <dsp:spPr>
        <a:xfrm>
          <a:off x="0" y="0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791EF8-1120-4534-95C6-1354EF4C888C}">
      <dsp:nvSpPr>
        <dsp:cNvPr id="0" name=""/>
        <dsp:cNvSpPr/>
      </dsp:nvSpPr>
      <dsp:spPr>
        <a:xfrm>
          <a:off x="0" y="0"/>
          <a:ext cx="3986392" cy="441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Closely resemble human reasoning</a:t>
          </a:r>
        </a:p>
      </dsp:txBody>
      <dsp:txXfrm>
        <a:off x="0" y="0"/>
        <a:ext cx="3986392" cy="441885"/>
      </dsp:txXfrm>
    </dsp:sp>
    <dsp:sp modelId="{53189C4B-31E9-41BB-B066-03B149C28F1E}">
      <dsp:nvSpPr>
        <dsp:cNvPr id="0" name=""/>
        <dsp:cNvSpPr/>
      </dsp:nvSpPr>
      <dsp:spPr>
        <a:xfrm>
          <a:off x="0" y="441885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EE7316-A5E6-4458-9A8E-A6BE219EA4EB}">
      <dsp:nvSpPr>
        <dsp:cNvPr id="0" name=""/>
        <dsp:cNvSpPr/>
      </dsp:nvSpPr>
      <dsp:spPr>
        <a:xfrm>
          <a:off x="0" y="441885"/>
          <a:ext cx="3986392" cy="441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Quickly executed</a:t>
          </a:r>
        </a:p>
      </dsp:txBody>
      <dsp:txXfrm>
        <a:off x="0" y="441885"/>
        <a:ext cx="3986392" cy="441885"/>
      </dsp:txXfrm>
    </dsp:sp>
    <dsp:sp modelId="{273888FC-E11F-4771-BEEE-B1A2D8FD6A1C}">
      <dsp:nvSpPr>
        <dsp:cNvPr id="0" name=""/>
        <dsp:cNvSpPr/>
      </dsp:nvSpPr>
      <dsp:spPr>
        <a:xfrm>
          <a:off x="0" y="883770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98C3D2-B082-4507-B671-413162230044}">
      <dsp:nvSpPr>
        <dsp:cNvPr id="0" name=""/>
        <dsp:cNvSpPr/>
      </dsp:nvSpPr>
      <dsp:spPr>
        <a:xfrm>
          <a:off x="0" y="883770"/>
          <a:ext cx="3986392" cy="441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Do not assume / require normality</a:t>
          </a:r>
        </a:p>
      </dsp:txBody>
      <dsp:txXfrm>
        <a:off x="0" y="883770"/>
        <a:ext cx="3986392" cy="441885"/>
      </dsp:txXfrm>
    </dsp:sp>
    <dsp:sp modelId="{1C98BFCD-545F-49F3-88A3-3B68CDA735FF}">
      <dsp:nvSpPr>
        <dsp:cNvPr id="0" name=""/>
        <dsp:cNvSpPr/>
      </dsp:nvSpPr>
      <dsp:spPr>
        <a:xfrm>
          <a:off x="0" y="1325656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21813CB-FA6A-4BF7-8F70-3FE454F5980D}">
      <dsp:nvSpPr>
        <dsp:cNvPr id="0" name=""/>
        <dsp:cNvSpPr/>
      </dsp:nvSpPr>
      <dsp:spPr>
        <a:xfrm>
          <a:off x="0" y="1325656"/>
          <a:ext cx="3986392" cy="441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Handles both continuous and categorical data</a:t>
          </a:r>
        </a:p>
      </dsp:txBody>
      <dsp:txXfrm>
        <a:off x="0" y="1325656"/>
        <a:ext cx="3986392" cy="441885"/>
      </dsp:txXfrm>
    </dsp:sp>
    <dsp:sp modelId="{2B279F3F-3EF3-440F-9376-DEBE260C874F}">
      <dsp:nvSpPr>
        <dsp:cNvPr id="0" name=""/>
        <dsp:cNvSpPr/>
      </dsp:nvSpPr>
      <dsp:spPr>
        <a:xfrm>
          <a:off x="0" y="1767541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2EAB84F-7889-48E7-A6CA-51B67F2D182D}">
      <dsp:nvSpPr>
        <dsp:cNvPr id="0" name=""/>
        <dsp:cNvSpPr/>
      </dsp:nvSpPr>
      <dsp:spPr>
        <a:xfrm>
          <a:off x="0" y="1767541"/>
          <a:ext cx="3986392" cy="441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Perform Regression and Classification</a:t>
          </a:r>
        </a:p>
      </dsp:txBody>
      <dsp:txXfrm>
        <a:off x="0" y="1767541"/>
        <a:ext cx="3986392" cy="441885"/>
      </dsp:txXfrm>
    </dsp:sp>
    <dsp:sp modelId="{B053508F-5EC8-4DC3-86AB-77319D1C726E}">
      <dsp:nvSpPr>
        <dsp:cNvPr id="0" name=""/>
        <dsp:cNvSpPr/>
      </dsp:nvSpPr>
      <dsp:spPr>
        <a:xfrm>
          <a:off x="0" y="2209426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BDC4C4E-A74B-4B9C-89EA-4C62B90E04E1}">
      <dsp:nvSpPr>
        <dsp:cNvPr id="0" name=""/>
        <dsp:cNvSpPr/>
      </dsp:nvSpPr>
      <dsp:spPr>
        <a:xfrm>
          <a:off x="0" y="2209426"/>
          <a:ext cx="3986392" cy="441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*Easily interpretable results</a:t>
          </a:r>
        </a:p>
      </dsp:txBody>
      <dsp:txXfrm>
        <a:off x="0" y="2209426"/>
        <a:ext cx="3986392" cy="441885"/>
      </dsp:txXfrm>
    </dsp:sp>
    <dsp:sp modelId="{FC3C1D32-9572-468B-8051-F99C9587342F}">
      <dsp:nvSpPr>
        <dsp:cNvPr id="0" name=""/>
        <dsp:cNvSpPr/>
      </dsp:nvSpPr>
      <dsp:spPr>
        <a:xfrm>
          <a:off x="0" y="2651312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B15C789-C9F4-42C0-92D4-94C716CB0845}">
      <dsp:nvSpPr>
        <dsp:cNvPr id="0" name=""/>
        <dsp:cNvSpPr/>
      </dsp:nvSpPr>
      <dsp:spPr>
        <a:xfrm>
          <a:off x="0" y="2651312"/>
          <a:ext cx="3986392" cy="441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Handles missing values and dirty data</a:t>
          </a:r>
        </a:p>
      </dsp:txBody>
      <dsp:txXfrm>
        <a:off x="0" y="2651312"/>
        <a:ext cx="3986392" cy="441885"/>
      </dsp:txXfrm>
    </dsp:sp>
    <dsp:sp modelId="{DEC9070F-4FFB-4F85-A43F-05EFB41DCF0E}">
      <dsp:nvSpPr>
        <dsp:cNvPr id="0" name=""/>
        <dsp:cNvSpPr/>
      </dsp:nvSpPr>
      <dsp:spPr>
        <a:xfrm>
          <a:off x="0" y="3093197"/>
          <a:ext cx="3986392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85B6E90-FF8D-4AFB-98CB-581421CF1DE1}">
      <dsp:nvSpPr>
        <dsp:cNvPr id="0" name=""/>
        <dsp:cNvSpPr/>
      </dsp:nvSpPr>
      <dsp:spPr>
        <a:xfrm>
          <a:off x="0" y="3093197"/>
          <a:ext cx="3986392" cy="4418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Useful for exploratory analysis and prediction</a:t>
          </a:r>
        </a:p>
      </dsp:txBody>
      <dsp:txXfrm>
        <a:off x="0" y="3093197"/>
        <a:ext cx="3986392" cy="4418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A24D7E-8F1E-41D5-87CB-62043C9C30A0}">
      <dsp:nvSpPr>
        <dsp:cNvPr id="0" name=""/>
        <dsp:cNvSpPr/>
      </dsp:nvSpPr>
      <dsp:spPr>
        <a:xfrm>
          <a:off x="0" y="179916"/>
          <a:ext cx="2561209" cy="153672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rpart</a:t>
          </a:r>
          <a:endParaRPr lang="en-US" sz="3100" kern="1200"/>
        </a:p>
      </dsp:txBody>
      <dsp:txXfrm>
        <a:off x="0" y="179916"/>
        <a:ext cx="2561209" cy="1536725"/>
      </dsp:txXfrm>
    </dsp:sp>
    <dsp:sp modelId="{48B7A0BD-4CF5-4A65-967E-112DB9458462}">
      <dsp:nvSpPr>
        <dsp:cNvPr id="0" name=""/>
        <dsp:cNvSpPr/>
      </dsp:nvSpPr>
      <dsp:spPr>
        <a:xfrm>
          <a:off x="2817330" y="179916"/>
          <a:ext cx="2561209" cy="153672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caret</a:t>
          </a:r>
          <a:endParaRPr lang="en-US" sz="3100" kern="1200"/>
        </a:p>
      </dsp:txBody>
      <dsp:txXfrm>
        <a:off x="2817330" y="179916"/>
        <a:ext cx="2561209" cy="1536725"/>
      </dsp:txXfrm>
    </dsp:sp>
    <dsp:sp modelId="{92CF0382-B5B2-499F-AE90-6936C629691A}">
      <dsp:nvSpPr>
        <dsp:cNvPr id="0" name=""/>
        <dsp:cNvSpPr/>
      </dsp:nvSpPr>
      <dsp:spPr>
        <a:xfrm>
          <a:off x="5634661" y="179916"/>
          <a:ext cx="2561209" cy="153672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randomForest</a:t>
          </a:r>
          <a:endParaRPr lang="en-US" sz="3100" kern="1200"/>
        </a:p>
      </dsp:txBody>
      <dsp:txXfrm>
        <a:off x="5634661" y="179916"/>
        <a:ext cx="2561209" cy="1536725"/>
      </dsp:txXfrm>
    </dsp:sp>
    <dsp:sp modelId="{C42F9ADD-21BE-4B2D-AAE8-4075B975D561}">
      <dsp:nvSpPr>
        <dsp:cNvPr id="0" name=""/>
        <dsp:cNvSpPr/>
      </dsp:nvSpPr>
      <dsp:spPr>
        <a:xfrm>
          <a:off x="1408665" y="1972762"/>
          <a:ext cx="2561209" cy="1536725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ranger</a:t>
          </a:r>
          <a:endParaRPr lang="en-US" sz="3100" kern="1200"/>
        </a:p>
      </dsp:txBody>
      <dsp:txXfrm>
        <a:off x="1408665" y="1972762"/>
        <a:ext cx="2561209" cy="1536725"/>
      </dsp:txXfrm>
    </dsp:sp>
    <dsp:sp modelId="{B3CCF378-54A1-4B1D-8C97-A6F5D42B06DB}">
      <dsp:nvSpPr>
        <dsp:cNvPr id="0" name=""/>
        <dsp:cNvSpPr/>
      </dsp:nvSpPr>
      <dsp:spPr>
        <a:xfrm>
          <a:off x="4225995" y="1972762"/>
          <a:ext cx="2561209" cy="1536725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GBM / XGB</a:t>
          </a:r>
          <a:endParaRPr lang="en-US" sz="3100" kern="1200"/>
        </a:p>
      </dsp:txBody>
      <dsp:txXfrm>
        <a:off x="4225995" y="1972762"/>
        <a:ext cx="2561209" cy="153672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FD92C3-E4BC-4E24-B4BC-6A134AB5D3B5}">
      <dsp:nvSpPr>
        <dsp:cNvPr id="0" name=""/>
        <dsp:cNvSpPr/>
      </dsp:nvSpPr>
      <dsp:spPr>
        <a:xfrm>
          <a:off x="0" y="303555"/>
          <a:ext cx="2561209" cy="3585693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682" tIns="330200" rIns="199682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1. Find the best split</a:t>
          </a:r>
          <a:r>
            <a:rPr lang="en-US" sz="1300" kern="1200" dirty="0"/>
            <a:t>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Test every variable × threshold.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Choose the pair that maximally reduces RSS (regression) or Gini/entropy (classification).</a:t>
          </a:r>
        </a:p>
      </dsp:txBody>
      <dsp:txXfrm>
        <a:off x="0" y="1666119"/>
        <a:ext cx="2561209" cy="2151416"/>
      </dsp:txXfrm>
    </dsp:sp>
    <dsp:sp modelId="{1768739C-5049-49C8-B776-189BBEDD0D19}">
      <dsp:nvSpPr>
        <dsp:cNvPr id="0" name=""/>
        <dsp:cNvSpPr/>
      </dsp:nvSpPr>
      <dsp:spPr>
        <a:xfrm>
          <a:off x="742750" y="662125"/>
          <a:ext cx="1075708" cy="1075708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66" tIns="12700" rIns="838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900284" y="819659"/>
        <a:ext cx="760640" cy="760640"/>
      </dsp:txXfrm>
    </dsp:sp>
    <dsp:sp modelId="{83B9143B-41CC-4BD2-805C-2B9B7BD8BFB9}">
      <dsp:nvSpPr>
        <dsp:cNvPr id="0" name=""/>
        <dsp:cNvSpPr/>
      </dsp:nvSpPr>
      <dsp:spPr>
        <a:xfrm>
          <a:off x="0" y="3889177"/>
          <a:ext cx="2561209" cy="72"/>
        </a:xfrm>
        <a:prstGeom prst="rect">
          <a:avLst/>
        </a:prstGeom>
        <a:solidFill>
          <a:schemeClr val="accent2">
            <a:hueOff val="-291073"/>
            <a:satOff val="-16786"/>
            <a:lumOff val="1726"/>
            <a:alphaOff val="0"/>
          </a:schemeClr>
        </a:solidFill>
        <a:ln w="12700" cap="flat" cmpd="sng" algn="ctr">
          <a:solidFill>
            <a:schemeClr val="accent2">
              <a:hueOff val="-291073"/>
              <a:satOff val="-16786"/>
              <a:lumOff val="17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CEDF77-6D15-49D9-B435-C19E66F4574B}">
      <dsp:nvSpPr>
        <dsp:cNvPr id="0" name=""/>
        <dsp:cNvSpPr/>
      </dsp:nvSpPr>
      <dsp:spPr>
        <a:xfrm>
          <a:off x="2817330" y="303555"/>
          <a:ext cx="2561209" cy="3585693"/>
        </a:xfrm>
        <a:prstGeom prst="rect">
          <a:avLst/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682" tIns="330200" rIns="199682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2. Route observations</a:t>
          </a:r>
          <a:r>
            <a:rPr lang="en-US" sz="1300" kern="1200" dirty="0"/>
            <a:t>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X &lt; t → left.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X ≥ t → right.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Splits are always axis-aligned — one variable, one threshold.</a:t>
          </a:r>
        </a:p>
      </dsp:txBody>
      <dsp:txXfrm>
        <a:off x="2817330" y="1666119"/>
        <a:ext cx="2561209" cy="2151416"/>
      </dsp:txXfrm>
    </dsp:sp>
    <dsp:sp modelId="{BBD590AE-39D5-4732-9965-7BF9B292EB52}">
      <dsp:nvSpPr>
        <dsp:cNvPr id="0" name=""/>
        <dsp:cNvSpPr/>
      </dsp:nvSpPr>
      <dsp:spPr>
        <a:xfrm>
          <a:off x="3560081" y="662125"/>
          <a:ext cx="1075708" cy="1075708"/>
        </a:xfrm>
        <a:prstGeom prst="ellipse">
          <a:avLst/>
        </a:prstGeom>
        <a:solidFill>
          <a:schemeClr val="accent2">
            <a:hueOff val="-582145"/>
            <a:satOff val="-33571"/>
            <a:lumOff val="3451"/>
            <a:alphaOff val="0"/>
          </a:schemeClr>
        </a:solidFill>
        <a:ln w="12700" cap="flat" cmpd="sng" algn="ctr">
          <a:solidFill>
            <a:schemeClr val="accent2">
              <a:hueOff val="-582145"/>
              <a:satOff val="-33571"/>
              <a:lumOff val="345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66" tIns="12700" rIns="838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717615" y="819659"/>
        <a:ext cx="760640" cy="760640"/>
      </dsp:txXfrm>
    </dsp:sp>
    <dsp:sp modelId="{C18B13C0-64E4-4C70-86F6-8A2F9B5A1036}">
      <dsp:nvSpPr>
        <dsp:cNvPr id="0" name=""/>
        <dsp:cNvSpPr/>
      </dsp:nvSpPr>
      <dsp:spPr>
        <a:xfrm>
          <a:off x="2817330" y="3889177"/>
          <a:ext cx="2561209" cy="72"/>
        </a:xfrm>
        <a:prstGeom prst="rect">
          <a:avLst/>
        </a:prstGeom>
        <a:solidFill>
          <a:schemeClr val="accent2">
            <a:hueOff val="-873218"/>
            <a:satOff val="-50357"/>
            <a:lumOff val="5177"/>
            <a:alphaOff val="0"/>
          </a:schemeClr>
        </a:solidFill>
        <a:ln w="12700" cap="flat" cmpd="sng" algn="ctr">
          <a:solidFill>
            <a:schemeClr val="accent2">
              <a:hueOff val="-873218"/>
              <a:satOff val="-50357"/>
              <a:lumOff val="5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069943-109F-43E3-BBE1-10E64089A10B}">
      <dsp:nvSpPr>
        <dsp:cNvPr id="0" name=""/>
        <dsp:cNvSpPr/>
      </dsp:nvSpPr>
      <dsp:spPr>
        <a:xfrm>
          <a:off x="5634661" y="303555"/>
          <a:ext cx="2561209" cy="3585693"/>
        </a:xfrm>
        <a:prstGeom prst="rect">
          <a:avLst/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682" tIns="330200" rIns="199682" bIns="33020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/>
            <a:t>3. Repeat recursively</a:t>
          </a:r>
          <a:r>
            <a:rPr lang="en-US" sz="1300" kern="1200" dirty="0"/>
            <a:t> </a:t>
          </a:r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Each child becomes a new root. Stop when node size, depth, or impurity gain criteria are met.</a:t>
          </a:r>
        </a:p>
      </dsp:txBody>
      <dsp:txXfrm>
        <a:off x="5634661" y="1666119"/>
        <a:ext cx="2561209" cy="2151416"/>
      </dsp:txXfrm>
    </dsp:sp>
    <dsp:sp modelId="{410A0197-79A9-48FE-8D0D-C2CFCDFE0827}">
      <dsp:nvSpPr>
        <dsp:cNvPr id="0" name=""/>
        <dsp:cNvSpPr/>
      </dsp:nvSpPr>
      <dsp:spPr>
        <a:xfrm>
          <a:off x="6377412" y="662125"/>
          <a:ext cx="1075708" cy="1075708"/>
        </a:xfrm>
        <a:prstGeom prst="ellipse">
          <a:avLst/>
        </a:prstGeom>
        <a:solidFill>
          <a:schemeClr val="accent2">
            <a:hueOff val="-1164290"/>
            <a:satOff val="-67142"/>
            <a:lumOff val="6902"/>
            <a:alphaOff val="0"/>
          </a:schemeClr>
        </a:solidFill>
        <a:ln w="12700" cap="flat" cmpd="sng" algn="ctr">
          <a:solidFill>
            <a:schemeClr val="accent2">
              <a:hueOff val="-1164290"/>
              <a:satOff val="-67142"/>
              <a:lumOff val="690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66" tIns="12700" rIns="83866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534946" y="819659"/>
        <a:ext cx="760640" cy="760640"/>
      </dsp:txXfrm>
    </dsp:sp>
    <dsp:sp modelId="{C5DF3B6D-C08A-4EA1-9697-8C9DA2412B1C}">
      <dsp:nvSpPr>
        <dsp:cNvPr id="0" name=""/>
        <dsp:cNvSpPr/>
      </dsp:nvSpPr>
      <dsp:spPr>
        <a:xfrm>
          <a:off x="5634661" y="3889177"/>
          <a:ext cx="2561209" cy="72"/>
        </a:xfrm>
        <a:prstGeom prst="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B8CAC0-2120-4DD8-B3E7-BCB8160D175C}">
      <dsp:nvSpPr>
        <dsp:cNvPr id="0" name=""/>
        <dsp:cNvSpPr/>
      </dsp:nvSpPr>
      <dsp:spPr>
        <a:xfrm>
          <a:off x="715337" y="2413"/>
          <a:ext cx="3221521" cy="193291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Greedy</a:t>
          </a:r>
          <a:r>
            <a:rPr lang="en-US" sz="2400" kern="1200"/>
            <a:t> — Each split is locally optimal. No backtracking. Early mistakes propagate.</a:t>
          </a:r>
        </a:p>
      </dsp:txBody>
      <dsp:txXfrm>
        <a:off x="715337" y="2413"/>
        <a:ext cx="3221521" cy="1932912"/>
      </dsp:txXfrm>
    </dsp:sp>
    <dsp:sp modelId="{BA9DA171-D514-4A9A-96D4-D34A7B83746B}">
      <dsp:nvSpPr>
        <dsp:cNvPr id="0" name=""/>
        <dsp:cNvSpPr/>
      </dsp:nvSpPr>
      <dsp:spPr>
        <a:xfrm>
          <a:off x="4259011" y="2413"/>
          <a:ext cx="3221521" cy="193291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Variables reusable</a:t>
          </a:r>
          <a:r>
            <a:rPr lang="en-US" sz="2400" kern="1200"/>
            <a:t> — The same predictor can split at multiple depths, capturing nonlinear thresholds.</a:t>
          </a:r>
        </a:p>
      </dsp:txBody>
      <dsp:txXfrm>
        <a:off x="4259011" y="2413"/>
        <a:ext cx="3221521" cy="1932912"/>
      </dsp:txXfrm>
    </dsp:sp>
    <dsp:sp modelId="{7C0F265C-F0F9-49B3-8EE6-32075D6E4FFD}">
      <dsp:nvSpPr>
        <dsp:cNvPr id="0" name=""/>
        <dsp:cNvSpPr/>
      </dsp:nvSpPr>
      <dsp:spPr>
        <a:xfrm>
          <a:off x="2487174" y="2257478"/>
          <a:ext cx="3221521" cy="193291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Pruning required</a:t>
          </a:r>
          <a:r>
            <a:rPr lang="en-US" sz="2400" kern="1200"/>
            <a:t> — Fully grown trees overfit. The 1-SE rule removes splits not justified by the data.</a:t>
          </a:r>
        </a:p>
      </dsp:txBody>
      <dsp:txXfrm>
        <a:off x="2487174" y="2257478"/>
        <a:ext cx="3221521" cy="19329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CF20A-0651-492F-8095-CC1A111D18D2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428302-EE88-47EC-B2F5-C7414E857C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94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of hands – who has heard of this before – tree models, classification/regression trees, random forests,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5194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to taxonomic keys – dichotomous keys in botany, etc.</a:t>
            </a:r>
          </a:p>
          <a:p>
            <a:r>
              <a:rPr lang="en-US" dirty="0"/>
              <a:t>This is an OSD </a:t>
            </a:r>
            <a:r>
              <a:rPr lang="en-US" dirty="0" err="1"/>
              <a:t>querry</a:t>
            </a:r>
            <a:r>
              <a:rPr lang="en-US" dirty="0"/>
              <a:t> (</a:t>
            </a:r>
            <a:r>
              <a:rPr lang="en-US" dirty="0" err="1"/>
              <a:t>fetchOSD</a:t>
            </a:r>
            <a:r>
              <a:rPr lang="en-US" dirty="0"/>
              <a:t> and plot the SPC) w/ taxonomic dendrogram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05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Closely resembles human reasoning - heuristics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747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</a:t>
            </a:r>
            <a:r>
              <a:rPr lang="en-US" dirty="0" err="1"/>
              <a:t>salford</a:t>
            </a:r>
            <a:r>
              <a:rPr lang="en-US" dirty="0"/>
              <a:t> systems presentation – acquired by </a:t>
            </a:r>
            <a:r>
              <a:rPr lang="en-US" dirty="0" err="1"/>
              <a:t>minitab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10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F7097-9D9A-D904-E190-BEEA95033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F59CAF-1C6E-7692-9F99-D606B1EC0A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6CB8B5-1AD2-A12C-A389-802907DF9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Tree grows upside down with root at top</a:t>
            </a:r>
          </a:p>
          <a:p>
            <a:r>
              <a:rPr lang="en-US" altLang="en-US" dirty="0"/>
              <a:t>Mention information index for splitting in addition to Gini</a:t>
            </a:r>
          </a:p>
          <a:p>
            <a:r>
              <a:rPr lang="en-US" altLang="en-US" dirty="0"/>
              <a:t>Info gain is the inverse of entropy (relate to Shannon’s Entropy)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36B47-272D-1FA2-404A-B607D32224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7222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35F46C-CE58-499A-4FBD-9C088698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664E7-CBAB-611D-546E-AF52CBBBC0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99C8FC-BA54-066D-F4C3-3F765C1F59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Tree grows upside down with root at top</a:t>
            </a:r>
          </a:p>
          <a:p>
            <a:r>
              <a:rPr lang="en-US" altLang="en-US" dirty="0"/>
              <a:t>Mention information index for splitting in addition to Gini</a:t>
            </a:r>
          </a:p>
          <a:p>
            <a:r>
              <a:rPr lang="en-US" altLang="en-US" dirty="0"/>
              <a:t>Info gain is the inverse of entropy (relate to Shannon’s Entropy)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B41B11-54BC-1A94-6BB8-6691FEAF9A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8557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67DCD-01F1-5FFE-0892-8A3AC6EA3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97C10-ED88-61BE-60CC-9F031AE1F7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DB1C3-E9FF-7E4A-C095-F02C2BFEEA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F06A7D-A0FD-FD41-3AF6-45319A6B8E8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96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360BE-DA8B-E0BA-E7A7-6D08092EA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598A9A-9022-9C6B-EF22-9E2EC0AC0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16F47A-4B34-B199-6293-A1C42E5614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AB140-192F-FBF1-51EC-AC791ABCDD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138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BF26-1EB8-370D-B367-230F8FF88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6783E-3B26-F270-7CC3-E58181938A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284EAB-A472-4D7B-20E6-3B35D38C67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4BCF3-CB2F-C7B4-12B3-32FC99F93AF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7334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1BC5DD-549B-03FC-CDB7-8BAA6F83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D18121-BCDE-4A2B-8EE9-C8ABE031E3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D6A06B-B191-3C96-2A89-E152F13B68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50550B-C5A9-BAFD-FB3C-D14319A5A3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763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EC196-4FC1-23BD-2FB1-FF46E7E6D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E0DFA4-070F-9D36-FA21-C7F4B0EAFC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00DA8D-DB5D-8397-AFBD-B2159762CC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70ED2C-60B1-662C-2B9A-A4A19B079CC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1826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7E58-EF61-5CE9-2E69-7334B3776C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CFDB8-4DB2-1E48-066B-1ACCA3D081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F9EAC-5295-DE4D-29E8-55969EFF07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F75BC2-B925-9E53-B5A6-020FF58D2E3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5466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AA58-9F6B-F01A-CC18-FDAF645D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BB506-C265-FB41-437C-CDBEF178C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94BF5-2CC6-7B36-5A21-B34EB0F9F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27E9F-39C1-2101-41F4-7B10A06CE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31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EEB8-1A67-CE6E-D131-62872A94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E2730-D2EF-414F-64F6-28E75820F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36817-BD4A-7BF4-74C4-52E327CBC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1050-7759-72B4-4BDA-E94091F74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95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bg1"/>
                </a:solidFill>
              </a:rPr>
              <a:t>In predicting soil classes in across three study area in UT, WY, and NM, random forest outperformed 10 other ML classifiers</a:t>
            </a:r>
          </a:p>
          <a:p>
            <a:r>
              <a:rPr lang="en-US" sz="1200" dirty="0">
                <a:solidFill>
                  <a:schemeClr val="bg1"/>
                </a:solidFill>
              </a:rPr>
              <a:t>Accurate but tends to over-fit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44087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is what we looked in the GLM exercises – same dataset, </a:t>
            </a:r>
            <a:r>
              <a:rPr lang="en-US" dirty="0" err="1"/>
              <a:t>etc</a:t>
            </a:r>
            <a:r>
              <a:rPr lang="en-US" dirty="0"/>
              <a:t> day 3/4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3213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Concrete strength example from engineering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240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information gain and its relation to Shannon’s Entropy from day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1391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Revisit from day1 - uncertainty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0052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Revisit from day1 - uncertainty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80203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pdf and .R 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9589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what we looked in the GLM exercises in day 3/4</a:t>
            </a:r>
          </a:p>
          <a:p>
            <a:r>
              <a:rPr lang="en-US" dirty="0"/>
              <a:t>Confusion Matrix – </a:t>
            </a:r>
            <a:r>
              <a:rPr lang="en-US" dirty="0" err="1"/>
              <a:t>whats</a:t>
            </a:r>
            <a:r>
              <a:rPr lang="en-US" dirty="0"/>
              <a:t> the OA? </a:t>
            </a:r>
          </a:p>
          <a:p>
            <a:r>
              <a:rPr lang="en-US" dirty="0"/>
              <a:t>Will revisit this later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5965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function - Run through an example - Then discuss the optional parameters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8733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2AA58-9F6B-F01A-CC18-FDAF645DB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EBB506-C265-FB41-437C-CDBEF178C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794BF5-2CC6-7B36-5A21-B34EB0F9F3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D27E9F-39C1-2101-41F4-7B10A06CE1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7431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AEEB8-1A67-CE6E-D131-62872A948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5E2730-D2EF-414F-64F6-28E75820F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636817-BD4A-7BF4-74C4-52E327CBC5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5E1050-7759-72B4-4BDA-E94091F74E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8956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Breiman</a:t>
            </a:r>
            <a:r>
              <a:rPr lang="en-US" dirty="0"/>
              <a:t> and Cutler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9248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9EEFD-7428-C910-7A28-CD602D30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9FC479-46DF-D5BF-2ED0-9847EE548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ED584B-A8D1-188E-C7CB-831170D97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EEEFB-868F-A6BD-1961-2E3B1BF0C3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0731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9776E-222C-E00C-EB22-4DEB0B356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14F875-7BC0-78CE-9E4C-88E54576B3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7C7A84-F8BF-4317-EBE9-6875038454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E9A17-0781-389B-C850-023B514AA6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1720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Double random nature – </a:t>
            </a:r>
            <a:r>
              <a:rPr lang="en-US" dirty="0" err="1"/>
              <a:t>mrty</a:t>
            </a:r>
            <a:r>
              <a:rPr lang="en-US" dirty="0"/>
              <a:t> and bagging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Does not produce a single tree output like </a:t>
            </a:r>
            <a:r>
              <a:rPr lang="en-US" dirty="0" err="1"/>
              <a:t>rpart</a:t>
            </a:r>
            <a:r>
              <a:rPr lang="en-US" dirty="0"/>
              <a:t> because decisions are not made on</a:t>
            </a:r>
            <a:r>
              <a:rPr lang="en-US" baseline="0" dirty="0"/>
              <a:t> a single binary tree….decisions are made using an ensemble of trees.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0847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81921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%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IncMSE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the difference between the prediction errors averaged over all trees, normalized by the standard deviation of the differences. 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IncNodePurity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is measured by residual sum of squares as the total decrease in node impurities as a result of splitting on a given variable, averaged over all trees.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154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to reduce </a:t>
            </a:r>
            <a:r>
              <a:rPr lang="en-US" dirty="0" err="1"/>
              <a:t>multicolinearity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18068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Relate to deep learning and the gradient descent origins</a:t>
            </a:r>
          </a:p>
          <a:p>
            <a:r>
              <a:rPr lang="en-US" dirty="0"/>
              <a:t>Computationally intensive!!  Runn many </a:t>
            </a:r>
            <a:r>
              <a:rPr lang="en-US" dirty="0" err="1"/>
              <a:t>many</a:t>
            </a:r>
            <a:r>
              <a:rPr lang="en-US" dirty="0"/>
              <a:t> different models</a:t>
            </a:r>
          </a:p>
          <a:p>
            <a:r>
              <a:rPr lang="en-US" dirty="0"/>
              <a:t>Need for something like Ranger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9766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exercise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06428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02819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dirty="0">
                <a:solidFill>
                  <a:schemeClr val="bg1"/>
                </a:solidFill>
              </a:rPr>
              <a:t>1,000’s of parameters</a:t>
            </a:r>
          </a:p>
          <a:p>
            <a:r>
              <a:rPr lang="en-US" sz="1200" dirty="0">
                <a:solidFill>
                  <a:schemeClr val="bg1"/>
                </a:solidFill>
              </a:rPr>
              <a:t>sigmoid vs </a:t>
            </a:r>
            <a:r>
              <a:rPr lang="en-US" sz="1200" dirty="0" err="1">
                <a:solidFill>
                  <a:schemeClr val="bg1"/>
                </a:solidFill>
              </a:rPr>
              <a:t>ReLU</a:t>
            </a:r>
            <a:r>
              <a:rPr lang="en-US" sz="1200" dirty="0">
                <a:solidFill>
                  <a:schemeClr val="bg1"/>
                </a:solidFill>
              </a:rPr>
              <a:t> - </a:t>
            </a:r>
            <a:r>
              <a:rPr lang="en-US" sz="1200" dirty="0" err="1">
                <a:solidFill>
                  <a:schemeClr val="bg1"/>
                </a:solidFill>
              </a:rPr>
              <a:t>backpropigation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05448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pdf and .R 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50460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 to pdf and .R script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729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Interpret model outputs</a:t>
            </a:r>
          </a:p>
          <a:p>
            <a:r>
              <a:rPr lang="en-US" dirty="0"/>
              <a:t>Predict with </a:t>
            </a:r>
            <a:r>
              <a:rPr lang="en-US" dirty="0" err="1"/>
              <a:t>rpart</a:t>
            </a:r>
            <a:r>
              <a:rPr lang="en-US" dirty="0"/>
              <a:t> and random forest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428302-EE88-47EC-B2F5-C7414E857C9F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271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232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67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6251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923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78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0138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747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841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80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942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322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rgbClr val="1318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4106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6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4800600"/>
            <a:ext cx="7063740" cy="1691640"/>
          </a:xfrm>
        </p:spPr>
        <p:txBody>
          <a:bodyPr>
            <a:norm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271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32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758952"/>
            <a:ext cx="706374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6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4800600"/>
            <a:ext cx="706374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86139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828801"/>
            <a:ext cx="336042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521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717185"/>
            <a:ext cx="336042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599432" y="1717185"/>
            <a:ext cx="3364992" cy="731520"/>
          </a:xfrm>
        </p:spPr>
        <p:txBody>
          <a:bodyPr anchor="b">
            <a:normAutofit/>
          </a:bodyPr>
          <a:lstStyle>
            <a:lvl1pPr marL="0" indent="0">
              <a:buFontTx/>
              <a:buNone/>
              <a:defRPr lang="en-US" sz="1800" b="0" kern="1200" spc="10" baseline="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  <a:buClr>
                <a:schemeClr val="accent1"/>
              </a:buClr>
              <a:buSzPct val="8000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2507550"/>
            <a:ext cx="336042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3283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120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551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457201"/>
            <a:ext cx="2400300" cy="1600197"/>
          </a:xfrm>
        </p:spPr>
        <p:txBody>
          <a:bodyPr anchor="b">
            <a:normAutofit/>
          </a:bodyPr>
          <a:lstStyle>
            <a:lvl1pPr>
              <a:defRPr sz="2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685800"/>
            <a:ext cx="4559300" cy="5486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2099735"/>
            <a:ext cx="24003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849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846963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257800"/>
            <a:ext cx="748665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6108590"/>
            <a:ext cx="748665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829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0647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381000"/>
            <a:ext cx="1857375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381000"/>
            <a:ext cx="5800725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674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A99DC-22E1-43B5-9476-7261FFAF11E8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45C64-AA3D-40C0-81FD-E7F78BFFE7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969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3DED3">
            <a:alpha val="1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18195" y="0"/>
            <a:ext cx="73152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828801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831456" y="1044178"/>
            <a:ext cx="19049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97CFF939-70E9-4E47-9899-4E3DA2789027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6993255" y="4092178"/>
            <a:ext cx="3581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41055" y="6172201"/>
            <a:ext cx="685800" cy="593725"/>
          </a:xfrm>
          <a:prstGeom prst="rect">
            <a:avLst/>
          </a:prstGeom>
        </p:spPr>
        <p:txBody>
          <a:bodyPr vert="horz" lIns="27432" tIns="45720" rIns="27432" bIns="45720" rtlCol="0" anchor="ctr">
            <a:normAutofit/>
          </a:bodyPr>
          <a:lstStyle>
            <a:lvl1pPr algn="ctr">
              <a:defRPr sz="32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BBFC874A-277E-4A61-AE1F-B8EF08F22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68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sv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ZHQObOWTQDNU6R1_67000Dx_ZCJB-3pi" TargetMode="External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BDF9E1E-85FA-411A-B158-3C3057F9FB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"/>
          <a:stretch>
            <a:fillRect/>
          </a:stretch>
        </p:blipFill>
        <p:spPr>
          <a:xfrm>
            <a:off x="20" y="10"/>
            <a:ext cx="9141692" cy="685799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B3E4752-29AE-4C89-BF4F-2F319825A5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3063240"/>
          </a:xfrm>
        </p:spPr>
        <p:txBody>
          <a:bodyPr>
            <a:normAutofit/>
          </a:bodyPr>
          <a:lstStyle/>
          <a:p>
            <a:r>
              <a:rPr lang="en-US" sz="5700" b="1">
                <a:solidFill>
                  <a:schemeClr val="bg1"/>
                </a:solidFill>
              </a:rPr>
              <a:t>Tree-based Models</a:t>
            </a:r>
            <a:br>
              <a:rPr lang="en-US" sz="5700" b="1">
                <a:solidFill>
                  <a:schemeClr val="bg1"/>
                </a:solidFill>
              </a:rPr>
            </a:br>
            <a:r>
              <a:rPr lang="en-US" sz="5700" b="1">
                <a:solidFill>
                  <a:schemeClr val="bg1"/>
                </a:solidFill>
              </a:rPr>
              <a:t>Statistics for Soil Survey</a:t>
            </a:r>
          </a:p>
        </p:txBody>
      </p:sp>
      <p:sp>
        <p:nvSpPr>
          <p:cNvPr id="10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368623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631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0E1F82C-FCB9-4908-9426-B8AC3F3DABE7}"/>
              </a:ext>
            </a:extLst>
          </p:cNvPr>
          <p:cNvSpPr txBox="1">
            <a:spLocks/>
          </p:cNvSpPr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Outline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3925DD68-8DB4-7D7A-A229-47DA11A5A4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7483265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76074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6100024" y="863980"/>
            <a:ext cx="2987899" cy="2240924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5DB103-91BC-451B-951E-E253357CC871}"/>
              </a:ext>
            </a:extLst>
          </p:cNvPr>
          <p:cNvSpPr txBox="1">
            <a:spLocks/>
          </p:cNvSpPr>
          <p:nvPr/>
        </p:nvSpPr>
        <p:spPr>
          <a:xfrm>
            <a:off x="4421221" y="479493"/>
            <a:ext cx="409412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a Decision Tree?</a:t>
            </a: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004647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2" descr="dt rep">
            <a:extLst>
              <a:ext uri="{FF2B5EF4-FFF2-40B4-BE49-F238E27FC236}">
                <a16:creationId xmlns:a16="http://schemas.microsoft.com/office/drawing/2014/main" id="{D508BFFD-2EAB-472B-8214-F30701476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7386" y="2236644"/>
            <a:ext cx="3583036" cy="2214968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  <a:solidFill>
            <a:schemeClr val="bg1"/>
          </a:solidFill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5C272-B618-4B02-9090-114CEDC6FDD8}"/>
              </a:ext>
            </a:extLst>
          </p:cNvPr>
          <p:cNvSpPr txBox="1">
            <a:spLocks/>
          </p:cNvSpPr>
          <p:nvPr/>
        </p:nvSpPr>
        <p:spPr>
          <a:xfrm>
            <a:off x="4421221" y="1984443"/>
            <a:ext cx="4094129" cy="286187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Instead of fitting a model to the data, a decision tree model </a:t>
            </a:r>
            <a:r>
              <a:rPr lang="en-US" b="1" dirty="0"/>
              <a:t>recursively partitions </a:t>
            </a:r>
            <a:r>
              <a:rPr lang="en-US" dirty="0"/>
              <a:t>the data into </a:t>
            </a:r>
            <a:r>
              <a:rPr lang="en-US" b="1" dirty="0"/>
              <a:t>increasingly homogenous </a:t>
            </a:r>
            <a:r>
              <a:rPr lang="en-US" dirty="0"/>
              <a:t>groups based on values that </a:t>
            </a:r>
            <a:r>
              <a:rPr lang="en-US" b="1" dirty="0"/>
              <a:t>minimize a loss function </a:t>
            </a:r>
            <a:r>
              <a:rPr lang="en-US" dirty="0"/>
              <a:t>(such as Sum of Squared Errors (SSE)).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289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5CE8676-503D-4F1F-B2BE-6DBEE7F7B95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-19050" y="304800"/>
            <a:ext cx="9144000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361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E74E4A4-324B-D067-E44E-58C59D74F459}"/>
              </a:ext>
            </a:extLst>
          </p:cNvPr>
          <p:cNvSpPr/>
          <p:nvPr/>
        </p:nvSpPr>
        <p:spPr>
          <a:xfrm>
            <a:off x="5356467" y="3601281"/>
            <a:ext cx="13716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ED15B10-399C-45DC-50A3-F1F5AE0DE91A}"/>
              </a:ext>
            </a:extLst>
          </p:cNvPr>
          <p:cNvSpPr/>
          <p:nvPr/>
        </p:nvSpPr>
        <p:spPr>
          <a:xfrm>
            <a:off x="1724308" y="3626087"/>
            <a:ext cx="13716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EE3A6-D853-4C3F-8FFE-B1F3C4A42FB8}"/>
              </a:ext>
            </a:extLst>
          </p:cNvPr>
          <p:cNvSpPr/>
          <p:nvPr/>
        </p:nvSpPr>
        <p:spPr>
          <a:xfrm>
            <a:off x="3505200" y="1905000"/>
            <a:ext cx="1371600" cy="612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Argillic Horizon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4B780D3-FD43-4537-A47C-5853EBD7A2F9}"/>
              </a:ext>
            </a:extLst>
          </p:cNvPr>
          <p:cNvCxnSpPr>
            <a:endCxn id="14" idx="0"/>
          </p:cNvCxnSpPr>
          <p:nvPr/>
        </p:nvCxnSpPr>
        <p:spPr>
          <a:xfrm flipH="1">
            <a:off x="2438400" y="2510455"/>
            <a:ext cx="1333500" cy="110208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CF205F3-C91A-4CDD-8CD2-F0DB07C4109C}"/>
              </a:ext>
            </a:extLst>
          </p:cNvPr>
          <p:cNvCxnSpPr>
            <a:endCxn id="7" idx="0"/>
          </p:cNvCxnSpPr>
          <p:nvPr/>
        </p:nvCxnSpPr>
        <p:spPr>
          <a:xfrm>
            <a:off x="4519741" y="2510455"/>
            <a:ext cx="1500059" cy="1102081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0D6B4B3-145A-49D3-A907-875CA1B4F00B}"/>
              </a:ext>
            </a:extLst>
          </p:cNvPr>
          <p:cNvSpPr txBox="1"/>
          <p:nvPr/>
        </p:nvSpPr>
        <p:spPr>
          <a:xfrm>
            <a:off x="2543731" y="2811435"/>
            <a:ext cx="426720" cy="33855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No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8BB3DA-7737-4A1B-A102-F65252003175}"/>
              </a:ext>
            </a:extLst>
          </p:cNvPr>
          <p:cNvSpPr txBox="1"/>
          <p:nvPr/>
        </p:nvSpPr>
        <p:spPr>
          <a:xfrm>
            <a:off x="5390500" y="2746978"/>
            <a:ext cx="452047" cy="33855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Yes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F680D7-3499-4124-8A84-5EC6A2508F44}"/>
              </a:ext>
            </a:extLst>
          </p:cNvPr>
          <p:cNvSpPr/>
          <p:nvPr/>
        </p:nvSpPr>
        <p:spPr>
          <a:xfrm>
            <a:off x="5334000" y="3612536"/>
            <a:ext cx="13716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Base Saturation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B23D909-0E10-4C7E-84D2-209E3CEC909A}"/>
              </a:ext>
            </a:extLst>
          </p:cNvPr>
          <p:cNvCxnSpPr/>
          <p:nvPr/>
        </p:nvCxnSpPr>
        <p:spPr>
          <a:xfrm>
            <a:off x="6352918" y="4476074"/>
            <a:ext cx="762000" cy="9144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2EF5C26-015B-436F-9CBF-21355757FE36}"/>
              </a:ext>
            </a:extLst>
          </p:cNvPr>
          <p:cNvSpPr txBox="1"/>
          <p:nvPr/>
        </p:nvSpPr>
        <p:spPr>
          <a:xfrm>
            <a:off x="6964684" y="4815313"/>
            <a:ext cx="643125" cy="33855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u="sng" dirty="0">
                <a:solidFill>
                  <a:schemeClr val="bg1"/>
                </a:solidFill>
              </a:rPr>
              <a:t>&gt;</a:t>
            </a:r>
            <a:r>
              <a:rPr lang="en-US" sz="1600" dirty="0">
                <a:solidFill>
                  <a:schemeClr val="bg1"/>
                </a:solidFill>
              </a:rPr>
              <a:t>35%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3F6B80-8A1F-4CA5-8662-FE0376699F1A}"/>
              </a:ext>
            </a:extLst>
          </p:cNvPr>
          <p:cNvCxnSpPr/>
          <p:nvPr/>
        </p:nvCxnSpPr>
        <p:spPr>
          <a:xfrm flipH="1">
            <a:off x="5061449" y="4469369"/>
            <a:ext cx="762000" cy="9144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FA1FEE0-0204-4248-B75A-567BDA994D84}"/>
              </a:ext>
            </a:extLst>
          </p:cNvPr>
          <p:cNvSpPr/>
          <p:nvPr/>
        </p:nvSpPr>
        <p:spPr>
          <a:xfrm>
            <a:off x="4451849" y="5413657"/>
            <a:ext cx="1371600" cy="612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Ultisols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44C922-40E7-46DF-9484-BBDD054CB5DF}"/>
              </a:ext>
            </a:extLst>
          </p:cNvPr>
          <p:cNvSpPr/>
          <p:nvPr/>
        </p:nvSpPr>
        <p:spPr>
          <a:xfrm>
            <a:off x="6352918" y="5413657"/>
            <a:ext cx="1371600" cy="612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Alfisols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B671EF-2ED7-4010-A3E7-F30EB5763B85}"/>
              </a:ext>
            </a:extLst>
          </p:cNvPr>
          <p:cNvSpPr txBox="1"/>
          <p:nvPr/>
        </p:nvSpPr>
        <p:spPr>
          <a:xfrm>
            <a:off x="4620807" y="4750991"/>
            <a:ext cx="643125" cy="33855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&lt;35%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90AB7F-3FE3-4AC1-9241-05D3004525F8}"/>
              </a:ext>
            </a:extLst>
          </p:cNvPr>
          <p:cNvSpPr/>
          <p:nvPr/>
        </p:nvSpPr>
        <p:spPr>
          <a:xfrm>
            <a:off x="1752600" y="3612536"/>
            <a:ext cx="13716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Dominant Vegetation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8B6522A-635D-4EB1-AEBD-05E4663E7238}"/>
              </a:ext>
            </a:extLst>
          </p:cNvPr>
          <p:cNvCxnSpPr/>
          <p:nvPr/>
        </p:nvCxnSpPr>
        <p:spPr>
          <a:xfrm>
            <a:off x="2771518" y="4476074"/>
            <a:ext cx="762000" cy="9144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6F1D52B-9F7C-4880-95F6-CB902701CA72}"/>
              </a:ext>
            </a:extLst>
          </p:cNvPr>
          <p:cNvSpPr txBox="1"/>
          <p:nvPr/>
        </p:nvSpPr>
        <p:spPr>
          <a:xfrm>
            <a:off x="3213480" y="4611648"/>
            <a:ext cx="1382814" cy="33855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Conifer, Mixed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5002DF06-DA5E-4021-9EA4-1DA82F52AF4B}"/>
              </a:ext>
            </a:extLst>
          </p:cNvPr>
          <p:cNvCxnSpPr/>
          <p:nvPr/>
        </p:nvCxnSpPr>
        <p:spPr>
          <a:xfrm flipH="1">
            <a:off x="1480049" y="4469369"/>
            <a:ext cx="762000" cy="91440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AEC5662E-135A-4E45-867E-C543F33C7500}"/>
              </a:ext>
            </a:extLst>
          </p:cNvPr>
          <p:cNvSpPr/>
          <p:nvPr/>
        </p:nvSpPr>
        <p:spPr>
          <a:xfrm>
            <a:off x="884404" y="5407344"/>
            <a:ext cx="1371600" cy="612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Inceptisols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C45A80-41FC-4D55-A2F4-92292162ACB3}"/>
              </a:ext>
            </a:extLst>
          </p:cNvPr>
          <p:cNvSpPr/>
          <p:nvPr/>
        </p:nvSpPr>
        <p:spPr>
          <a:xfrm>
            <a:off x="2771518" y="5413657"/>
            <a:ext cx="1371600" cy="6127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bg2">
                    <a:lumMod val="25000"/>
                  </a:schemeClr>
                </a:solidFill>
              </a:rPr>
              <a:t>Spodosols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FA12F5-7BA4-4D3E-8153-93A36AAD2C67}"/>
              </a:ext>
            </a:extLst>
          </p:cNvPr>
          <p:cNvSpPr txBox="1"/>
          <p:nvPr/>
        </p:nvSpPr>
        <p:spPr>
          <a:xfrm>
            <a:off x="684451" y="4701284"/>
            <a:ext cx="1058367" cy="338554"/>
          </a:xfrm>
          <a:prstGeom prst="rect">
            <a:avLst/>
          </a:prstGeom>
          <a:solidFill>
            <a:schemeClr val="bg2">
              <a:lumMod val="2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Hardwood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896CBCE3-8983-49DF-9308-16078B2E03AE}"/>
              </a:ext>
            </a:extLst>
          </p:cNvPr>
          <p:cNvSpPr txBox="1">
            <a:spLocks/>
          </p:cNvSpPr>
          <p:nvPr/>
        </p:nvSpPr>
        <p:spPr>
          <a:xfrm>
            <a:off x="731520" y="209006"/>
            <a:ext cx="7269480" cy="77724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b="1" dirty="0">
                <a:solidFill>
                  <a:schemeClr val="bg1"/>
                </a:solidFill>
              </a:rPr>
              <a:t>Decision Tree Examples</a:t>
            </a:r>
          </a:p>
        </p:txBody>
      </p:sp>
    </p:spTree>
    <p:extLst>
      <p:ext uri="{BB962C8B-B14F-4D97-AF65-F5344CB8AC3E}">
        <p14:creationId xmlns:p14="http://schemas.microsoft.com/office/powerpoint/2010/main" val="355389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2" grpId="0" animBg="1"/>
      <p:bldP spid="5" grpId="0" animBg="1"/>
      <p:bldP spid="6" grpId="0" animBg="1"/>
      <p:bldP spid="7" grpId="0" animBg="1"/>
      <p:bldP spid="9" grpId="0" animBg="1"/>
      <p:bldP spid="11" grpId="0" animBg="1"/>
      <p:bldP spid="12" grpId="0" animBg="1"/>
      <p:bldP spid="13" grpId="0" animBg="1"/>
      <p:bldP spid="14" grpId="0" animBg="1"/>
      <p:bldP spid="16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CBF66B6A-4E9A-4287-988E-3E83804CEE5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754" b="11111"/>
          <a:stretch/>
        </p:blipFill>
        <p:spPr>
          <a:xfrm>
            <a:off x="5644" y="1324303"/>
            <a:ext cx="9144000" cy="51526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A98A99B-0A39-424E-8AB1-0A59A8E33066}"/>
              </a:ext>
            </a:extLst>
          </p:cNvPr>
          <p:cNvSpPr txBox="1"/>
          <p:nvPr/>
        </p:nvSpPr>
        <p:spPr>
          <a:xfrm>
            <a:off x="76200" y="4724400"/>
            <a:ext cx="53340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>
              <a:highlight>
                <a:srgbClr val="FFFF00"/>
              </a:highlight>
            </a:endParaRPr>
          </a:p>
          <a:p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63E400-4047-4E9D-8EA3-ED7C832F9D7A}"/>
              </a:ext>
            </a:extLst>
          </p:cNvPr>
          <p:cNvSpPr txBox="1"/>
          <p:nvPr/>
        </p:nvSpPr>
        <p:spPr>
          <a:xfrm>
            <a:off x="5410200" y="4648200"/>
            <a:ext cx="3276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207E26-6358-4E56-A782-07C61E57EB7C}"/>
              </a:ext>
            </a:extLst>
          </p:cNvPr>
          <p:cNvSpPr txBox="1"/>
          <p:nvPr/>
        </p:nvSpPr>
        <p:spPr>
          <a:xfrm>
            <a:off x="2370083" y="1323623"/>
            <a:ext cx="440383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1754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068B509-77BC-557B-8921-A6C2F7A142B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E8A21A7-0CA3-4C3B-AE65-91815B7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/>
              <a:t>Common Issues with Regression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17E814-764C-4C3D-82F9-9550E6E4D97E}"/>
              </a:ext>
            </a:extLst>
          </p:cNvPr>
          <p:cNvSpPr txBox="1">
            <a:spLocks/>
          </p:cNvSpPr>
          <p:nvPr/>
        </p:nvSpPr>
        <p:spPr>
          <a:xfrm>
            <a:off x="381000" y="990601"/>
            <a:ext cx="7620000" cy="5501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BC002F04-0723-B735-EEFA-ED495C62737D}"/>
              </a:ext>
            </a:extLst>
          </p:cNvPr>
          <p:cNvGraphicFramePr/>
          <p:nvPr/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40145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1C1026B-5FDA-47B9-9FF3-46EC68C49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297" y="502020"/>
            <a:ext cx="3992787" cy="16429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500" b="1"/>
              <a:t>Advantages of Tree-based Models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5"/>
            <a:ext cx="306939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"/>
            <a:ext cx="306939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22"/>
            <a:ext cx="3051501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2499" y="-10"/>
            <a:ext cx="2708601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 descr="Small tree">
            <a:extLst>
              <a:ext uri="{FF2B5EF4-FFF2-40B4-BE49-F238E27FC236}">
                <a16:creationId xmlns:a16="http://schemas.microsoft.com/office/drawing/2014/main" id="{DA633925-F526-2990-927F-6C42DD6DEE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413" r="37086" b="-1"/>
          <a:stretch>
            <a:fillRect/>
          </a:stretch>
        </p:blipFill>
        <p:spPr>
          <a:xfrm>
            <a:off x="5306975" y="1099053"/>
            <a:ext cx="3127897" cy="4691786"/>
          </a:xfrm>
          <a:prstGeom prst="rect">
            <a:avLst/>
          </a:prstGeom>
        </p:spPr>
      </p:pic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60DD4686-AE12-B8ED-2B64-F77A022924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05482974"/>
              </p:ext>
            </p:extLst>
          </p:nvPr>
        </p:nvGraphicFramePr>
        <p:xfrm>
          <a:off x="858692" y="2405894"/>
          <a:ext cx="3986392" cy="35350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73665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CBC56C6-D6DC-46AA-BBAC-2EE1CCA0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Tree-based Models in R</a:t>
            </a:r>
          </a:p>
        </p:txBody>
      </p:sp>
      <p:graphicFrame>
        <p:nvGraphicFramePr>
          <p:cNvPr id="9" name="Title 1">
            <a:extLst>
              <a:ext uri="{FF2B5EF4-FFF2-40B4-BE49-F238E27FC236}">
                <a16:creationId xmlns:a16="http://schemas.microsoft.com/office/drawing/2014/main" id="{74614034-6098-A9E7-F4EF-079F16B97FB7}"/>
              </a:ext>
            </a:extLst>
          </p:cNvPr>
          <p:cNvGraphicFramePr/>
          <p:nvPr/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9801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5E3D4-6E96-C561-262A-85005C495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7795092-562F-BE04-5B1E-4D9B8A19C59D}"/>
              </a:ext>
            </a:extLst>
          </p:cNvPr>
          <p:cNvSpPr txBox="1">
            <a:spLocks noChangeArrowheads="1"/>
          </p:cNvSpPr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CART: How Splitting Works</a:t>
            </a:r>
            <a:endParaRPr lang="en-US" alt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Rectangle 3">
            <a:extLst>
              <a:ext uri="{FF2B5EF4-FFF2-40B4-BE49-F238E27FC236}">
                <a16:creationId xmlns:a16="http://schemas.microsoft.com/office/drawing/2014/main" id="{260AC6CC-2C09-4C7E-2B74-D98788EB8A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729004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031382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605B0-C093-4129-EB20-5729925AD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8DFDBD3-7806-11C8-B737-C46F66633C94}"/>
              </a:ext>
            </a:extLst>
          </p:cNvPr>
          <p:cNvSpPr txBox="1">
            <a:spLocks noChangeArrowheads="1"/>
          </p:cNvSpPr>
          <p:nvPr/>
        </p:nvSpPr>
        <p:spPr>
          <a:xfrm>
            <a:off x="1028697" y="348865"/>
            <a:ext cx="7533018" cy="8777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CART Splitting</a:t>
            </a:r>
            <a:endParaRPr lang="en-US" alt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6" name="Rectangle 3">
            <a:extLst>
              <a:ext uri="{FF2B5EF4-FFF2-40B4-BE49-F238E27FC236}">
                <a16:creationId xmlns:a16="http://schemas.microsoft.com/office/drawing/2014/main" id="{6DBCA205-A147-9883-BFCC-CCA7AD5AA32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0282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3C3F4-1643-3355-FD87-70D928B95D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0549549-8C04-DE35-83BC-FFB29DB18BFD}"/>
              </a:ext>
            </a:extLst>
          </p:cNvPr>
          <p:cNvSpPr/>
          <p:nvPr/>
        </p:nvSpPr>
        <p:spPr>
          <a:xfrm>
            <a:off x="0" y="857250"/>
            <a:ext cx="9141714" cy="6858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EA03BDB-E43C-10CF-DEA7-858A02DB3485}"/>
              </a:ext>
            </a:extLst>
          </p:cNvPr>
          <p:cNvSpPr/>
          <p:nvPr/>
        </p:nvSpPr>
        <p:spPr>
          <a:xfrm>
            <a:off x="0" y="1543050"/>
            <a:ext cx="9141714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D6B56F0-DE91-C662-D586-EEF7D82A7903}"/>
              </a:ext>
            </a:extLst>
          </p:cNvPr>
          <p:cNvSpPr/>
          <p:nvPr/>
        </p:nvSpPr>
        <p:spPr>
          <a:xfrm>
            <a:off x="274320" y="939546"/>
            <a:ext cx="65151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CART: Feature Space Partitioning</a:t>
            </a:r>
            <a:endParaRPr lang="en-US" sz="2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F48B7F41-0343-29E2-8D39-6FE62C811F25}"/>
              </a:ext>
            </a:extLst>
          </p:cNvPr>
          <p:cNvSpPr/>
          <p:nvPr/>
        </p:nvSpPr>
        <p:spPr>
          <a:xfrm>
            <a:off x="4526280" y="1543050"/>
            <a:ext cx="0" cy="445770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CE2AB39-909C-FD8F-3B6B-422FCCCD6A6F}"/>
              </a:ext>
            </a:extLst>
          </p:cNvPr>
          <p:cNvSpPr/>
          <p:nvPr/>
        </p:nvSpPr>
        <p:spPr>
          <a:xfrm>
            <a:off x="240030" y="1666494"/>
            <a:ext cx="41833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kern="0" spc="11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2-FEATURE EXAMPLE  —  x₁ (slope)  ×  x₂ (curvature)</a:t>
            </a:r>
            <a:endParaRPr lang="en-US" sz="825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8EB7C6-A709-B7EB-EC7C-11BCFF5F29D0}"/>
              </a:ext>
            </a:extLst>
          </p:cNvPr>
          <p:cNvSpPr txBox="1"/>
          <p:nvPr/>
        </p:nvSpPr>
        <p:spPr>
          <a:xfrm>
            <a:off x="2043458" y="5529812"/>
            <a:ext cx="827791" cy="207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x1 (slope)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7B5DD2-3FC4-8C9A-599A-2B8C28750296}"/>
              </a:ext>
            </a:extLst>
          </p:cNvPr>
          <p:cNvSpPr txBox="1"/>
          <p:nvPr/>
        </p:nvSpPr>
        <p:spPr>
          <a:xfrm rot="16200000">
            <a:off x="-283040" y="3696328"/>
            <a:ext cx="1055417" cy="207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73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x2 (</a:t>
            </a:r>
            <a:r>
              <a:rPr lang="en-US" sz="900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curvature</a:t>
            </a:r>
            <a:r>
              <a:rPr lang="en-US" sz="773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)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0F02F27-1F15-C881-2619-E4DC5DA387C2}"/>
              </a:ext>
            </a:extLst>
          </p:cNvPr>
          <p:cNvSpPr/>
          <p:nvPr/>
        </p:nvSpPr>
        <p:spPr>
          <a:xfrm>
            <a:off x="531233" y="2108573"/>
            <a:ext cx="3624922" cy="3322845"/>
          </a:xfrm>
          <a:prstGeom prst="rect">
            <a:avLst/>
          </a:prstGeom>
          <a:noFill/>
          <a:ln w="20105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53" name="Graphic 22">
            <a:extLst>
              <a:ext uri="{FF2B5EF4-FFF2-40B4-BE49-F238E27FC236}">
                <a16:creationId xmlns:a16="http://schemas.microsoft.com/office/drawing/2014/main" id="{75FB7F1B-9F24-411C-F2CF-987095814D7F}"/>
              </a:ext>
            </a:extLst>
          </p:cNvPr>
          <p:cNvGrpSpPr/>
          <p:nvPr/>
        </p:nvGrpSpPr>
        <p:grpSpPr>
          <a:xfrm>
            <a:off x="823240" y="2330096"/>
            <a:ext cx="1238515" cy="936438"/>
            <a:chOff x="1097653" y="1963794"/>
            <a:chExt cx="1651353" cy="1248584"/>
          </a:xfrm>
          <a:solidFill>
            <a:schemeClr val="bg1">
              <a:alpha val="88000"/>
            </a:schemeClr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8399A3F7-A728-3D61-7171-BEF6BD802A2E}"/>
                </a:ext>
              </a:extLst>
            </p:cNvPr>
            <p:cNvSpPr/>
            <p:nvPr/>
          </p:nvSpPr>
          <p:spPr>
            <a:xfrm>
              <a:off x="1097653" y="203092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70C39FC-1B53-5123-9BAD-A37E45B70ACD}"/>
                </a:ext>
              </a:extLst>
            </p:cNvPr>
            <p:cNvSpPr/>
            <p:nvPr/>
          </p:nvSpPr>
          <p:spPr>
            <a:xfrm>
              <a:off x="1607828" y="2541096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A8A91A92-2913-3795-2C5C-3796D005390E}"/>
                </a:ext>
              </a:extLst>
            </p:cNvPr>
            <p:cNvSpPr/>
            <p:nvPr/>
          </p:nvSpPr>
          <p:spPr>
            <a:xfrm>
              <a:off x="2279109" y="2272584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FF00EE8-959B-A850-3A88-3C2FFB92FD9A}"/>
                </a:ext>
              </a:extLst>
            </p:cNvPr>
            <p:cNvSpPr/>
            <p:nvPr/>
          </p:nvSpPr>
          <p:spPr>
            <a:xfrm>
              <a:off x="1272187" y="307812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8BD34DC9-6AAA-BC52-7869-03A7E286F3E5}"/>
                </a:ext>
              </a:extLst>
            </p:cNvPr>
            <p:cNvSpPr/>
            <p:nvPr/>
          </p:nvSpPr>
          <p:spPr>
            <a:xfrm>
              <a:off x="2614750" y="286331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52C89A7F-66BC-E5A0-D0B9-0BCD8DE5FF01}"/>
                </a:ext>
              </a:extLst>
            </p:cNvPr>
            <p:cNvSpPr/>
            <p:nvPr/>
          </p:nvSpPr>
          <p:spPr>
            <a:xfrm>
              <a:off x="2010597" y="1963794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0" name="Graphic 22">
            <a:extLst>
              <a:ext uri="{FF2B5EF4-FFF2-40B4-BE49-F238E27FC236}">
                <a16:creationId xmlns:a16="http://schemas.microsoft.com/office/drawing/2014/main" id="{F70C3D25-3A9C-88E8-CD3F-5B0A8D31F40E}"/>
              </a:ext>
            </a:extLst>
          </p:cNvPr>
          <p:cNvGrpSpPr/>
          <p:nvPr/>
        </p:nvGrpSpPr>
        <p:grpSpPr>
          <a:xfrm>
            <a:off x="702410" y="3890826"/>
            <a:ext cx="1258653" cy="1329138"/>
            <a:chOff x="936546" y="4044768"/>
            <a:chExt cx="1678204" cy="1772184"/>
          </a:xfrm>
          <a:solidFill>
            <a:schemeClr val="bg1">
              <a:alpha val="88000"/>
            </a:schemeClr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C40811F0-57A1-8799-CED2-8D147EA3CCD9}"/>
                </a:ext>
              </a:extLst>
            </p:cNvPr>
            <p:cNvSpPr/>
            <p:nvPr/>
          </p:nvSpPr>
          <p:spPr>
            <a:xfrm>
              <a:off x="936546" y="4044768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AEC01AFA-A0D2-EEF0-7C3F-F2ED2EFB48F7}"/>
                </a:ext>
              </a:extLst>
            </p:cNvPr>
            <p:cNvSpPr/>
            <p:nvPr/>
          </p:nvSpPr>
          <p:spPr>
            <a:xfrm>
              <a:off x="1742084" y="4716050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316ECA7F-E6DB-3ED7-8BB8-EE451890006B}"/>
                </a:ext>
              </a:extLst>
            </p:cNvPr>
            <p:cNvSpPr/>
            <p:nvPr/>
          </p:nvSpPr>
          <p:spPr>
            <a:xfrm>
              <a:off x="2480494" y="4286429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49EC0D9-D1D6-D362-1CA9-9B44C276A479}"/>
                </a:ext>
              </a:extLst>
            </p:cNvPr>
            <p:cNvSpPr/>
            <p:nvPr/>
          </p:nvSpPr>
          <p:spPr>
            <a:xfrm>
              <a:off x="1406443" y="5454460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F185750B-3A19-F19A-98F8-6D2AD760423E}"/>
                </a:ext>
              </a:extLst>
            </p:cNvPr>
            <p:cNvSpPr/>
            <p:nvPr/>
          </p:nvSpPr>
          <p:spPr>
            <a:xfrm>
              <a:off x="2279109" y="5682695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95AB178-EBA2-2A09-44E9-8F3446CE55F7}"/>
                </a:ext>
              </a:extLst>
            </p:cNvPr>
            <p:cNvSpPr/>
            <p:nvPr/>
          </p:nvSpPr>
          <p:spPr>
            <a:xfrm>
              <a:off x="1137930" y="5118819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7" name="Graphic 22">
            <a:extLst>
              <a:ext uri="{FF2B5EF4-FFF2-40B4-BE49-F238E27FC236}">
                <a16:creationId xmlns:a16="http://schemas.microsoft.com/office/drawing/2014/main" id="{D12B131D-2319-CCBF-EF82-86CB9F000ADA}"/>
              </a:ext>
            </a:extLst>
          </p:cNvPr>
          <p:cNvGrpSpPr/>
          <p:nvPr/>
        </p:nvGrpSpPr>
        <p:grpSpPr>
          <a:xfrm>
            <a:off x="2696117" y="2279749"/>
            <a:ext cx="1429830" cy="1691630"/>
            <a:chOff x="3594822" y="1896666"/>
            <a:chExt cx="1906440" cy="2255506"/>
          </a:xfrm>
          <a:solidFill>
            <a:schemeClr val="bg1">
              <a:alpha val="88000"/>
            </a:schemeClr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962549F-1951-9CDD-3DDC-E6ED1588E486}"/>
                </a:ext>
              </a:extLst>
            </p:cNvPr>
            <p:cNvSpPr/>
            <p:nvPr/>
          </p:nvSpPr>
          <p:spPr>
            <a:xfrm>
              <a:off x="3594822" y="1896666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707F5853-290C-8E73-F044-B5390CA72DD7}"/>
                </a:ext>
              </a:extLst>
            </p:cNvPr>
            <p:cNvSpPr/>
            <p:nvPr/>
          </p:nvSpPr>
          <p:spPr>
            <a:xfrm>
              <a:off x="4427212" y="2366563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FFCB76C-F71D-1BDE-EB03-8F3BC6DEDD7F}"/>
                </a:ext>
              </a:extLst>
            </p:cNvPr>
            <p:cNvSpPr/>
            <p:nvPr/>
          </p:nvSpPr>
          <p:spPr>
            <a:xfrm>
              <a:off x="5205899" y="203092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E8F7786-C228-6A8E-E693-0B3A1D3A5C57}"/>
                </a:ext>
              </a:extLst>
            </p:cNvPr>
            <p:cNvSpPr/>
            <p:nvPr/>
          </p:nvSpPr>
          <p:spPr>
            <a:xfrm>
              <a:off x="3957314" y="3709127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20D4ABE7-9F9D-362F-ED84-F94AA0BCCA94}"/>
                </a:ext>
              </a:extLst>
            </p:cNvPr>
            <p:cNvSpPr/>
            <p:nvPr/>
          </p:nvSpPr>
          <p:spPr>
            <a:xfrm>
              <a:off x="5367006" y="4017916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5B7857B0-1B5D-8631-EA4D-04AECF8C215D}"/>
                </a:ext>
              </a:extLst>
            </p:cNvPr>
            <p:cNvSpPr/>
            <p:nvPr/>
          </p:nvSpPr>
          <p:spPr>
            <a:xfrm>
              <a:off x="4762852" y="3037845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74" name="Graphic 22">
            <a:extLst>
              <a:ext uri="{FF2B5EF4-FFF2-40B4-BE49-F238E27FC236}">
                <a16:creationId xmlns:a16="http://schemas.microsoft.com/office/drawing/2014/main" id="{1A2F3F26-F615-A0A1-F665-73ACDB6B751F}"/>
              </a:ext>
            </a:extLst>
          </p:cNvPr>
          <p:cNvGrpSpPr/>
          <p:nvPr/>
        </p:nvGrpSpPr>
        <p:grpSpPr>
          <a:xfrm>
            <a:off x="2595425" y="4595671"/>
            <a:ext cx="1510384" cy="805538"/>
            <a:chOff x="3460566" y="4984562"/>
            <a:chExt cx="2013845" cy="1074050"/>
          </a:xfrm>
          <a:solidFill>
            <a:schemeClr val="bg1">
              <a:alpha val="88000"/>
            </a:schemeClr>
          </a:solidFill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3A09BF0E-2BB2-DEE7-A767-24D7FBD7FDF3}"/>
                </a:ext>
              </a:extLst>
            </p:cNvPr>
            <p:cNvSpPr/>
            <p:nvPr/>
          </p:nvSpPr>
          <p:spPr>
            <a:xfrm>
              <a:off x="3460566" y="498456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4DCA8ADD-7DC9-B7A2-2DA5-83B615033115}"/>
                </a:ext>
              </a:extLst>
            </p:cNvPr>
            <p:cNvSpPr/>
            <p:nvPr/>
          </p:nvSpPr>
          <p:spPr>
            <a:xfrm>
              <a:off x="4695724" y="5320203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B990428-BDEF-A0A3-6E0B-0DED16AA56F3}"/>
                </a:ext>
              </a:extLst>
            </p:cNvPr>
            <p:cNvSpPr/>
            <p:nvPr/>
          </p:nvSpPr>
          <p:spPr>
            <a:xfrm>
              <a:off x="5340155" y="572297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C0CE2CA9-BDAA-0AFF-BF53-B31330C6C3B6}"/>
                </a:ext>
              </a:extLst>
            </p:cNvPr>
            <p:cNvSpPr/>
            <p:nvPr/>
          </p:nvSpPr>
          <p:spPr>
            <a:xfrm>
              <a:off x="4091571" y="5924357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FF27340-6B70-7F3D-1203-A4CC1CCF96A4}"/>
                </a:ext>
              </a:extLst>
            </p:cNvPr>
            <p:cNvSpPr/>
            <p:nvPr/>
          </p:nvSpPr>
          <p:spPr>
            <a:xfrm>
              <a:off x="3594822" y="5628993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9" name="Text 8">
            <a:extLst>
              <a:ext uri="{FF2B5EF4-FFF2-40B4-BE49-F238E27FC236}">
                <a16:creationId xmlns:a16="http://schemas.microsoft.com/office/drawing/2014/main" id="{28524E8C-BDA4-53E5-CBE6-8A19312CFF62}"/>
              </a:ext>
            </a:extLst>
          </p:cNvPr>
          <p:cNvSpPr/>
          <p:nvPr/>
        </p:nvSpPr>
        <p:spPr>
          <a:xfrm>
            <a:off x="4834890" y="1927098"/>
            <a:ext cx="4169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split draws a line </a:t>
            </a:r>
            <a:r>
              <a:rPr lang="en-US" sz="86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to one feature axis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never diagonal. After </a:t>
            </a:r>
            <a:r>
              <a:rPr lang="en-US" sz="863" i="1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splits, the space is carved into axis-aligned rectangles. Every observation in a region gets the same prediction: the </a:t>
            </a:r>
            <a:r>
              <a:rPr lang="en-US" sz="86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ȳ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training points inside it.</a:t>
            </a:r>
            <a:endParaRPr lang="en-US" sz="863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BB927491-8886-5E42-80A0-23C26D0F3621}"/>
              </a:ext>
            </a:extLst>
          </p:cNvPr>
          <p:cNvSpPr/>
          <p:nvPr/>
        </p:nvSpPr>
        <p:spPr>
          <a:xfrm>
            <a:off x="4834890" y="1735074"/>
            <a:ext cx="416966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SPLITS WORK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555BF5-618E-8995-C845-35524A6FB75E}"/>
              </a:ext>
            </a:extLst>
          </p:cNvPr>
          <p:cNvSpPr txBox="1"/>
          <p:nvPr/>
        </p:nvSpPr>
        <p:spPr>
          <a:xfrm>
            <a:off x="5097297" y="4514230"/>
            <a:ext cx="3132303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l-GR" sz="13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Δ𝑅𝑆𝑆 = 𝑅𝑆𝑆</a:t>
            </a:r>
            <a:r>
              <a:rPr lang="en-US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parent </a:t>
            </a:r>
            <a:r>
              <a:rPr lang="en-US" sz="13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− [𝑅𝑆𝑆</a:t>
            </a:r>
            <a:r>
              <a:rPr lang="en-US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left </a:t>
            </a:r>
            <a:r>
              <a:rPr lang="en-US" sz="13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 𝑅𝑆𝑆</a:t>
            </a:r>
            <a:r>
              <a:rPr lang="en-US" sz="6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right</a:t>
            </a:r>
            <a:r>
              <a:rPr lang="en-US" sz="135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39A1DB-8E2F-6B0F-0E96-A861C6223488}"/>
              </a:ext>
            </a:extLst>
          </p:cNvPr>
          <p:cNvSpPr txBox="1"/>
          <p:nvPr/>
        </p:nvSpPr>
        <p:spPr>
          <a:xfrm>
            <a:off x="4726363" y="3004734"/>
            <a:ext cx="31091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Classification Trees — Gini Impurity</a:t>
            </a:r>
            <a:endParaRPr lang="en-US" sz="1050" baseline="30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BEBFA0-CB00-3E39-41B1-7E20180292AD}"/>
              </a:ext>
            </a:extLst>
          </p:cNvPr>
          <p:cNvSpPr txBox="1"/>
          <p:nvPr/>
        </p:nvSpPr>
        <p:spPr>
          <a:xfrm>
            <a:off x="4726363" y="4167635"/>
            <a:ext cx="4574357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Regression Trees — Residual Sum of Squares</a:t>
            </a:r>
            <a:endParaRPr lang="en-US" sz="105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12FB0B-18D8-646A-9792-2FE03DDB2B43}"/>
                  </a:ext>
                </a:extLst>
              </p:cNvPr>
              <p:cNvSpPr txBox="1"/>
              <p:nvPr/>
            </p:nvSpPr>
            <p:spPr>
              <a:xfrm>
                <a:off x="4858479" y="3362904"/>
                <a:ext cx="1334095" cy="68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US" sz="135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35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135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35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5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35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35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35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  <m:sup>
                              <m:r>
                                <a:rPr lang="en-US" sz="1350" b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en-US" sz="1350" b="1" dirty="0"/>
              </a:p>
            </p:txBody>
          </p:sp>
        </mc:Choice>
        <mc:Fallback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112FB0B-18D8-646A-9792-2FE03DDB2B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8479" y="3362904"/>
                <a:ext cx="1334095" cy="6806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2CA3D5-D967-9828-57EA-AE6EE4896862}"/>
                  </a:ext>
                </a:extLst>
              </p:cNvPr>
              <p:cNvSpPr txBox="1"/>
              <p:nvPr/>
            </p:nvSpPr>
            <p:spPr>
              <a:xfrm>
                <a:off x="6562700" y="3431060"/>
                <a:ext cx="1870227" cy="6806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350" b="1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𝑯</m:t>
                      </m:r>
                      <m:r>
                        <a:rPr lang="en-US" sz="1350" b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135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35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135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35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sz="135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sSub>
                            <m:sSubPr>
                              <m:ctrlP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135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35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𝐥𝐨𝐠</m:t>
                          </m:r>
                        </m:e>
                        <m:sub>
                          <m:r>
                            <a:rPr lang="en-US" sz="1350" b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en-US" sz="135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en-US" sz="135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350" b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D2CA3D5-D967-9828-57EA-AE6EE4896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700" y="3431060"/>
                <a:ext cx="1870227" cy="6806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227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78DCB3-57A1-D9C2-91C7-78189F871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EB2D2A7-2342-81B6-C1C3-65BDD6C3C46A}"/>
              </a:ext>
            </a:extLst>
          </p:cNvPr>
          <p:cNvSpPr/>
          <p:nvPr/>
        </p:nvSpPr>
        <p:spPr>
          <a:xfrm>
            <a:off x="2343694" y="2108572"/>
            <a:ext cx="1812461" cy="3292637"/>
          </a:xfrm>
          <a:prstGeom prst="rect">
            <a:avLst/>
          </a:prstGeom>
          <a:solidFill>
            <a:srgbClr val="5BC4A0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9F5350-4ACE-FB3F-DB39-BBF06E883A3F}"/>
              </a:ext>
            </a:extLst>
          </p:cNvPr>
          <p:cNvSpPr/>
          <p:nvPr/>
        </p:nvSpPr>
        <p:spPr>
          <a:xfrm>
            <a:off x="531232" y="2108573"/>
            <a:ext cx="1812461" cy="3322845"/>
          </a:xfrm>
          <a:prstGeom prst="rect">
            <a:avLst/>
          </a:prstGeom>
          <a:solidFill>
            <a:srgbClr val="E8C547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844B1DC0-A5C6-CAB7-4AC3-BC6C0A8EDCD1}"/>
              </a:ext>
            </a:extLst>
          </p:cNvPr>
          <p:cNvSpPr/>
          <p:nvPr/>
        </p:nvSpPr>
        <p:spPr>
          <a:xfrm>
            <a:off x="0" y="857250"/>
            <a:ext cx="9141714" cy="6858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E5E83E-BD07-A45E-25FA-ED8702E97682}"/>
              </a:ext>
            </a:extLst>
          </p:cNvPr>
          <p:cNvSpPr/>
          <p:nvPr/>
        </p:nvSpPr>
        <p:spPr>
          <a:xfrm>
            <a:off x="0" y="1543050"/>
            <a:ext cx="9141714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0C4095-8F7A-1980-14F7-DB7F38A66635}"/>
              </a:ext>
            </a:extLst>
          </p:cNvPr>
          <p:cNvSpPr/>
          <p:nvPr/>
        </p:nvSpPr>
        <p:spPr>
          <a:xfrm>
            <a:off x="274320" y="939546"/>
            <a:ext cx="65151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CART: Feature Space Partitioning</a:t>
            </a:r>
            <a:endParaRPr lang="en-US" sz="2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AFD694D0-8F13-C653-2C93-9C6BFDF2D127}"/>
              </a:ext>
            </a:extLst>
          </p:cNvPr>
          <p:cNvSpPr/>
          <p:nvPr/>
        </p:nvSpPr>
        <p:spPr>
          <a:xfrm>
            <a:off x="4526280" y="1543050"/>
            <a:ext cx="0" cy="445770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57132D8-CE39-6748-18CF-28D69C214BE8}"/>
              </a:ext>
            </a:extLst>
          </p:cNvPr>
          <p:cNvSpPr/>
          <p:nvPr/>
        </p:nvSpPr>
        <p:spPr>
          <a:xfrm>
            <a:off x="4834890" y="1927098"/>
            <a:ext cx="4169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split draws a line </a:t>
            </a:r>
            <a:r>
              <a:rPr lang="en-US" sz="86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to one feature axis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never diagonal. After </a:t>
            </a:r>
            <a:r>
              <a:rPr lang="en-US" sz="863" i="1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splits, the space is carved into axis-aligned rectangles. Every observation in a region gets the same prediction: the </a:t>
            </a:r>
            <a:r>
              <a:rPr lang="en-US" sz="86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ȳ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training points inside it.</a:t>
            </a:r>
            <a:endParaRPr lang="en-US" sz="863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E3648CA-9795-E786-64D7-E1D071E46601}"/>
              </a:ext>
            </a:extLst>
          </p:cNvPr>
          <p:cNvSpPr/>
          <p:nvPr/>
        </p:nvSpPr>
        <p:spPr>
          <a:xfrm>
            <a:off x="4834890" y="2894076"/>
            <a:ext cx="89154" cy="89154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D9AD796-F5B9-C219-88E7-E80FD3C243AD}"/>
              </a:ext>
            </a:extLst>
          </p:cNvPr>
          <p:cNvSpPr/>
          <p:nvPr/>
        </p:nvSpPr>
        <p:spPr>
          <a:xfrm>
            <a:off x="4972050" y="2804922"/>
            <a:ext cx="40325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x₁ &lt; t₁</a:t>
            </a:r>
            <a:r>
              <a:rPr lang="en-US" sz="825" dirty="0">
                <a:solidFill>
                  <a:srgbClr val="D4D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first split minimizes total RSS across all features and thresholds</a:t>
            </a:r>
            <a:endParaRPr lang="en-US" sz="825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A6BAFE6-7E04-7A8C-0390-B88E560872FB}"/>
              </a:ext>
            </a:extLst>
          </p:cNvPr>
          <p:cNvSpPr/>
          <p:nvPr/>
        </p:nvSpPr>
        <p:spPr>
          <a:xfrm>
            <a:off x="531233" y="2108573"/>
            <a:ext cx="3624922" cy="3322845"/>
          </a:xfrm>
          <a:prstGeom prst="rect">
            <a:avLst/>
          </a:prstGeom>
          <a:noFill/>
          <a:ln w="20105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46619C77-86FE-0A87-DAB2-ED4F076DAF0A}"/>
              </a:ext>
            </a:extLst>
          </p:cNvPr>
          <p:cNvSpPr/>
          <p:nvPr/>
        </p:nvSpPr>
        <p:spPr>
          <a:xfrm>
            <a:off x="2343694" y="2108573"/>
            <a:ext cx="10069" cy="3322845"/>
          </a:xfrm>
          <a:custGeom>
            <a:avLst/>
            <a:gdLst>
              <a:gd name="csX0" fmla="*/ 0 w 13425"/>
              <a:gd name="csY0" fmla="*/ 0 h 4430460"/>
              <a:gd name="csX1" fmla="*/ 0 w 13425"/>
              <a:gd name="csY1" fmla="*/ 4430460 h 44304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425" h="4430460">
                <a:moveTo>
                  <a:pt x="0" y="0"/>
                </a:moveTo>
                <a:lnTo>
                  <a:pt x="0" y="4430460"/>
                </a:lnTo>
              </a:path>
            </a:pathLst>
          </a:custGeom>
          <a:ln w="29487" cap="flat">
            <a:solidFill>
              <a:srgbClr val="E8C547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36" name="Graphic 22">
            <a:extLst>
              <a:ext uri="{FF2B5EF4-FFF2-40B4-BE49-F238E27FC236}">
                <a16:creationId xmlns:a16="http://schemas.microsoft.com/office/drawing/2014/main" id="{F280AC9A-76A5-37AE-B2F3-6503C91D9EA2}"/>
              </a:ext>
            </a:extLst>
          </p:cNvPr>
          <p:cNvGrpSpPr/>
          <p:nvPr/>
        </p:nvGrpSpPr>
        <p:grpSpPr>
          <a:xfrm>
            <a:off x="2241880" y="3488057"/>
            <a:ext cx="202505" cy="174317"/>
            <a:chOff x="2989173" y="3507742"/>
            <a:chExt cx="270007" cy="23242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FC581CF-26ED-927B-D4DC-4DCE0BF8FBE4}"/>
                </a:ext>
              </a:extLst>
            </p:cNvPr>
            <p:cNvSpPr/>
            <p:nvPr/>
          </p:nvSpPr>
          <p:spPr>
            <a:xfrm>
              <a:off x="2990668" y="3507742"/>
              <a:ext cx="268512" cy="228235"/>
            </a:xfrm>
            <a:prstGeom prst="rect">
              <a:avLst/>
            </a:prstGeom>
            <a:solidFill>
              <a:srgbClr val="E8C547">
                <a:alpha val="18000"/>
              </a:srgbClr>
            </a:solidFill>
            <a:ln w="13403" cap="flat">
              <a:solidFill>
                <a:srgbClr val="E8C547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A9670659-93B4-D484-D964-520744F6C0A4}"/>
                </a:ext>
              </a:extLst>
            </p:cNvPr>
            <p:cNvSpPr txBox="1"/>
            <p:nvPr/>
          </p:nvSpPr>
          <p:spPr>
            <a:xfrm>
              <a:off x="2989173" y="3513607"/>
              <a:ext cx="250924" cy="2265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54" b="1">
                  <a:ln/>
                  <a:solidFill>
                    <a:srgbClr val="E8C547"/>
                  </a:solidFill>
                  <a:latin typeface="Courier New"/>
                  <a:cs typeface="Courier New"/>
                  <a:sym typeface="Courier New"/>
                  <a:rtl val="0"/>
                </a:rPr>
                <a:t>1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DB9FFB09-8EE4-3D3B-8D2A-7873281A63DA}"/>
              </a:ext>
            </a:extLst>
          </p:cNvPr>
          <p:cNvSpPr txBox="1"/>
          <p:nvPr/>
        </p:nvSpPr>
        <p:spPr>
          <a:xfrm>
            <a:off x="1279274" y="3417538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 dirty="0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R1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4F5641F-CF2F-9EF8-F4A3-DF29A14781BF}"/>
              </a:ext>
            </a:extLst>
          </p:cNvPr>
          <p:cNvSpPr txBox="1"/>
          <p:nvPr/>
        </p:nvSpPr>
        <p:spPr>
          <a:xfrm>
            <a:off x="3287934" y="3471564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 dirty="0">
                <a:ln/>
                <a:solidFill>
                  <a:srgbClr val="5BC4A0"/>
                </a:solidFill>
                <a:latin typeface="Courier New"/>
                <a:cs typeface="Courier New"/>
                <a:sym typeface="Courier New"/>
                <a:rtl val="0"/>
              </a:rPr>
              <a:t>R2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2DE49DF-9156-962A-E489-699037F653DF}"/>
              </a:ext>
            </a:extLst>
          </p:cNvPr>
          <p:cNvSpPr txBox="1"/>
          <p:nvPr/>
        </p:nvSpPr>
        <p:spPr>
          <a:xfrm>
            <a:off x="2202603" y="5457642"/>
            <a:ext cx="247504" cy="178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13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t1</a:t>
            </a:r>
          </a:p>
        </p:txBody>
      </p:sp>
      <p:grpSp>
        <p:nvGrpSpPr>
          <p:cNvPr id="53" name="Graphic 22">
            <a:extLst>
              <a:ext uri="{FF2B5EF4-FFF2-40B4-BE49-F238E27FC236}">
                <a16:creationId xmlns:a16="http://schemas.microsoft.com/office/drawing/2014/main" id="{4129E43D-159A-4C5E-38EA-3D088F743456}"/>
              </a:ext>
            </a:extLst>
          </p:cNvPr>
          <p:cNvGrpSpPr/>
          <p:nvPr/>
        </p:nvGrpSpPr>
        <p:grpSpPr>
          <a:xfrm>
            <a:off x="823240" y="2330096"/>
            <a:ext cx="1238515" cy="936438"/>
            <a:chOff x="1097653" y="1963794"/>
            <a:chExt cx="1651353" cy="1248584"/>
          </a:xfrm>
          <a:solidFill>
            <a:srgbClr val="E8C547"/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790AFA0B-8715-8A23-9014-8FB587257371}"/>
                </a:ext>
              </a:extLst>
            </p:cNvPr>
            <p:cNvSpPr/>
            <p:nvPr/>
          </p:nvSpPr>
          <p:spPr>
            <a:xfrm>
              <a:off x="1097653" y="203092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B6457798-9D97-B598-5D56-B186CEB5AC14}"/>
                </a:ext>
              </a:extLst>
            </p:cNvPr>
            <p:cNvSpPr/>
            <p:nvPr/>
          </p:nvSpPr>
          <p:spPr>
            <a:xfrm>
              <a:off x="1607828" y="2541096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07456D98-F8C4-5591-6D26-7B40B653204F}"/>
                </a:ext>
              </a:extLst>
            </p:cNvPr>
            <p:cNvSpPr/>
            <p:nvPr/>
          </p:nvSpPr>
          <p:spPr>
            <a:xfrm>
              <a:off x="2279109" y="2272584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16C9E2D-3AC0-BDA2-667D-131A7895220F}"/>
                </a:ext>
              </a:extLst>
            </p:cNvPr>
            <p:cNvSpPr/>
            <p:nvPr/>
          </p:nvSpPr>
          <p:spPr>
            <a:xfrm>
              <a:off x="1272187" y="307812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0EBD7D3E-73E5-EC10-1FCB-ED92206F9182}"/>
                </a:ext>
              </a:extLst>
            </p:cNvPr>
            <p:cNvSpPr/>
            <p:nvPr/>
          </p:nvSpPr>
          <p:spPr>
            <a:xfrm>
              <a:off x="2614750" y="286331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0AC7E64-1742-7AB7-ABCD-74C44A7A7DF1}"/>
                </a:ext>
              </a:extLst>
            </p:cNvPr>
            <p:cNvSpPr/>
            <p:nvPr/>
          </p:nvSpPr>
          <p:spPr>
            <a:xfrm>
              <a:off x="2010597" y="1963794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0" name="Graphic 22">
            <a:extLst>
              <a:ext uri="{FF2B5EF4-FFF2-40B4-BE49-F238E27FC236}">
                <a16:creationId xmlns:a16="http://schemas.microsoft.com/office/drawing/2014/main" id="{C85526F6-870E-F97E-138F-8BF2542D1479}"/>
              </a:ext>
            </a:extLst>
          </p:cNvPr>
          <p:cNvGrpSpPr/>
          <p:nvPr/>
        </p:nvGrpSpPr>
        <p:grpSpPr>
          <a:xfrm>
            <a:off x="702410" y="3890826"/>
            <a:ext cx="1258653" cy="1329138"/>
            <a:chOff x="936546" y="4044768"/>
            <a:chExt cx="1678204" cy="1772184"/>
          </a:xfrm>
          <a:solidFill>
            <a:srgbClr val="E8C547"/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EEEC29A1-0C55-6BD4-9EFF-8E25FFFF5E61}"/>
                </a:ext>
              </a:extLst>
            </p:cNvPr>
            <p:cNvSpPr/>
            <p:nvPr/>
          </p:nvSpPr>
          <p:spPr>
            <a:xfrm>
              <a:off x="936546" y="4044768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0EE620A4-4F15-B65C-1B88-77AA58649290}"/>
                </a:ext>
              </a:extLst>
            </p:cNvPr>
            <p:cNvSpPr/>
            <p:nvPr/>
          </p:nvSpPr>
          <p:spPr>
            <a:xfrm>
              <a:off x="1742084" y="4716050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F850C61-AFC9-3B8C-711D-D15A2036FC76}"/>
                </a:ext>
              </a:extLst>
            </p:cNvPr>
            <p:cNvSpPr/>
            <p:nvPr/>
          </p:nvSpPr>
          <p:spPr>
            <a:xfrm>
              <a:off x="2480494" y="4286429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7D89CCD5-C89C-922B-FA85-21F24F06571C}"/>
                </a:ext>
              </a:extLst>
            </p:cNvPr>
            <p:cNvSpPr/>
            <p:nvPr/>
          </p:nvSpPr>
          <p:spPr>
            <a:xfrm>
              <a:off x="1406443" y="5454460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3D59FA1-C02E-5B4B-DB0A-94D838CC723E}"/>
                </a:ext>
              </a:extLst>
            </p:cNvPr>
            <p:cNvSpPr/>
            <p:nvPr/>
          </p:nvSpPr>
          <p:spPr>
            <a:xfrm>
              <a:off x="2279109" y="5682695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057F97FB-5412-7142-617A-20329B29E5C1}"/>
                </a:ext>
              </a:extLst>
            </p:cNvPr>
            <p:cNvSpPr/>
            <p:nvPr/>
          </p:nvSpPr>
          <p:spPr>
            <a:xfrm>
              <a:off x="1137930" y="5118819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7" name="Graphic 22">
            <a:extLst>
              <a:ext uri="{FF2B5EF4-FFF2-40B4-BE49-F238E27FC236}">
                <a16:creationId xmlns:a16="http://schemas.microsoft.com/office/drawing/2014/main" id="{6FCCEFD0-C939-B484-2F57-A29F99B25F5B}"/>
              </a:ext>
            </a:extLst>
          </p:cNvPr>
          <p:cNvGrpSpPr/>
          <p:nvPr/>
        </p:nvGrpSpPr>
        <p:grpSpPr>
          <a:xfrm>
            <a:off x="2696117" y="2279749"/>
            <a:ext cx="1429830" cy="1691630"/>
            <a:chOff x="3594822" y="1896666"/>
            <a:chExt cx="1906440" cy="2255506"/>
          </a:xfrm>
          <a:solidFill>
            <a:srgbClr val="5BC4A0"/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34184273-72C5-8436-2213-21402AAC1EA7}"/>
                </a:ext>
              </a:extLst>
            </p:cNvPr>
            <p:cNvSpPr/>
            <p:nvPr/>
          </p:nvSpPr>
          <p:spPr>
            <a:xfrm>
              <a:off x="3594822" y="1896666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96B7D47B-3E08-F983-7566-2A65529AB1A1}"/>
                </a:ext>
              </a:extLst>
            </p:cNvPr>
            <p:cNvSpPr/>
            <p:nvPr/>
          </p:nvSpPr>
          <p:spPr>
            <a:xfrm>
              <a:off x="4427212" y="2366563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949F5CC6-2637-C1E7-80E4-BB48B2999B14}"/>
                </a:ext>
              </a:extLst>
            </p:cNvPr>
            <p:cNvSpPr/>
            <p:nvPr/>
          </p:nvSpPr>
          <p:spPr>
            <a:xfrm>
              <a:off x="5205899" y="203092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F3E95F17-A348-4494-E2DF-3CD9521FA2C4}"/>
                </a:ext>
              </a:extLst>
            </p:cNvPr>
            <p:cNvSpPr/>
            <p:nvPr/>
          </p:nvSpPr>
          <p:spPr>
            <a:xfrm>
              <a:off x="3957314" y="3709127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3684E3E8-76BE-BF71-5B2C-FD7AF20B444E}"/>
                </a:ext>
              </a:extLst>
            </p:cNvPr>
            <p:cNvSpPr/>
            <p:nvPr/>
          </p:nvSpPr>
          <p:spPr>
            <a:xfrm>
              <a:off x="5367006" y="4017916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8124B80-F2BC-C1CD-C193-0972A24B75CF}"/>
                </a:ext>
              </a:extLst>
            </p:cNvPr>
            <p:cNvSpPr/>
            <p:nvPr/>
          </p:nvSpPr>
          <p:spPr>
            <a:xfrm>
              <a:off x="4762852" y="3037845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74" name="Graphic 22">
            <a:extLst>
              <a:ext uri="{FF2B5EF4-FFF2-40B4-BE49-F238E27FC236}">
                <a16:creationId xmlns:a16="http://schemas.microsoft.com/office/drawing/2014/main" id="{9235D797-C80C-8DB9-0830-FD93358F6438}"/>
              </a:ext>
            </a:extLst>
          </p:cNvPr>
          <p:cNvGrpSpPr/>
          <p:nvPr/>
        </p:nvGrpSpPr>
        <p:grpSpPr>
          <a:xfrm>
            <a:off x="2595425" y="4595671"/>
            <a:ext cx="1510384" cy="805538"/>
            <a:chOff x="3460566" y="4984562"/>
            <a:chExt cx="2013845" cy="1074050"/>
          </a:xfrm>
          <a:solidFill>
            <a:srgbClr val="5BC4A0"/>
          </a:solidFill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9ACC1BC-B297-B910-B45C-31EB64D73EFC}"/>
                </a:ext>
              </a:extLst>
            </p:cNvPr>
            <p:cNvSpPr/>
            <p:nvPr/>
          </p:nvSpPr>
          <p:spPr>
            <a:xfrm>
              <a:off x="3460566" y="498456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044FA035-F2B8-143F-7AC9-33877AF9C19F}"/>
                </a:ext>
              </a:extLst>
            </p:cNvPr>
            <p:cNvSpPr/>
            <p:nvPr/>
          </p:nvSpPr>
          <p:spPr>
            <a:xfrm>
              <a:off x="4695724" y="5320203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BF821B2F-4E39-6F19-6C9B-C60CC81FECBA}"/>
                </a:ext>
              </a:extLst>
            </p:cNvPr>
            <p:cNvSpPr/>
            <p:nvPr/>
          </p:nvSpPr>
          <p:spPr>
            <a:xfrm>
              <a:off x="5340155" y="572297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42F0549A-70F2-08F7-DA53-E9B750C00566}"/>
                </a:ext>
              </a:extLst>
            </p:cNvPr>
            <p:cNvSpPr/>
            <p:nvPr/>
          </p:nvSpPr>
          <p:spPr>
            <a:xfrm>
              <a:off x="4091571" y="5924357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661A2809-F625-96D9-184B-18425E8C0DCA}"/>
                </a:ext>
              </a:extLst>
            </p:cNvPr>
            <p:cNvSpPr/>
            <p:nvPr/>
          </p:nvSpPr>
          <p:spPr>
            <a:xfrm>
              <a:off x="3594822" y="5628993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3" name="Text 6">
            <a:extLst>
              <a:ext uri="{FF2B5EF4-FFF2-40B4-BE49-F238E27FC236}">
                <a16:creationId xmlns:a16="http://schemas.microsoft.com/office/drawing/2014/main" id="{047B42B0-575F-FACA-0655-F378D5638304}"/>
              </a:ext>
            </a:extLst>
          </p:cNvPr>
          <p:cNvSpPr/>
          <p:nvPr/>
        </p:nvSpPr>
        <p:spPr>
          <a:xfrm>
            <a:off x="240030" y="1666494"/>
            <a:ext cx="41833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kern="0" spc="11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2-FEATURE EXAMPLE  —  x₁ (slope)  ×  x₂ (curvature)</a:t>
            </a:r>
            <a:endParaRPr lang="en-US" sz="825" dirty="0"/>
          </a:p>
        </p:txBody>
      </p:sp>
      <p:sp>
        <p:nvSpPr>
          <p:cNvPr id="24" name="Text 7">
            <a:extLst>
              <a:ext uri="{FF2B5EF4-FFF2-40B4-BE49-F238E27FC236}">
                <a16:creationId xmlns:a16="http://schemas.microsoft.com/office/drawing/2014/main" id="{EC001BF7-CB39-4856-E536-263919CA860A}"/>
              </a:ext>
            </a:extLst>
          </p:cNvPr>
          <p:cNvSpPr/>
          <p:nvPr/>
        </p:nvSpPr>
        <p:spPr>
          <a:xfrm>
            <a:off x="4834890" y="1735074"/>
            <a:ext cx="416966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SPLITS WORK</a:t>
            </a:r>
            <a:endParaRPr lang="en-US" sz="105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64D0DFD-87AE-74D3-3AC4-DD325374A495}"/>
              </a:ext>
            </a:extLst>
          </p:cNvPr>
          <p:cNvSpPr/>
          <p:nvPr/>
        </p:nvSpPr>
        <p:spPr>
          <a:xfrm>
            <a:off x="4834890" y="2599182"/>
            <a:ext cx="416966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ORDER (GREEDY)</a:t>
            </a:r>
            <a:endParaRPr lang="en-US" sz="105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6F4BAAE-2B58-CF39-8A05-199B4AB70ADA}"/>
              </a:ext>
            </a:extLst>
          </p:cNvPr>
          <p:cNvSpPr txBox="1"/>
          <p:nvPr/>
        </p:nvSpPr>
        <p:spPr>
          <a:xfrm>
            <a:off x="2043458" y="5529812"/>
            <a:ext cx="827791" cy="207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x1 (slope)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1EE8D45-9D01-4747-61CA-A33F18D7FE27}"/>
              </a:ext>
            </a:extLst>
          </p:cNvPr>
          <p:cNvSpPr txBox="1"/>
          <p:nvPr/>
        </p:nvSpPr>
        <p:spPr>
          <a:xfrm rot="16200000">
            <a:off x="-283040" y="3696328"/>
            <a:ext cx="1055417" cy="207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73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x2 (</a:t>
            </a:r>
            <a:r>
              <a:rPr lang="en-US" sz="900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curvature</a:t>
            </a:r>
            <a:r>
              <a:rPr lang="en-US" sz="773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1128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AA1C5-B2B2-2D89-AF1E-CA19BA730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F0CBFF-4C71-164B-DE87-8EA21BF54394}"/>
              </a:ext>
            </a:extLst>
          </p:cNvPr>
          <p:cNvSpPr/>
          <p:nvPr/>
        </p:nvSpPr>
        <p:spPr>
          <a:xfrm>
            <a:off x="0" y="857250"/>
            <a:ext cx="9141714" cy="6858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3B226C-63F8-BA6A-0144-3E27EABDED7A}"/>
              </a:ext>
            </a:extLst>
          </p:cNvPr>
          <p:cNvSpPr/>
          <p:nvPr/>
        </p:nvSpPr>
        <p:spPr>
          <a:xfrm>
            <a:off x="0" y="1543050"/>
            <a:ext cx="9141714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A920F2A-F201-C341-AF05-E270E0B6B49B}"/>
              </a:ext>
            </a:extLst>
          </p:cNvPr>
          <p:cNvSpPr/>
          <p:nvPr/>
        </p:nvSpPr>
        <p:spPr>
          <a:xfrm>
            <a:off x="274320" y="939546"/>
            <a:ext cx="65151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CART: Feature Space Partitioning</a:t>
            </a:r>
            <a:endParaRPr lang="en-US" sz="225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BF9C61B5-1A4E-16B5-2988-03DCC0BC1540}"/>
              </a:ext>
            </a:extLst>
          </p:cNvPr>
          <p:cNvSpPr/>
          <p:nvPr/>
        </p:nvSpPr>
        <p:spPr>
          <a:xfrm>
            <a:off x="4526280" y="1543050"/>
            <a:ext cx="0" cy="445770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B48A246-9A98-9221-BBB7-B87A6FCF9EFB}"/>
              </a:ext>
            </a:extLst>
          </p:cNvPr>
          <p:cNvSpPr/>
          <p:nvPr/>
        </p:nvSpPr>
        <p:spPr>
          <a:xfrm>
            <a:off x="4834890" y="1927098"/>
            <a:ext cx="4169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split draws a line </a:t>
            </a:r>
            <a:r>
              <a:rPr lang="en-US" sz="86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to one feature axis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never diagonal. After </a:t>
            </a:r>
            <a:r>
              <a:rPr lang="en-US" sz="863" i="1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splits, the space is carved into axis-aligned rectangles. Every observation in a region gets the same prediction: the </a:t>
            </a:r>
            <a:r>
              <a:rPr lang="en-US" sz="86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ȳ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training points inside it.</a:t>
            </a:r>
            <a:endParaRPr lang="en-US" sz="863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7DEAC7A8-64D4-6CFD-A2C4-2A4F0EE02C02}"/>
              </a:ext>
            </a:extLst>
          </p:cNvPr>
          <p:cNvSpPr/>
          <p:nvPr/>
        </p:nvSpPr>
        <p:spPr>
          <a:xfrm>
            <a:off x="4834890" y="2894076"/>
            <a:ext cx="89154" cy="89154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9D3375AE-B447-A998-687F-68EEF0B376CE}"/>
              </a:ext>
            </a:extLst>
          </p:cNvPr>
          <p:cNvSpPr/>
          <p:nvPr/>
        </p:nvSpPr>
        <p:spPr>
          <a:xfrm>
            <a:off x="4972050" y="2804922"/>
            <a:ext cx="40325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x₁ &lt; t₁</a:t>
            </a:r>
            <a:r>
              <a:rPr lang="en-US" sz="825" dirty="0">
                <a:solidFill>
                  <a:srgbClr val="D4D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first split minimizes total RSS across all features and thresholds</a:t>
            </a:r>
            <a:endParaRPr lang="en-US" sz="825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AE16ADB-5E0E-080C-5539-392450ADAE00}"/>
              </a:ext>
            </a:extLst>
          </p:cNvPr>
          <p:cNvSpPr/>
          <p:nvPr/>
        </p:nvSpPr>
        <p:spPr>
          <a:xfrm>
            <a:off x="4834890" y="3319272"/>
            <a:ext cx="89154" cy="89154"/>
          </a:xfrm>
          <a:prstGeom prst="ellipse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876CD89-41B4-9CBC-F164-41A9E080971C}"/>
              </a:ext>
            </a:extLst>
          </p:cNvPr>
          <p:cNvSpPr/>
          <p:nvPr/>
        </p:nvSpPr>
        <p:spPr>
          <a:xfrm>
            <a:off x="4972050" y="3230118"/>
            <a:ext cx="40325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E07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x₂ &lt; h₁</a:t>
            </a:r>
            <a:r>
              <a:rPr lang="en-US" sz="825" dirty="0">
                <a:solidFill>
                  <a:srgbClr val="D4D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applied to left child only; best local RSS reduction</a:t>
            </a:r>
            <a:endParaRPr lang="en-US" sz="825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CBE554-9602-634F-D33E-92269A20D581}"/>
              </a:ext>
            </a:extLst>
          </p:cNvPr>
          <p:cNvSpPr/>
          <p:nvPr/>
        </p:nvSpPr>
        <p:spPr>
          <a:xfrm>
            <a:off x="531233" y="2108573"/>
            <a:ext cx="3624922" cy="3322845"/>
          </a:xfrm>
          <a:prstGeom prst="rect">
            <a:avLst/>
          </a:prstGeom>
          <a:noFill/>
          <a:ln w="20105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BEE98D7-116C-7EB0-8738-DB7604D684D4}"/>
              </a:ext>
            </a:extLst>
          </p:cNvPr>
          <p:cNvSpPr/>
          <p:nvPr/>
        </p:nvSpPr>
        <p:spPr>
          <a:xfrm>
            <a:off x="531232" y="2108573"/>
            <a:ext cx="1812461" cy="1510384"/>
          </a:xfrm>
          <a:prstGeom prst="rect">
            <a:avLst/>
          </a:prstGeom>
          <a:solidFill>
            <a:srgbClr val="E8C547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C401FB1-6615-9458-75E3-859BCDAEE20F}"/>
              </a:ext>
            </a:extLst>
          </p:cNvPr>
          <p:cNvSpPr/>
          <p:nvPr/>
        </p:nvSpPr>
        <p:spPr>
          <a:xfrm>
            <a:off x="2343694" y="2108572"/>
            <a:ext cx="1812461" cy="3308792"/>
          </a:xfrm>
          <a:prstGeom prst="rect">
            <a:avLst/>
          </a:prstGeom>
          <a:solidFill>
            <a:srgbClr val="5BC4A0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A4A1D09-3B72-7F38-4D85-643C98E6919B}"/>
              </a:ext>
            </a:extLst>
          </p:cNvPr>
          <p:cNvSpPr/>
          <p:nvPr/>
        </p:nvSpPr>
        <p:spPr>
          <a:xfrm>
            <a:off x="531232" y="3618956"/>
            <a:ext cx="1812461" cy="1812461"/>
          </a:xfrm>
          <a:prstGeom prst="rect">
            <a:avLst/>
          </a:prstGeom>
          <a:solidFill>
            <a:srgbClr val="E07B54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3FB9D3E-198C-5772-036A-DA493EB946BB}"/>
              </a:ext>
            </a:extLst>
          </p:cNvPr>
          <p:cNvSpPr/>
          <p:nvPr/>
        </p:nvSpPr>
        <p:spPr>
          <a:xfrm>
            <a:off x="2343694" y="2108573"/>
            <a:ext cx="10069" cy="3322845"/>
          </a:xfrm>
          <a:custGeom>
            <a:avLst/>
            <a:gdLst>
              <a:gd name="csX0" fmla="*/ 0 w 13425"/>
              <a:gd name="csY0" fmla="*/ 0 h 4430460"/>
              <a:gd name="csX1" fmla="*/ 0 w 13425"/>
              <a:gd name="csY1" fmla="*/ 4430460 h 44304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425" h="4430460">
                <a:moveTo>
                  <a:pt x="0" y="0"/>
                </a:moveTo>
                <a:lnTo>
                  <a:pt x="0" y="4430460"/>
                </a:lnTo>
              </a:path>
            </a:pathLst>
          </a:custGeom>
          <a:ln w="29487" cap="flat">
            <a:solidFill>
              <a:srgbClr val="E8C547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897F4E9-5156-1059-67ED-4125FB145353}"/>
              </a:ext>
            </a:extLst>
          </p:cNvPr>
          <p:cNvSpPr/>
          <p:nvPr/>
        </p:nvSpPr>
        <p:spPr>
          <a:xfrm>
            <a:off x="531232" y="3618957"/>
            <a:ext cx="1812461" cy="10069"/>
          </a:xfrm>
          <a:custGeom>
            <a:avLst/>
            <a:gdLst>
              <a:gd name="csX0" fmla="*/ 0 w 2416614"/>
              <a:gd name="csY0" fmla="*/ 0 h 13425"/>
              <a:gd name="csX1" fmla="*/ 2416615 w 2416614"/>
              <a:gd name="csY1" fmla="*/ 0 h 13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16614" h="13425">
                <a:moveTo>
                  <a:pt x="0" y="0"/>
                </a:moveTo>
                <a:lnTo>
                  <a:pt x="2416615" y="0"/>
                </a:lnTo>
              </a:path>
            </a:pathLst>
          </a:custGeom>
          <a:ln w="29487" cap="flat">
            <a:solidFill>
              <a:srgbClr val="E07B54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36" name="Graphic 22">
            <a:extLst>
              <a:ext uri="{FF2B5EF4-FFF2-40B4-BE49-F238E27FC236}">
                <a16:creationId xmlns:a16="http://schemas.microsoft.com/office/drawing/2014/main" id="{ACF50469-8F8A-3B27-9675-5114DADE0D29}"/>
              </a:ext>
            </a:extLst>
          </p:cNvPr>
          <p:cNvGrpSpPr/>
          <p:nvPr/>
        </p:nvGrpSpPr>
        <p:grpSpPr>
          <a:xfrm>
            <a:off x="2241880" y="3488057"/>
            <a:ext cx="202505" cy="174317"/>
            <a:chOff x="2989173" y="3507742"/>
            <a:chExt cx="270007" cy="23242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36D116E-5179-D9A8-F60E-E15B1EE28F67}"/>
                </a:ext>
              </a:extLst>
            </p:cNvPr>
            <p:cNvSpPr/>
            <p:nvPr/>
          </p:nvSpPr>
          <p:spPr>
            <a:xfrm>
              <a:off x="2990668" y="3507742"/>
              <a:ext cx="268512" cy="228235"/>
            </a:xfrm>
            <a:prstGeom prst="rect">
              <a:avLst/>
            </a:prstGeom>
            <a:solidFill>
              <a:srgbClr val="E8C547">
                <a:alpha val="18000"/>
              </a:srgbClr>
            </a:solidFill>
            <a:ln w="13403" cap="flat">
              <a:solidFill>
                <a:srgbClr val="E8C547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12A0000-D7FF-EB74-D028-E45FEA336EAA}"/>
                </a:ext>
              </a:extLst>
            </p:cNvPr>
            <p:cNvSpPr txBox="1"/>
            <p:nvPr/>
          </p:nvSpPr>
          <p:spPr>
            <a:xfrm>
              <a:off x="2989173" y="3513607"/>
              <a:ext cx="250924" cy="2265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54" b="1">
                  <a:ln/>
                  <a:solidFill>
                    <a:srgbClr val="E8C547"/>
                  </a:solidFill>
                  <a:latin typeface="Courier New"/>
                  <a:cs typeface="Courier New"/>
                  <a:sym typeface="Courier New"/>
                  <a:rtl val="0"/>
                </a:rPr>
                <a:t>1</a:t>
              </a:r>
            </a:p>
          </p:txBody>
        </p:sp>
      </p:grpSp>
      <p:grpSp>
        <p:nvGrpSpPr>
          <p:cNvPr id="39" name="Graphic 22">
            <a:extLst>
              <a:ext uri="{FF2B5EF4-FFF2-40B4-BE49-F238E27FC236}">
                <a16:creationId xmlns:a16="http://schemas.microsoft.com/office/drawing/2014/main" id="{F94E4992-43E7-A9E1-48DD-BC7979B0AD9A}"/>
              </a:ext>
            </a:extLst>
          </p:cNvPr>
          <p:cNvGrpSpPr/>
          <p:nvPr/>
        </p:nvGrpSpPr>
        <p:grpSpPr>
          <a:xfrm>
            <a:off x="1335649" y="3488057"/>
            <a:ext cx="202506" cy="174317"/>
            <a:chOff x="1780865" y="3507742"/>
            <a:chExt cx="270008" cy="23242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7C28AC74-6224-6F63-2DA6-465B10FE81FF}"/>
                </a:ext>
              </a:extLst>
            </p:cNvPr>
            <p:cNvSpPr/>
            <p:nvPr/>
          </p:nvSpPr>
          <p:spPr>
            <a:xfrm>
              <a:off x="1782361" y="3507742"/>
              <a:ext cx="268512" cy="228235"/>
            </a:xfrm>
            <a:prstGeom prst="rect">
              <a:avLst/>
            </a:prstGeom>
            <a:solidFill>
              <a:srgbClr val="E07B54">
                <a:alpha val="18000"/>
              </a:srgbClr>
            </a:solidFill>
            <a:ln w="13403" cap="flat">
              <a:solidFill>
                <a:srgbClr val="E07B54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A6165CB0-814E-A6D2-B5B7-BB7D3EB84CAC}"/>
                </a:ext>
              </a:extLst>
            </p:cNvPr>
            <p:cNvSpPr txBox="1"/>
            <p:nvPr/>
          </p:nvSpPr>
          <p:spPr>
            <a:xfrm>
              <a:off x="1780865" y="3513607"/>
              <a:ext cx="250924" cy="2265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54" b="1">
                  <a:ln/>
                  <a:solidFill>
                    <a:srgbClr val="E07B54"/>
                  </a:solidFill>
                  <a:latin typeface="Courier New"/>
                  <a:cs typeface="Courier New"/>
                  <a:sym typeface="Courier New"/>
                  <a:rtl val="0"/>
                </a:rPr>
                <a:t>2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A3DB600F-0924-22F9-3EBA-9366EDC47FB7}"/>
              </a:ext>
            </a:extLst>
          </p:cNvPr>
          <p:cNvSpPr txBox="1"/>
          <p:nvPr/>
        </p:nvSpPr>
        <p:spPr>
          <a:xfrm>
            <a:off x="1260118" y="2678584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R1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8BD6B92-CDDA-8CFB-5B19-A915EECF2100}"/>
              </a:ext>
            </a:extLst>
          </p:cNvPr>
          <p:cNvSpPr txBox="1"/>
          <p:nvPr/>
        </p:nvSpPr>
        <p:spPr>
          <a:xfrm>
            <a:off x="1260118" y="4460838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R3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274E5E6-53E7-A3ED-569E-3A49AA8BD61E}"/>
              </a:ext>
            </a:extLst>
          </p:cNvPr>
          <p:cNvSpPr txBox="1"/>
          <p:nvPr/>
        </p:nvSpPr>
        <p:spPr>
          <a:xfrm>
            <a:off x="2202603" y="5457642"/>
            <a:ext cx="247504" cy="178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13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t1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A8BA42-0D9A-2BC8-6807-CDFF843BD152}"/>
              </a:ext>
            </a:extLst>
          </p:cNvPr>
          <p:cNvSpPr txBox="1"/>
          <p:nvPr/>
        </p:nvSpPr>
        <p:spPr>
          <a:xfrm>
            <a:off x="237078" y="3524350"/>
            <a:ext cx="247504" cy="178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13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h1</a:t>
            </a:r>
          </a:p>
        </p:txBody>
      </p:sp>
      <p:grpSp>
        <p:nvGrpSpPr>
          <p:cNvPr id="53" name="Graphic 22">
            <a:extLst>
              <a:ext uri="{FF2B5EF4-FFF2-40B4-BE49-F238E27FC236}">
                <a16:creationId xmlns:a16="http://schemas.microsoft.com/office/drawing/2014/main" id="{E6F5799E-4022-4BB0-951A-01E1E1E9A012}"/>
              </a:ext>
            </a:extLst>
          </p:cNvPr>
          <p:cNvGrpSpPr/>
          <p:nvPr/>
        </p:nvGrpSpPr>
        <p:grpSpPr>
          <a:xfrm>
            <a:off x="823240" y="2330096"/>
            <a:ext cx="1238515" cy="936438"/>
            <a:chOff x="1097653" y="1963794"/>
            <a:chExt cx="1651353" cy="1248584"/>
          </a:xfrm>
          <a:solidFill>
            <a:srgbClr val="E8C547">
              <a:alpha val="88000"/>
            </a:srgbClr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E9CC84C2-95B7-DCFE-3377-B01F0B093C5A}"/>
                </a:ext>
              </a:extLst>
            </p:cNvPr>
            <p:cNvSpPr/>
            <p:nvPr/>
          </p:nvSpPr>
          <p:spPr>
            <a:xfrm>
              <a:off x="1097653" y="2030922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F7E2E32A-9169-8384-960F-F2945AA30F98}"/>
                </a:ext>
              </a:extLst>
            </p:cNvPr>
            <p:cNvSpPr/>
            <p:nvPr/>
          </p:nvSpPr>
          <p:spPr>
            <a:xfrm>
              <a:off x="1607828" y="2541096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9055299-F8F9-E9C9-BDD6-C7939C3CEB17}"/>
                </a:ext>
              </a:extLst>
            </p:cNvPr>
            <p:cNvSpPr/>
            <p:nvPr/>
          </p:nvSpPr>
          <p:spPr>
            <a:xfrm>
              <a:off x="2279109" y="2272584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76993A7D-F2D3-5FAF-8F56-BB1257CFD5A1}"/>
                </a:ext>
              </a:extLst>
            </p:cNvPr>
            <p:cNvSpPr/>
            <p:nvPr/>
          </p:nvSpPr>
          <p:spPr>
            <a:xfrm>
              <a:off x="1272187" y="3078122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EF718B89-0C33-F391-4314-5DDCFA74B2F0}"/>
                </a:ext>
              </a:extLst>
            </p:cNvPr>
            <p:cNvSpPr/>
            <p:nvPr/>
          </p:nvSpPr>
          <p:spPr>
            <a:xfrm>
              <a:off x="2614750" y="2863312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BF95AF8D-B75C-075D-C471-D1C8020945BC}"/>
                </a:ext>
              </a:extLst>
            </p:cNvPr>
            <p:cNvSpPr/>
            <p:nvPr/>
          </p:nvSpPr>
          <p:spPr>
            <a:xfrm>
              <a:off x="2010597" y="1963794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0" name="Graphic 22">
            <a:extLst>
              <a:ext uri="{FF2B5EF4-FFF2-40B4-BE49-F238E27FC236}">
                <a16:creationId xmlns:a16="http://schemas.microsoft.com/office/drawing/2014/main" id="{F73ED045-3A20-823C-DFC9-5EF9DBDEEC0C}"/>
              </a:ext>
            </a:extLst>
          </p:cNvPr>
          <p:cNvGrpSpPr/>
          <p:nvPr/>
        </p:nvGrpSpPr>
        <p:grpSpPr>
          <a:xfrm>
            <a:off x="702410" y="3890826"/>
            <a:ext cx="1258653" cy="1329138"/>
            <a:chOff x="936546" y="4044768"/>
            <a:chExt cx="1678204" cy="1772184"/>
          </a:xfrm>
          <a:solidFill>
            <a:srgbClr val="E07B54">
              <a:alpha val="88000"/>
            </a:srgbClr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EAA733E-E10F-7830-5EDC-F9F17D358422}"/>
                </a:ext>
              </a:extLst>
            </p:cNvPr>
            <p:cNvSpPr/>
            <p:nvPr/>
          </p:nvSpPr>
          <p:spPr>
            <a:xfrm>
              <a:off x="936546" y="4044768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D832384E-B550-E250-48B7-F3AE44F5B25B}"/>
                </a:ext>
              </a:extLst>
            </p:cNvPr>
            <p:cNvSpPr/>
            <p:nvPr/>
          </p:nvSpPr>
          <p:spPr>
            <a:xfrm>
              <a:off x="1742084" y="4716050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9ED68324-0635-6DC8-227B-83C5BD6239BD}"/>
                </a:ext>
              </a:extLst>
            </p:cNvPr>
            <p:cNvSpPr/>
            <p:nvPr/>
          </p:nvSpPr>
          <p:spPr>
            <a:xfrm>
              <a:off x="2480494" y="4286429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ED1F9C8-C76B-29C9-BC7E-330FE8894EA7}"/>
                </a:ext>
              </a:extLst>
            </p:cNvPr>
            <p:cNvSpPr/>
            <p:nvPr/>
          </p:nvSpPr>
          <p:spPr>
            <a:xfrm>
              <a:off x="1406443" y="5454460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5CF3AC9B-0478-3D7B-9ABB-D154AA755F3D}"/>
                </a:ext>
              </a:extLst>
            </p:cNvPr>
            <p:cNvSpPr/>
            <p:nvPr/>
          </p:nvSpPr>
          <p:spPr>
            <a:xfrm>
              <a:off x="2279109" y="5682695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E944555E-D581-7E81-C275-7D6C2332525D}"/>
                </a:ext>
              </a:extLst>
            </p:cNvPr>
            <p:cNvSpPr/>
            <p:nvPr/>
          </p:nvSpPr>
          <p:spPr>
            <a:xfrm>
              <a:off x="1137930" y="5118819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7" name="Graphic 22">
            <a:extLst>
              <a:ext uri="{FF2B5EF4-FFF2-40B4-BE49-F238E27FC236}">
                <a16:creationId xmlns:a16="http://schemas.microsoft.com/office/drawing/2014/main" id="{19CE612B-C0F3-7B4A-44D0-86FC5F468539}"/>
              </a:ext>
            </a:extLst>
          </p:cNvPr>
          <p:cNvGrpSpPr/>
          <p:nvPr/>
        </p:nvGrpSpPr>
        <p:grpSpPr>
          <a:xfrm>
            <a:off x="2696117" y="2279749"/>
            <a:ext cx="1429830" cy="1691630"/>
            <a:chOff x="3594822" y="1896666"/>
            <a:chExt cx="1906440" cy="2255506"/>
          </a:xfrm>
          <a:solidFill>
            <a:srgbClr val="5BC4A0">
              <a:alpha val="88000"/>
            </a:srgbClr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2857419-A5DE-8923-692B-34AACD045642}"/>
                </a:ext>
              </a:extLst>
            </p:cNvPr>
            <p:cNvSpPr/>
            <p:nvPr/>
          </p:nvSpPr>
          <p:spPr>
            <a:xfrm>
              <a:off x="3594822" y="1896666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CC73DFCA-119F-081E-632E-9E7BC9210810}"/>
                </a:ext>
              </a:extLst>
            </p:cNvPr>
            <p:cNvSpPr/>
            <p:nvPr/>
          </p:nvSpPr>
          <p:spPr>
            <a:xfrm>
              <a:off x="4427212" y="2366563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20223D2E-36AB-7937-AC30-87F37CE1880D}"/>
                </a:ext>
              </a:extLst>
            </p:cNvPr>
            <p:cNvSpPr/>
            <p:nvPr/>
          </p:nvSpPr>
          <p:spPr>
            <a:xfrm>
              <a:off x="5205899" y="2030922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8A65DB50-A99A-836F-292A-2A26D08D7BBD}"/>
                </a:ext>
              </a:extLst>
            </p:cNvPr>
            <p:cNvSpPr/>
            <p:nvPr/>
          </p:nvSpPr>
          <p:spPr>
            <a:xfrm>
              <a:off x="3957314" y="3709127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620942A2-8919-18BC-50EB-6D53944E2248}"/>
                </a:ext>
              </a:extLst>
            </p:cNvPr>
            <p:cNvSpPr/>
            <p:nvPr/>
          </p:nvSpPr>
          <p:spPr>
            <a:xfrm>
              <a:off x="5367006" y="4017916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43EA6AC-457F-EC14-94F0-4CCA0C13B06F}"/>
                </a:ext>
              </a:extLst>
            </p:cNvPr>
            <p:cNvSpPr/>
            <p:nvPr/>
          </p:nvSpPr>
          <p:spPr>
            <a:xfrm>
              <a:off x="4762852" y="3037845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74" name="Graphic 22">
            <a:extLst>
              <a:ext uri="{FF2B5EF4-FFF2-40B4-BE49-F238E27FC236}">
                <a16:creationId xmlns:a16="http://schemas.microsoft.com/office/drawing/2014/main" id="{49E9AC29-33A9-2799-CC82-B881794CF1F2}"/>
              </a:ext>
            </a:extLst>
          </p:cNvPr>
          <p:cNvGrpSpPr/>
          <p:nvPr/>
        </p:nvGrpSpPr>
        <p:grpSpPr>
          <a:xfrm>
            <a:off x="2595425" y="4595671"/>
            <a:ext cx="1510384" cy="805538"/>
            <a:chOff x="3460566" y="4984562"/>
            <a:chExt cx="2013845" cy="1074050"/>
          </a:xfrm>
          <a:solidFill>
            <a:srgbClr val="54B294"/>
          </a:solidFill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17CE98A-82E8-C861-2533-114B35160B2B}"/>
                </a:ext>
              </a:extLst>
            </p:cNvPr>
            <p:cNvSpPr/>
            <p:nvPr/>
          </p:nvSpPr>
          <p:spPr>
            <a:xfrm>
              <a:off x="3460566" y="498456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77065C8E-FDE0-CD67-7FE8-9D004C4C1A23}"/>
                </a:ext>
              </a:extLst>
            </p:cNvPr>
            <p:cNvSpPr/>
            <p:nvPr/>
          </p:nvSpPr>
          <p:spPr>
            <a:xfrm>
              <a:off x="4695724" y="5320203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434E893F-12CF-C487-B8F3-9BFC3A31BD25}"/>
                </a:ext>
              </a:extLst>
            </p:cNvPr>
            <p:cNvSpPr/>
            <p:nvPr/>
          </p:nvSpPr>
          <p:spPr>
            <a:xfrm>
              <a:off x="5340155" y="5722972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93B539FB-2AEB-BDE9-F34E-A43F638E46AE}"/>
                </a:ext>
              </a:extLst>
            </p:cNvPr>
            <p:cNvSpPr/>
            <p:nvPr/>
          </p:nvSpPr>
          <p:spPr>
            <a:xfrm>
              <a:off x="4091571" y="5924357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8925EF2D-9460-33E0-1DED-D1F30D74DCF1}"/>
                </a:ext>
              </a:extLst>
            </p:cNvPr>
            <p:cNvSpPr/>
            <p:nvPr/>
          </p:nvSpPr>
          <p:spPr>
            <a:xfrm>
              <a:off x="3594822" y="5628993"/>
              <a:ext cx="134256" cy="134256"/>
            </a:xfrm>
            <a:prstGeom prst="ellipse">
              <a:avLst/>
            </a:prstGeom>
            <a:grpFill/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C8F3F10-FEEA-0176-4A28-11F2A319E965}"/>
              </a:ext>
            </a:extLst>
          </p:cNvPr>
          <p:cNvSpPr txBox="1"/>
          <p:nvPr/>
        </p:nvSpPr>
        <p:spPr>
          <a:xfrm>
            <a:off x="3287934" y="3471564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 dirty="0">
                <a:ln/>
                <a:solidFill>
                  <a:srgbClr val="5BC4A0"/>
                </a:solidFill>
                <a:latin typeface="Courier New"/>
                <a:cs typeface="Courier New"/>
                <a:sym typeface="Courier New"/>
                <a:rtl val="0"/>
              </a:rPr>
              <a:t>R2</a:t>
            </a:r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79D00F61-E796-7FE7-4A95-2DB9FFC01D95}"/>
              </a:ext>
            </a:extLst>
          </p:cNvPr>
          <p:cNvSpPr/>
          <p:nvPr/>
        </p:nvSpPr>
        <p:spPr>
          <a:xfrm>
            <a:off x="240030" y="1666494"/>
            <a:ext cx="41833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kern="0" spc="11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2-FEATURE EXAMPLE  —  x₁ (slope)  ×  x₂ (curvature)</a:t>
            </a:r>
            <a:endParaRPr lang="en-US" sz="825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12A2522D-DD85-C340-7392-E35E2FE4C6BD}"/>
              </a:ext>
            </a:extLst>
          </p:cNvPr>
          <p:cNvSpPr/>
          <p:nvPr/>
        </p:nvSpPr>
        <p:spPr>
          <a:xfrm>
            <a:off x="4834890" y="1735074"/>
            <a:ext cx="416966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SPLITS WORK</a:t>
            </a:r>
            <a:endParaRPr lang="en-US" sz="10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762EDC3A-ACBC-2F24-FACA-97A65CF5DB4A}"/>
              </a:ext>
            </a:extLst>
          </p:cNvPr>
          <p:cNvSpPr/>
          <p:nvPr/>
        </p:nvSpPr>
        <p:spPr>
          <a:xfrm>
            <a:off x="4834890" y="2599182"/>
            <a:ext cx="416966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ORDER (GREEDY)</a:t>
            </a:r>
            <a:endParaRPr lang="en-US" sz="105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33CBF7-ADA6-EB01-8831-AB43E2F0B288}"/>
              </a:ext>
            </a:extLst>
          </p:cNvPr>
          <p:cNvSpPr txBox="1"/>
          <p:nvPr/>
        </p:nvSpPr>
        <p:spPr>
          <a:xfrm>
            <a:off x="2043458" y="5529812"/>
            <a:ext cx="827791" cy="207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x1 (slope)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719FD0-81A8-34C4-0E10-6866CA4B05D6}"/>
              </a:ext>
            </a:extLst>
          </p:cNvPr>
          <p:cNvSpPr txBox="1"/>
          <p:nvPr/>
        </p:nvSpPr>
        <p:spPr>
          <a:xfrm rot="16200000">
            <a:off x="-283040" y="3696328"/>
            <a:ext cx="1055417" cy="207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73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x2 (</a:t>
            </a:r>
            <a:r>
              <a:rPr lang="en-US" sz="900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curvature</a:t>
            </a:r>
            <a:r>
              <a:rPr lang="en-US" sz="773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40914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C8D36-CE0D-C720-B43F-14F357D96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873584-616F-52C3-7611-574F34473898}"/>
              </a:ext>
            </a:extLst>
          </p:cNvPr>
          <p:cNvSpPr/>
          <p:nvPr/>
        </p:nvSpPr>
        <p:spPr>
          <a:xfrm>
            <a:off x="0" y="857250"/>
            <a:ext cx="9141714" cy="685800"/>
          </a:xfrm>
          <a:prstGeom prst="rect">
            <a:avLst/>
          </a:prstGeom>
          <a:solidFill>
            <a:srgbClr val="0E1117"/>
          </a:solidFill>
          <a:ln w="12700">
            <a:solidFill>
              <a:srgbClr val="0E111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CCBB282-1324-B85E-EFB4-F3146BC8968A}"/>
              </a:ext>
            </a:extLst>
          </p:cNvPr>
          <p:cNvSpPr/>
          <p:nvPr/>
        </p:nvSpPr>
        <p:spPr>
          <a:xfrm>
            <a:off x="0" y="1543050"/>
            <a:ext cx="9141714" cy="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43399E9-D082-9057-88F7-D5861AD43658}"/>
              </a:ext>
            </a:extLst>
          </p:cNvPr>
          <p:cNvSpPr/>
          <p:nvPr/>
        </p:nvSpPr>
        <p:spPr>
          <a:xfrm>
            <a:off x="274320" y="939546"/>
            <a:ext cx="65151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CART: Feature Space Partitioning</a:t>
            </a:r>
            <a:endParaRPr lang="en-US" sz="225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3944A87-924E-D51B-27E2-D65E922BFB03}"/>
              </a:ext>
            </a:extLst>
          </p:cNvPr>
          <p:cNvSpPr/>
          <p:nvPr/>
        </p:nvSpPr>
        <p:spPr>
          <a:xfrm>
            <a:off x="6960870" y="1062990"/>
            <a:ext cx="1268730" cy="246888"/>
          </a:xfrm>
          <a:prstGeom prst="rect">
            <a:avLst/>
          </a:prstGeom>
          <a:solidFill>
            <a:srgbClr val="161B26"/>
          </a:solidFill>
          <a:ln w="1524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3F5AE5-361F-0B0C-AC14-1194E7204877}"/>
              </a:ext>
            </a:extLst>
          </p:cNvPr>
          <p:cNvSpPr/>
          <p:nvPr/>
        </p:nvSpPr>
        <p:spPr>
          <a:xfrm>
            <a:off x="6960870" y="1062990"/>
            <a:ext cx="126873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63" kern="0" spc="150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REGRESSION TREE</a:t>
            </a:r>
            <a:endParaRPr lang="en-US" sz="563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8F9F9BB-EA8C-9DFF-E8A0-A5736F8C8621}"/>
              </a:ext>
            </a:extLst>
          </p:cNvPr>
          <p:cNvSpPr/>
          <p:nvPr/>
        </p:nvSpPr>
        <p:spPr>
          <a:xfrm>
            <a:off x="4526280" y="1543050"/>
            <a:ext cx="0" cy="4457700"/>
          </a:xfrm>
          <a:prstGeom prst="line">
            <a:avLst/>
          </a:prstGeom>
          <a:noFill/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C29F9ECD-7744-9A19-3BA8-E6F8D8A4C420}"/>
              </a:ext>
            </a:extLst>
          </p:cNvPr>
          <p:cNvSpPr/>
          <p:nvPr/>
        </p:nvSpPr>
        <p:spPr>
          <a:xfrm>
            <a:off x="4834890" y="1927098"/>
            <a:ext cx="4169664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split draws a line </a:t>
            </a:r>
            <a:r>
              <a:rPr lang="en-US" sz="86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parallel to one feature axis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never diagonal. After </a:t>
            </a:r>
            <a:r>
              <a:rPr lang="en-US" sz="863" i="1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splits, the space is carved into axis-aligned rectangles. Every observation in a region gets the same prediction: the </a:t>
            </a:r>
            <a:r>
              <a:rPr lang="en-US" sz="863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 ȳ</a:t>
            </a:r>
            <a:r>
              <a:rPr lang="en-US" sz="863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 training points inside it.</a:t>
            </a:r>
            <a:endParaRPr lang="en-US" sz="863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0024F5D0-05A7-97BF-88A3-B4CA83FAC773}"/>
              </a:ext>
            </a:extLst>
          </p:cNvPr>
          <p:cNvSpPr/>
          <p:nvPr/>
        </p:nvSpPr>
        <p:spPr>
          <a:xfrm>
            <a:off x="4834890" y="2894076"/>
            <a:ext cx="89154" cy="89154"/>
          </a:xfrm>
          <a:prstGeom prst="ellipse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C6FABC7-D6FD-C972-5659-46325D24B6AF}"/>
              </a:ext>
            </a:extLst>
          </p:cNvPr>
          <p:cNvSpPr/>
          <p:nvPr/>
        </p:nvSpPr>
        <p:spPr>
          <a:xfrm>
            <a:off x="4972050" y="2804922"/>
            <a:ext cx="40325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E8C5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① x₁ &lt; t₁</a:t>
            </a:r>
            <a:r>
              <a:rPr lang="en-US" sz="825" dirty="0">
                <a:solidFill>
                  <a:srgbClr val="D4D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first split minimizes total RSS across all features and thresholds</a:t>
            </a:r>
            <a:endParaRPr lang="en-US" sz="825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2F4F3F2A-5DD5-2B4E-1F3F-5B03CD128C22}"/>
              </a:ext>
            </a:extLst>
          </p:cNvPr>
          <p:cNvSpPr/>
          <p:nvPr/>
        </p:nvSpPr>
        <p:spPr>
          <a:xfrm>
            <a:off x="4834890" y="3319272"/>
            <a:ext cx="89154" cy="89154"/>
          </a:xfrm>
          <a:prstGeom prst="ellipse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6A01004B-87E7-335C-C863-FE6455B591EB}"/>
              </a:ext>
            </a:extLst>
          </p:cNvPr>
          <p:cNvSpPr/>
          <p:nvPr/>
        </p:nvSpPr>
        <p:spPr>
          <a:xfrm>
            <a:off x="4972050" y="3230118"/>
            <a:ext cx="40325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E07B5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② x₂ &lt; h₁</a:t>
            </a:r>
            <a:r>
              <a:rPr lang="en-US" sz="825" dirty="0">
                <a:solidFill>
                  <a:srgbClr val="D4D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applied to left child only; best local RSS reduction</a:t>
            </a:r>
            <a:endParaRPr lang="en-US" sz="825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616214A2-22AF-9ABC-C70F-5C3CD8E26B07}"/>
              </a:ext>
            </a:extLst>
          </p:cNvPr>
          <p:cNvSpPr/>
          <p:nvPr/>
        </p:nvSpPr>
        <p:spPr>
          <a:xfrm>
            <a:off x="4834890" y="3744468"/>
            <a:ext cx="89154" cy="8915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420E8EC-0755-2D3E-8A92-6B79DB2BDEC2}"/>
              </a:ext>
            </a:extLst>
          </p:cNvPr>
          <p:cNvSpPr/>
          <p:nvPr/>
        </p:nvSpPr>
        <p:spPr>
          <a:xfrm>
            <a:off x="4972050" y="3655314"/>
            <a:ext cx="4032504" cy="370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③ x₂ &lt; h₂</a:t>
            </a:r>
            <a:r>
              <a:rPr lang="en-US" sz="825" dirty="0">
                <a:solidFill>
                  <a:srgbClr val="D4D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applied to right child; each node splits independently</a:t>
            </a:r>
            <a:endParaRPr lang="en-US" sz="825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EB74063-959E-D05B-6159-D8706EA8E5A5}"/>
              </a:ext>
            </a:extLst>
          </p:cNvPr>
          <p:cNvSpPr/>
          <p:nvPr/>
        </p:nvSpPr>
        <p:spPr>
          <a:xfrm>
            <a:off x="4834890" y="4231386"/>
            <a:ext cx="4169664" cy="740664"/>
          </a:xfrm>
          <a:prstGeom prst="rect">
            <a:avLst/>
          </a:prstGeom>
          <a:solidFill>
            <a:srgbClr val="FFFFFF">
              <a:alpha val="4000"/>
            </a:srgbClr>
          </a:solidFill>
          <a:ln w="12700">
            <a:solidFill>
              <a:srgbClr val="2A3140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0D8CD780-BDB0-47A4-2E99-0F661A5F31E9}"/>
              </a:ext>
            </a:extLst>
          </p:cNvPr>
          <p:cNvSpPr/>
          <p:nvPr/>
        </p:nvSpPr>
        <p:spPr>
          <a:xfrm>
            <a:off x="4834890" y="4231386"/>
            <a:ext cx="41148" cy="740664"/>
          </a:xfrm>
          <a:prstGeom prst="rect">
            <a:avLst/>
          </a:prstGeom>
          <a:solidFill>
            <a:srgbClr val="E07B54"/>
          </a:solidFill>
          <a:ln w="12700">
            <a:solidFill>
              <a:srgbClr val="E07B5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E295C9D-8EE1-3317-A2B0-7FDE3DF61650}"/>
              </a:ext>
            </a:extLst>
          </p:cNvPr>
          <p:cNvSpPr/>
          <p:nvPr/>
        </p:nvSpPr>
        <p:spPr>
          <a:xfrm>
            <a:off x="4958334" y="4272534"/>
            <a:ext cx="39913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b="1" dirty="0">
                <a:solidFill>
                  <a:srgbClr val="E07B5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limitation — </a:t>
            </a:r>
            <a:r>
              <a:rPr lang="en-US" sz="825" i="1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diagonal or curved true boundaries must be approximated as a </a:t>
            </a:r>
            <a:r>
              <a:rPr lang="en-US" sz="825" b="1" i="1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staircase</a:t>
            </a:r>
            <a:r>
              <a:rPr lang="en-US" sz="825" i="1" dirty="0">
                <a:solidFill>
                  <a:srgbClr val="D4DB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This requires many splits and inflates variance. Ensembles (random forests) average many such staircases to recover smooth boundaries.</a:t>
            </a:r>
            <a:endParaRPr lang="en-US" sz="825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8AF61BE-5D4A-2233-6D35-D62D691DD68A}"/>
              </a:ext>
            </a:extLst>
          </p:cNvPr>
          <p:cNvSpPr/>
          <p:nvPr/>
        </p:nvSpPr>
        <p:spPr>
          <a:xfrm>
            <a:off x="531233" y="2108573"/>
            <a:ext cx="3624922" cy="3322845"/>
          </a:xfrm>
          <a:prstGeom prst="rect">
            <a:avLst/>
          </a:prstGeom>
          <a:noFill/>
          <a:ln w="20105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AFAEB61-B6AC-D48D-160F-ECC258089ACB}"/>
              </a:ext>
            </a:extLst>
          </p:cNvPr>
          <p:cNvSpPr/>
          <p:nvPr/>
        </p:nvSpPr>
        <p:spPr>
          <a:xfrm>
            <a:off x="531232" y="2108573"/>
            <a:ext cx="1812461" cy="1510384"/>
          </a:xfrm>
          <a:prstGeom prst="rect">
            <a:avLst/>
          </a:prstGeom>
          <a:solidFill>
            <a:srgbClr val="E8C547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42F748C-329B-FEF6-8F96-ACE342E481A1}"/>
              </a:ext>
            </a:extLst>
          </p:cNvPr>
          <p:cNvSpPr/>
          <p:nvPr/>
        </p:nvSpPr>
        <p:spPr>
          <a:xfrm>
            <a:off x="2343694" y="2108573"/>
            <a:ext cx="1812461" cy="2215230"/>
          </a:xfrm>
          <a:prstGeom prst="rect">
            <a:avLst/>
          </a:prstGeom>
          <a:solidFill>
            <a:srgbClr val="5BC4A0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D59FA34-7A3B-4D8D-4A8D-939239070DEB}"/>
              </a:ext>
            </a:extLst>
          </p:cNvPr>
          <p:cNvSpPr/>
          <p:nvPr/>
        </p:nvSpPr>
        <p:spPr>
          <a:xfrm>
            <a:off x="531232" y="3618956"/>
            <a:ext cx="1812461" cy="1812461"/>
          </a:xfrm>
          <a:prstGeom prst="rect">
            <a:avLst/>
          </a:prstGeom>
          <a:solidFill>
            <a:srgbClr val="E07B54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A9C595C-C5A6-FD49-7AF6-6987D109F4B8}"/>
              </a:ext>
            </a:extLst>
          </p:cNvPr>
          <p:cNvSpPr/>
          <p:nvPr/>
        </p:nvSpPr>
        <p:spPr>
          <a:xfrm>
            <a:off x="2343694" y="4323803"/>
            <a:ext cx="1812461" cy="1107615"/>
          </a:xfrm>
          <a:prstGeom prst="rect">
            <a:avLst/>
          </a:prstGeom>
          <a:solidFill>
            <a:srgbClr val="A78BFA">
              <a:alpha val="12000"/>
            </a:srgbClr>
          </a:solidFill>
          <a:ln w="13403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16D5F6AE-9BA8-582A-6211-4266BE21C80F}"/>
              </a:ext>
            </a:extLst>
          </p:cNvPr>
          <p:cNvSpPr/>
          <p:nvPr/>
        </p:nvSpPr>
        <p:spPr>
          <a:xfrm>
            <a:off x="2343694" y="2108573"/>
            <a:ext cx="10069" cy="3322845"/>
          </a:xfrm>
          <a:custGeom>
            <a:avLst/>
            <a:gdLst>
              <a:gd name="csX0" fmla="*/ 0 w 13425"/>
              <a:gd name="csY0" fmla="*/ 0 h 4430460"/>
              <a:gd name="csX1" fmla="*/ 0 w 13425"/>
              <a:gd name="csY1" fmla="*/ 4430460 h 44304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3425" h="4430460">
                <a:moveTo>
                  <a:pt x="0" y="0"/>
                </a:moveTo>
                <a:lnTo>
                  <a:pt x="0" y="4430460"/>
                </a:lnTo>
              </a:path>
            </a:pathLst>
          </a:custGeom>
          <a:ln w="29487" cap="flat">
            <a:solidFill>
              <a:srgbClr val="E8C547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195B164-F447-11B0-04F9-2E91647598BF}"/>
              </a:ext>
            </a:extLst>
          </p:cNvPr>
          <p:cNvSpPr/>
          <p:nvPr/>
        </p:nvSpPr>
        <p:spPr>
          <a:xfrm>
            <a:off x="531232" y="3618957"/>
            <a:ext cx="1812461" cy="10069"/>
          </a:xfrm>
          <a:custGeom>
            <a:avLst/>
            <a:gdLst>
              <a:gd name="csX0" fmla="*/ 0 w 2416614"/>
              <a:gd name="csY0" fmla="*/ 0 h 13425"/>
              <a:gd name="csX1" fmla="*/ 2416615 w 2416614"/>
              <a:gd name="csY1" fmla="*/ 0 h 13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16614" h="13425">
                <a:moveTo>
                  <a:pt x="0" y="0"/>
                </a:moveTo>
                <a:lnTo>
                  <a:pt x="2416615" y="0"/>
                </a:lnTo>
              </a:path>
            </a:pathLst>
          </a:custGeom>
          <a:ln w="29487" cap="flat">
            <a:solidFill>
              <a:srgbClr val="E07B54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235E7E2C-85A9-C022-5ED4-6A2F5993B6A9}"/>
              </a:ext>
            </a:extLst>
          </p:cNvPr>
          <p:cNvSpPr/>
          <p:nvPr/>
        </p:nvSpPr>
        <p:spPr>
          <a:xfrm>
            <a:off x="2343694" y="4323803"/>
            <a:ext cx="1812461" cy="10069"/>
          </a:xfrm>
          <a:custGeom>
            <a:avLst/>
            <a:gdLst>
              <a:gd name="csX0" fmla="*/ 0 w 2416614"/>
              <a:gd name="csY0" fmla="*/ 0 h 13425"/>
              <a:gd name="csX1" fmla="*/ 2416615 w 2416614"/>
              <a:gd name="csY1" fmla="*/ 0 h 1342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416614" h="13425">
                <a:moveTo>
                  <a:pt x="0" y="0"/>
                </a:moveTo>
                <a:lnTo>
                  <a:pt x="2416615" y="0"/>
                </a:lnTo>
              </a:path>
            </a:pathLst>
          </a:custGeom>
          <a:ln w="29487" cap="flat">
            <a:solidFill>
              <a:srgbClr val="A78BFA"/>
            </a:solidFill>
            <a:custDash>
              <a:ds d="52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36" name="Graphic 22">
            <a:extLst>
              <a:ext uri="{FF2B5EF4-FFF2-40B4-BE49-F238E27FC236}">
                <a16:creationId xmlns:a16="http://schemas.microsoft.com/office/drawing/2014/main" id="{FDEC518C-DF82-76EB-6D82-3AFE02AB705B}"/>
              </a:ext>
            </a:extLst>
          </p:cNvPr>
          <p:cNvGrpSpPr/>
          <p:nvPr/>
        </p:nvGrpSpPr>
        <p:grpSpPr>
          <a:xfrm>
            <a:off x="2241880" y="3488057"/>
            <a:ext cx="202505" cy="174317"/>
            <a:chOff x="2989173" y="3507742"/>
            <a:chExt cx="270007" cy="232423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9B07A16-D151-2973-8365-4EA9BAE516A3}"/>
                </a:ext>
              </a:extLst>
            </p:cNvPr>
            <p:cNvSpPr/>
            <p:nvPr/>
          </p:nvSpPr>
          <p:spPr>
            <a:xfrm>
              <a:off x="2990668" y="3507742"/>
              <a:ext cx="268512" cy="228235"/>
            </a:xfrm>
            <a:prstGeom prst="rect">
              <a:avLst/>
            </a:prstGeom>
            <a:solidFill>
              <a:srgbClr val="E8C547">
                <a:alpha val="18000"/>
              </a:srgbClr>
            </a:solidFill>
            <a:ln w="13403" cap="flat">
              <a:solidFill>
                <a:srgbClr val="E8C547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B11B8F-5C57-201C-30A7-6718DDCE15A1}"/>
                </a:ext>
              </a:extLst>
            </p:cNvPr>
            <p:cNvSpPr txBox="1"/>
            <p:nvPr/>
          </p:nvSpPr>
          <p:spPr>
            <a:xfrm>
              <a:off x="2989173" y="3513607"/>
              <a:ext cx="250924" cy="2265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54" b="1">
                  <a:ln/>
                  <a:solidFill>
                    <a:srgbClr val="E8C547"/>
                  </a:solidFill>
                  <a:latin typeface="Courier New"/>
                  <a:cs typeface="Courier New"/>
                  <a:sym typeface="Courier New"/>
                  <a:rtl val="0"/>
                </a:rPr>
                <a:t>1</a:t>
              </a:r>
            </a:p>
          </p:txBody>
        </p:sp>
      </p:grpSp>
      <p:grpSp>
        <p:nvGrpSpPr>
          <p:cNvPr id="39" name="Graphic 22">
            <a:extLst>
              <a:ext uri="{FF2B5EF4-FFF2-40B4-BE49-F238E27FC236}">
                <a16:creationId xmlns:a16="http://schemas.microsoft.com/office/drawing/2014/main" id="{3A96E33F-3DBC-9368-711F-F71EDB4E42B8}"/>
              </a:ext>
            </a:extLst>
          </p:cNvPr>
          <p:cNvGrpSpPr/>
          <p:nvPr/>
        </p:nvGrpSpPr>
        <p:grpSpPr>
          <a:xfrm>
            <a:off x="1335649" y="3488057"/>
            <a:ext cx="202506" cy="174317"/>
            <a:chOff x="1780865" y="3507742"/>
            <a:chExt cx="270008" cy="232423"/>
          </a:xfrm>
        </p:grpSpPr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CC34B711-2DD3-5D64-56E1-DB63DE7B3C23}"/>
                </a:ext>
              </a:extLst>
            </p:cNvPr>
            <p:cNvSpPr/>
            <p:nvPr/>
          </p:nvSpPr>
          <p:spPr>
            <a:xfrm>
              <a:off x="1782361" y="3507742"/>
              <a:ext cx="268512" cy="228235"/>
            </a:xfrm>
            <a:prstGeom prst="rect">
              <a:avLst/>
            </a:prstGeom>
            <a:solidFill>
              <a:srgbClr val="E07B54">
                <a:alpha val="18000"/>
              </a:srgbClr>
            </a:solidFill>
            <a:ln w="13403" cap="flat">
              <a:solidFill>
                <a:srgbClr val="E07B54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731C627-D635-4B87-2D3F-3682ACCF659D}"/>
                </a:ext>
              </a:extLst>
            </p:cNvPr>
            <p:cNvSpPr txBox="1"/>
            <p:nvPr/>
          </p:nvSpPr>
          <p:spPr>
            <a:xfrm>
              <a:off x="1780865" y="3513607"/>
              <a:ext cx="250924" cy="2265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54" b="1">
                  <a:ln/>
                  <a:solidFill>
                    <a:srgbClr val="E07B54"/>
                  </a:solidFill>
                  <a:latin typeface="Courier New"/>
                  <a:cs typeface="Courier New"/>
                  <a:sym typeface="Courier New"/>
                  <a:rtl val="0"/>
                </a:rPr>
                <a:t>2</a:t>
              </a:r>
            </a:p>
          </p:txBody>
        </p:sp>
      </p:grpSp>
      <p:grpSp>
        <p:nvGrpSpPr>
          <p:cNvPr id="42" name="Graphic 22">
            <a:extLst>
              <a:ext uri="{FF2B5EF4-FFF2-40B4-BE49-F238E27FC236}">
                <a16:creationId xmlns:a16="http://schemas.microsoft.com/office/drawing/2014/main" id="{3B39D16D-EE62-939F-76B3-200F165E8BC7}"/>
              </a:ext>
            </a:extLst>
          </p:cNvPr>
          <p:cNvGrpSpPr/>
          <p:nvPr/>
        </p:nvGrpSpPr>
        <p:grpSpPr>
          <a:xfrm>
            <a:off x="3248803" y="4192903"/>
            <a:ext cx="202505" cy="174317"/>
            <a:chOff x="4331737" y="4447537"/>
            <a:chExt cx="270007" cy="232423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156E3E04-E6EF-6D22-C3C7-A5234CC25DFA}"/>
                </a:ext>
              </a:extLst>
            </p:cNvPr>
            <p:cNvSpPr/>
            <p:nvPr/>
          </p:nvSpPr>
          <p:spPr>
            <a:xfrm>
              <a:off x="4333232" y="4447537"/>
              <a:ext cx="268512" cy="228235"/>
            </a:xfrm>
            <a:prstGeom prst="rect">
              <a:avLst/>
            </a:prstGeom>
            <a:solidFill>
              <a:srgbClr val="A78BFA">
                <a:alpha val="18000"/>
              </a:srgbClr>
            </a:solidFill>
            <a:ln w="13403" cap="flat">
              <a:solidFill>
                <a:srgbClr val="A78BFA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F7FB309-6F27-48BA-07B6-2B534FC7D8F0}"/>
                </a:ext>
              </a:extLst>
            </p:cNvPr>
            <p:cNvSpPr txBox="1"/>
            <p:nvPr/>
          </p:nvSpPr>
          <p:spPr>
            <a:xfrm>
              <a:off x="4331737" y="4453402"/>
              <a:ext cx="250924" cy="22655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54" b="1">
                  <a:ln/>
                  <a:solidFill>
                    <a:srgbClr val="A78BFA"/>
                  </a:solidFill>
                  <a:latin typeface="Courier New"/>
                  <a:cs typeface="Courier New"/>
                  <a:sym typeface="Courier New"/>
                  <a:rtl val="0"/>
                </a:rPr>
                <a:t>3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1E6C8AC4-518A-9F28-1A9D-E9D056DE9363}"/>
              </a:ext>
            </a:extLst>
          </p:cNvPr>
          <p:cNvSpPr txBox="1"/>
          <p:nvPr/>
        </p:nvSpPr>
        <p:spPr>
          <a:xfrm>
            <a:off x="1260118" y="2678584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R1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FFBB5E-7B5C-1D75-D152-41A24C0AF11D}"/>
              </a:ext>
            </a:extLst>
          </p:cNvPr>
          <p:cNvSpPr txBox="1"/>
          <p:nvPr/>
        </p:nvSpPr>
        <p:spPr>
          <a:xfrm>
            <a:off x="3179956" y="3173882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 dirty="0">
                <a:ln/>
                <a:solidFill>
                  <a:srgbClr val="5BC4A0"/>
                </a:solidFill>
                <a:latin typeface="Courier New"/>
                <a:cs typeface="Courier New"/>
                <a:sym typeface="Courier New"/>
                <a:rtl val="0"/>
              </a:rPr>
              <a:t>R2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CD5EAC-B797-B20E-BE65-2DA7F63B101C}"/>
              </a:ext>
            </a:extLst>
          </p:cNvPr>
          <p:cNvSpPr txBox="1"/>
          <p:nvPr/>
        </p:nvSpPr>
        <p:spPr>
          <a:xfrm>
            <a:off x="1260118" y="4460838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R3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A5E5E6-E6FD-8591-36AA-6A930D03C3B7}"/>
              </a:ext>
            </a:extLst>
          </p:cNvPr>
          <p:cNvSpPr txBox="1"/>
          <p:nvPr/>
        </p:nvSpPr>
        <p:spPr>
          <a:xfrm>
            <a:off x="3072579" y="4813260"/>
            <a:ext cx="302006" cy="2339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070" b="1">
                <a:ln/>
                <a:solidFill>
                  <a:srgbClr val="A78BFA"/>
                </a:solidFill>
                <a:latin typeface="Courier New"/>
                <a:cs typeface="Courier New"/>
                <a:sym typeface="Courier New"/>
                <a:rtl val="0"/>
              </a:rPr>
              <a:t>R4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FC479A8-2DDA-6C6F-388C-D1D9EE7297F4}"/>
              </a:ext>
            </a:extLst>
          </p:cNvPr>
          <p:cNvSpPr txBox="1"/>
          <p:nvPr/>
        </p:nvSpPr>
        <p:spPr>
          <a:xfrm>
            <a:off x="2202603" y="5457642"/>
            <a:ext cx="247504" cy="178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13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t1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4AA6930-8CA8-F291-2D8C-C3EC7ED0CC61}"/>
              </a:ext>
            </a:extLst>
          </p:cNvPr>
          <p:cNvSpPr txBox="1"/>
          <p:nvPr/>
        </p:nvSpPr>
        <p:spPr>
          <a:xfrm>
            <a:off x="237078" y="3524350"/>
            <a:ext cx="247504" cy="178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13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h1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7789A85-EE42-40C5-928D-28A97CC33CB4}"/>
              </a:ext>
            </a:extLst>
          </p:cNvPr>
          <p:cNvSpPr txBox="1"/>
          <p:nvPr/>
        </p:nvSpPr>
        <p:spPr>
          <a:xfrm>
            <a:off x="237078" y="4229196"/>
            <a:ext cx="247504" cy="1789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13">
                <a:ln/>
                <a:solidFill>
                  <a:srgbClr val="A78BFA"/>
                </a:solidFill>
                <a:latin typeface="Courier New"/>
                <a:cs typeface="Courier New"/>
                <a:sym typeface="Courier New"/>
                <a:rtl val="0"/>
              </a:rPr>
              <a:t>h2</a:t>
            </a:r>
          </a:p>
        </p:txBody>
      </p:sp>
      <p:grpSp>
        <p:nvGrpSpPr>
          <p:cNvPr id="53" name="Graphic 22">
            <a:extLst>
              <a:ext uri="{FF2B5EF4-FFF2-40B4-BE49-F238E27FC236}">
                <a16:creationId xmlns:a16="http://schemas.microsoft.com/office/drawing/2014/main" id="{B3B6B5CF-10A2-E0C7-6318-4DABF3859E69}"/>
              </a:ext>
            </a:extLst>
          </p:cNvPr>
          <p:cNvGrpSpPr/>
          <p:nvPr/>
        </p:nvGrpSpPr>
        <p:grpSpPr>
          <a:xfrm>
            <a:off x="823240" y="2330096"/>
            <a:ext cx="1238515" cy="936438"/>
            <a:chOff x="1097653" y="1963794"/>
            <a:chExt cx="1651353" cy="1248584"/>
          </a:xfrm>
          <a:solidFill>
            <a:srgbClr val="E8C547">
              <a:alpha val="88000"/>
            </a:srgbClr>
          </a:solidFill>
        </p:grpSpPr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11AEB625-BAE0-B690-5548-42D8CD3D167E}"/>
                </a:ext>
              </a:extLst>
            </p:cNvPr>
            <p:cNvSpPr/>
            <p:nvPr/>
          </p:nvSpPr>
          <p:spPr>
            <a:xfrm>
              <a:off x="1097653" y="2030922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39A4E489-C1DE-26FB-E89F-D037740030E0}"/>
                </a:ext>
              </a:extLst>
            </p:cNvPr>
            <p:cNvSpPr/>
            <p:nvPr/>
          </p:nvSpPr>
          <p:spPr>
            <a:xfrm>
              <a:off x="1607828" y="2541096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7A024EA8-5A36-55BE-F15E-DFEAC6364477}"/>
                </a:ext>
              </a:extLst>
            </p:cNvPr>
            <p:cNvSpPr/>
            <p:nvPr/>
          </p:nvSpPr>
          <p:spPr>
            <a:xfrm>
              <a:off x="2279109" y="2272584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3594CA65-3B55-295A-9BC9-F2F9BE2EA063}"/>
                </a:ext>
              </a:extLst>
            </p:cNvPr>
            <p:cNvSpPr/>
            <p:nvPr/>
          </p:nvSpPr>
          <p:spPr>
            <a:xfrm>
              <a:off x="1272187" y="3078122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AEFB99A9-5682-8B30-1CFB-0C96A407D105}"/>
                </a:ext>
              </a:extLst>
            </p:cNvPr>
            <p:cNvSpPr/>
            <p:nvPr/>
          </p:nvSpPr>
          <p:spPr>
            <a:xfrm>
              <a:off x="2614750" y="2863312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0FCFB326-9778-E12D-EA67-4E94D8621C6F}"/>
                </a:ext>
              </a:extLst>
            </p:cNvPr>
            <p:cNvSpPr/>
            <p:nvPr/>
          </p:nvSpPr>
          <p:spPr>
            <a:xfrm>
              <a:off x="2010597" y="1963794"/>
              <a:ext cx="134256" cy="134256"/>
            </a:xfrm>
            <a:prstGeom prst="ellipse">
              <a:avLst/>
            </a:prstGeom>
            <a:solidFill>
              <a:srgbClr val="E8C547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0" name="Graphic 22">
            <a:extLst>
              <a:ext uri="{FF2B5EF4-FFF2-40B4-BE49-F238E27FC236}">
                <a16:creationId xmlns:a16="http://schemas.microsoft.com/office/drawing/2014/main" id="{6025C935-1D8F-135A-8EE5-3399B3A84167}"/>
              </a:ext>
            </a:extLst>
          </p:cNvPr>
          <p:cNvGrpSpPr/>
          <p:nvPr/>
        </p:nvGrpSpPr>
        <p:grpSpPr>
          <a:xfrm>
            <a:off x="702410" y="3890826"/>
            <a:ext cx="1258653" cy="1329138"/>
            <a:chOff x="936546" y="4044768"/>
            <a:chExt cx="1678204" cy="1772184"/>
          </a:xfrm>
          <a:solidFill>
            <a:srgbClr val="E07B54">
              <a:alpha val="88000"/>
            </a:srgbClr>
          </a:solidFill>
        </p:grpSpPr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B8DFC2A0-0FB7-ECF9-1C31-E120B6099341}"/>
                </a:ext>
              </a:extLst>
            </p:cNvPr>
            <p:cNvSpPr/>
            <p:nvPr/>
          </p:nvSpPr>
          <p:spPr>
            <a:xfrm>
              <a:off x="936546" y="4044768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1DF6906F-49E1-1C64-2E95-2985806D1571}"/>
                </a:ext>
              </a:extLst>
            </p:cNvPr>
            <p:cNvSpPr/>
            <p:nvPr/>
          </p:nvSpPr>
          <p:spPr>
            <a:xfrm>
              <a:off x="1742084" y="4716050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A7F33459-21AC-E3DB-CDA1-6B490ACE7FAD}"/>
                </a:ext>
              </a:extLst>
            </p:cNvPr>
            <p:cNvSpPr/>
            <p:nvPr/>
          </p:nvSpPr>
          <p:spPr>
            <a:xfrm>
              <a:off x="2480494" y="4286429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C5421B45-A0B1-6AD3-6471-63BE0D76264B}"/>
                </a:ext>
              </a:extLst>
            </p:cNvPr>
            <p:cNvSpPr/>
            <p:nvPr/>
          </p:nvSpPr>
          <p:spPr>
            <a:xfrm>
              <a:off x="1406443" y="5454460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AC9E2BF7-40AD-2E63-65C2-208B021F2199}"/>
                </a:ext>
              </a:extLst>
            </p:cNvPr>
            <p:cNvSpPr/>
            <p:nvPr/>
          </p:nvSpPr>
          <p:spPr>
            <a:xfrm>
              <a:off x="2279109" y="5682695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3F8DA869-052E-ECE0-BABD-8038DFE2D006}"/>
                </a:ext>
              </a:extLst>
            </p:cNvPr>
            <p:cNvSpPr/>
            <p:nvPr/>
          </p:nvSpPr>
          <p:spPr>
            <a:xfrm>
              <a:off x="1137930" y="5118819"/>
              <a:ext cx="134256" cy="134256"/>
            </a:xfrm>
            <a:prstGeom prst="ellipse">
              <a:avLst/>
            </a:prstGeom>
            <a:solidFill>
              <a:srgbClr val="E07B54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67" name="Graphic 22">
            <a:extLst>
              <a:ext uri="{FF2B5EF4-FFF2-40B4-BE49-F238E27FC236}">
                <a16:creationId xmlns:a16="http://schemas.microsoft.com/office/drawing/2014/main" id="{88D8C585-AAE4-3BC1-34C8-FC7CAD3B2DEA}"/>
              </a:ext>
            </a:extLst>
          </p:cNvPr>
          <p:cNvGrpSpPr/>
          <p:nvPr/>
        </p:nvGrpSpPr>
        <p:grpSpPr>
          <a:xfrm>
            <a:off x="2696117" y="2279749"/>
            <a:ext cx="1429830" cy="1691630"/>
            <a:chOff x="3594822" y="1896666"/>
            <a:chExt cx="1906440" cy="2255506"/>
          </a:xfrm>
          <a:solidFill>
            <a:srgbClr val="5BC4A0">
              <a:alpha val="88000"/>
            </a:srgbClr>
          </a:solidFill>
        </p:grpSpPr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584C724-EAE5-7F13-1985-8BF0361C5F96}"/>
                </a:ext>
              </a:extLst>
            </p:cNvPr>
            <p:cNvSpPr/>
            <p:nvPr/>
          </p:nvSpPr>
          <p:spPr>
            <a:xfrm>
              <a:off x="3594822" y="1896666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6911BC9-7129-8954-6C34-94CEA0FC8C59}"/>
                </a:ext>
              </a:extLst>
            </p:cNvPr>
            <p:cNvSpPr/>
            <p:nvPr/>
          </p:nvSpPr>
          <p:spPr>
            <a:xfrm>
              <a:off x="4427212" y="2366563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D336A7C8-9B19-9591-5E5E-760F1B46C106}"/>
                </a:ext>
              </a:extLst>
            </p:cNvPr>
            <p:cNvSpPr/>
            <p:nvPr/>
          </p:nvSpPr>
          <p:spPr>
            <a:xfrm>
              <a:off x="5205899" y="2030922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1B2F56D9-55B3-0733-7835-662FB6E1E018}"/>
                </a:ext>
              </a:extLst>
            </p:cNvPr>
            <p:cNvSpPr/>
            <p:nvPr/>
          </p:nvSpPr>
          <p:spPr>
            <a:xfrm>
              <a:off x="3957314" y="3709127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D0EF5F2B-2537-4091-6DF5-451B9364FBB1}"/>
                </a:ext>
              </a:extLst>
            </p:cNvPr>
            <p:cNvSpPr/>
            <p:nvPr/>
          </p:nvSpPr>
          <p:spPr>
            <a:xfrm>
              <a:off x="5367006" y="4017916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1F04C61-0503-1003-56C2-9A5EBA12887B}"/>
                </a:ext>
              </a:extLst>
            </p:cNvPr>
            <p:cNvSpPr/>
            <p:nvPr/>
          </p:nvSpPr>
          <p:spPr>
            <a:xfrm>
              <a:off x="4762852" y="3037845"/>
              <a:ext cx="134256" cy="134256"/>
            </a:xfrm>
            <a:prstGeom prst="ellipse">
              <a:avLst/>
            </a:prstGeom>
            <a:solidFill>
              <a:srgbClr val="5BC4A0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74" name="Graphic 22">
            <a:extLst>
              <a:ext uri="{FF2B5EF4-FFF2-40B4-BE49-F238E27FC236}">
                <a16:creationId xmlns:a16="http://schemas.microsoft.com/office/drawing/2014/main" id="{BA598E56-3575-25CC-29E2-D6A5194F6B63}"/>
              </a:ext>
            </a:extLst>
          </p:cNvPr>
          <p:cNvGrpSpPr/>
          <p:nvPr/>
        </p:nvGrpSpPr>
        <p:grpSpPr>
          <a:xfrm>
            <a:off x="2595425" y="4595671"/>
            <a:ext cx="1510384" cy="805538"/>
            <a:chOff x="3460566" y="4984562"/>
            <a:chExt cx="2013845" cy="1074050"/>
          </a:xfrm>
          <a:solidFill>
            <a:srgbClr val="A78BFA">
              <a:alpha val="88000"/>
            </a:srgbClr>
          </a:solidFill>
        </p:grpSpPr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48AE2267-8A91-3E05-0689-6CA8ABA5642B}"/>
                </a:ext>
              </a:extLst>
            </p:cNvPr>
            <p:cNvSpPr/>
            <p:nvPr/>
          </p:nvSpPr>
          <p:spPr>
            <a:xfrm>
              <a:off x="3460566" y="4984562"/>
              <a:ext cx="134256" cy="134256"/>
            </a:xfrm>
            <a:prstGeom prst="ellipse">
              <a:avLst/>
            </a:prstGeom>
            <a:solidFill>
              <a:srgbClr val="A78BFA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1F11B5B-268B-F385-05E2-B57DA2DAFA5A}"/>
                </a:ext>
              </a:extLst>
            </p:cNvPr>
            <p:cNvSpPr/>
            <p:nvPr/>
          </p:nvSpPr>
          <p:spPr>
            <a:xfrm>
              <a:off x="4695724" y="5320203"/>
              <a:ext cx="134256" cy="134256"/>
            </a:xfrm>
            <a:prstGeom prst="ellipse">
              <a:avLst/>
            </a:prstGeom>
            <a:solidFill>
              <a:srgbClr val="A78BFA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C9DF6D8D-BFBC-FBDA-90D9-23C9E0604C9F}"/>
                </a:ext>
              </a:extLst>
            </p:cNvPr>
            <p:cNvSpPr/>
            <p:nvPr/>
          </p:nvSpPr>
          <p:spPr>
            <a:xfrm>
              <a:off x="5340155" y="5722972"/>
              <a:ext cx="134256" cy="134256"/>
            </a:xfrm>
            <a:prstGeom prst="ellipse">
              <a:avLst/>
            </a:prstGeom>
            <a:solidFill>
              <a:srgbClr val="A78BFA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Oval 77">
              <a:extLst>
                <a:ext uri="{FF2B5EF4-FFF2-40B4-BE49-F238E27FC236}">
                  <a16:creationId xmlns:a16="http://schemas.microsoft.com/office/drawing/2014/main" id="{E99D1D95-7562-3520-676A-67125F74CB37}"/>
                </a:ext>
              </a:extLst>
            </p:cNvPr>
            <p:cNvSpPr/>
            <p:nvPr/>
          </p:nvSpPr>
          <p:spPr>
            <a:xfrm>
              <a:off x="4091571" y="5924357"/>
              <a:ext cx="134256" cy="134256"/>
            </a:xfrm>
            <a:prstGeom prst="ellipse">
              <a:avLst/>
            </a:prstGeom>
            <a:solidFill>
              <a:srgbClr val="A78BFA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2F8C9A9-4388-F78D-B56B-5E7E847AEDEF}"/>
                </a:ext>
              </a:extLst>
            </p:cNvPr>
            <p:cNvSpPr/>
            <p:nvPr/>
          </p:nvSpPr>
          <p:spPr>
            <a:xfrm>
              <a:off x="3594822" y="5628993"/>
              <a:ext cx="134256" cy="134256"/>
            </a:xfrm>
            <a:prstGeom prst="ellipse">
              <a:avLst/>
            </a:prstGeom>
            <a:solidFill>
              <a:srgbClr val="A78BFA">
                <a:alpha val="88000"/>
              </a:srgbClr>
            </a:solidFill>
            <a:ln w="13403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9" name="Text 6">
            <a:extLst>
              <a:ext uri="{FF2B5EF4-FFF2-40B4-BE49-F238E27FC236}">
                <a16:creationId xmlns:a16="http://schemas.microsoft.com/office/drawing/2014/main" id="{733CBE8D-38B3-D08E-3C7C-F62C8F061BF0}"/>
              </a:ext>
            </a:extLst>
          </p:cNvPr>
          <p:cNvSpPr/>
          <p:nvPr/>
        </p:nvSpPr>
        <p:spPr>
          <a:xfrm>
            <a:off x="240030" y="1666494"/>
            <a:ext cx="4183380" cy="17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25" kern="0" spc="113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2-FEATURE EXAMPLE  —  x₁ (slope)  ×  x₂ (curvature)</a:t>
            </a:r>
            <a:endParaRPr lang="en-US" sz="825" dirty="0"/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C669B43A-1EA5-AC62-EFEE-F2F88A70B501}"/>
              </a:ext>
            </a:extLst>
          </p:cNvPr>
          <p:cNvSpPr/>
          <p:nvPr/>
        </p:nvSpPr>
        <p:spPr>
          <a:xfrm>
            <a:off x="4834890" y="1735074"/>
            <a:ext cx="416966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SPLITS WORK</a:t>
            </a:r>
            <a:endParaRPr lang="en-US" sz="105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BE04B6AA-4F64-C9C9-750B-2EB98BDFD864}"/>
              </a:ext>
            </a:extLst>
          </p:cNvPr>
          <p:cNvSpPr/>
          <p:nvPr/>
        </p:nvSpPr>
        <p:spPr>
          <a:xfrm>
            <a:off x="4834890" y="2599182"/>
            <a:ext cx="4169664" cy="150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ORDER (</a:t>
            </a:r>
            <a:r>
              <a:rPr lang="en-US" sz="1050" b="1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GREEDY</a:t>
            </a:r>
            <a:r>
              <a:rPr lang="en-US" sz="1050" kern="0" spc="150" dirty="0">
                <a:solidFill>
                  <a:srgbClr val="6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009AA6-A45E-1DA9-A486-72217C55A225}"/>
              </a:ext>
            </a:extLst>
          </p:cNvPr>
          <p:cNvSpPr txBox="1"/>
          <p:nvPr/>
        </p:nvSpPr>
        <p:spPr>
          <a:xfrm>
            <a:off x="2043458" y="5529812"/>
            <a:ext cx="827791" cy="207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900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x1 (slope)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E78C1F-2B7E-43BF-805E-D35FFD63FA12}"/>
              </a:ext>
            </a:extLst>
          </p:cNvPr>
          <p:cNvSpPr txBox="1"/>
          <p:nvPr/>
        </p:nvSpPr>
        <p:spPr>
          <a:xfrm rot="16200000">
            <a:off x="-283040" y="3696328"/>
            <a:ext cx="1055417" cy="2077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73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x2 (</a:t>
            </a:r>
            <a:r>
              <a:rPr lang="en-US" sz="900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curvature</a:t>
            </a:r>
            <a:r>
              <a:rPr lang="en-US" sz="773" dirty="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628663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B5512-D443-17D8-DE36-172FE45C8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F82E166-6E74-353E-6BD1-64BB1F491609}"/>
              </a:ext>
            </a:extLst>
          </p:cNvPr>
          <p:cNvSpPr/>
          <p:nvPr/>
        </p:nvSpPr>
        <p:spPr>
          <a:xfrm>
            <a:off x="0" y="857250"/>
            <a:ext cx="9141714" cy="617220"/>
          </a:xfrm>
          <a:prstGeom prst="rect">
            <a:avLst/>
          </a:prstGeom>
          <a:solidFill>
            <a:srgbClr val="0C0F14"/>
          </a:solidFill>
          <a:ln w="12700">
            <a:solidFill>
              <a:srgbClr val="0C0F1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92104DB-F447-8006-DFFD-0088D801FC2F}"/>
              </a:ext>
            </a:extLst>
          </p:cNvPr>
          <p:cNvSpPr/>
          <p:nvPr/>
        </p:nvSpPr>
        <p:spPr>
          <a:xfrm>
            <a:off x="0" y="1474470"/>
            <a:ext cx="9141714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2357A0-1E84-E4EF-3944-7C904CCFD3E8}"/>
              </a:ext>
            </a:extLst>
          </p:cNvPr>
          <p:cNvSpPr/>
          <p:nvPr/>
        </p:nvSpPr>
        <p:spPr>
          <a:xfrm>
            <a:off x="274320" y="898398"/>
            <a:ext cx="5897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 &amp; the Staircase Problem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4D0DB95-E28F-3DAE-6DB7-32D3166926F1}"/>
              </a:ext>
            </a:extLst>
          </p:cNvPr>
          <p:cNvSpPr/>
          <p:nvPr/>
        </p:nvSpPr>
        <p:spPr>
          <a:xfrm>
            <a:off x="274320" y="1255014"/>
            <a:ext cx="5897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kern="0" spc="38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averaging many weak learners produces smooth, low-variance predictions</a:t>
            </a:r>
            <a:endParaRPr lang="en-US" sz="7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EA0FB69-5B50-E7D1-157B-0AF5F1CC1AD3}"/>
              </a:ext>
            </a:extLst>
          </p:cNvPr>
          <p:cNvGrpSpPr/>
          <p:nvPr/>
        </p:nvGrpSpPr>
        <p:grpSpPr>
          <a:xfrm>
            <a:off x="150876" y="1625346"/>
            <a:ext cx="2862072" cy="130302"/>
            <a:chOff x="201168" y="1024128"/>
            <a:chExt cx="3816096" cy="173736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245AFF8B-82A1-D097-43C8-6AB3E8B7DF64}"/>
                </a:ext>
              </a:extLst>
            </p:cNvPr>
            <p:cNvSpPr/>
            <p:nvPr/>
          </p:nvSpPr>
          <p:spPr>
            <a:xfrm>
              <a:off x="201168" y="1065276"/>
              <a:ext cx="91440" cy="91440"/>
            </a:xfrm>
            <a:prstGeom prst="ellipse">
              <a:avLst/>
            </a:prstGeom>
            <a:solidFill>
              <a:srgbClr val="EF9A9A"/>
            </a:solidFill>
            <a:ln w="12700">
              <a:solidFill>
                <a:srgbClr val="EF9A9A"/>
              </a:solidFill>
              <a:prstDash val="solid"/>
            </a:ln>
          </p:spPr>
          <p:txBody>
            <a:bodyPr/>
            <a:lstStyle/>
            <a:p>
              <a:endParaRPr lang="en-US" sz="825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CDAAB428-2818-83A3-78B8-C06EB80CCC07}"/>
                </a:ext>
              </a:extLst>
            </p:cNvPr>
            <p:cNvSpPr/>
            <p:nvPr/>
          </p:nvSpPr>
          <p:spPr>
            <a:xfrm>
              <a:off x="338328" y="1024128"/>
              <a:ext cx="367893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25" kern="0" spc="135" dirty="0">
                  <a:solidFill>
                    <a:srgbClr val="EF9A9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SINGLE CART TREE</a:t>
              </a:r>
              <a:endParaRPr lang="en-US" sz="825" dirty="0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2E4E5406-DA24-6377-9818-25E97C591D24}"/>
              </a:ext>
            </a:extLst>
          </p:cNvPr>
          <p:cNvSpPr/>
          <p:nvPr/>
        </p:nvSpPr>
        <p:spPr>
          <a:xfrm>
            <a:off x="3861347" y="5287517"/>
            <a:ext cx="27454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Variance, Low Bias</a:t>
            </a:r>
            <a:endParaRPr lang="en-US" sz="938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864130C-6FDA-4B24-10DB-AB9A3A843A8A}"/>
              </a:ext>
            </a:extLst>
          </p:cNvPr>
          <p:cNvSpPr/>
          <p:nvPr/>
        </p:nvSpPr>
        <p:spPr>
          <a:xfrm>
            <a:off x="714333" y="1869559"/>
            <a:ext cx="7715335" cy="3363095"/>
          </a:xfrm>
          <a:prstGeom prst="rect">
            <a:avLst/>
          </a:prstGeom>
          <a:solidFill>
            <a:srgbClr val="0E1117"/>
          </a:solidFill>
          <a:ln w="1318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FC7A8F-D576-D694-B7E5-2D586C04FBF4}"/>
              </a:ext>
            </a:extLst>
          </p:cNvPr>
          <p:cNvSpPr/>
          <p:nvPr/>
        </p:nvSpPr>
        <p:spPr>
          <a:xfrm>
            <a:off x="4750046" y="2068283"/>
            <a:ext cx="3640055" cy="3007002"/>
          </a:xfrm>
          <a:prstGeom prst="rect">
            <a:avLst/>
          </a:prstGeom>
          <a:solidFill>
            <a:srgbClr val="13181F"/>
          </a:solidFill>
          <a:ln w="13188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357F35-72DB-27F1-F6E1-E40A0CE7D60D}"/>
              </a:ext>
            </a:extLst>
          </p:cNvPr>
          <p:cNvSpPr txBox="1"/>
          <p:nvPr/>
        </p:nvSpPr>
        <p:spPr>
          <a:xfrm>
            <a:off x="6074132" y="1879092"/>
            <a:ext cx="857029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 spc="156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DECISION TREE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A280A7DC-CCA3-6A30-E769-09537D190AAB}"/>
              </a:ext>
            </a:extLst>
          </p:cNvPr>
          <p:cNvSpPr/>
          <p:nvPr/>
        </p:nvSpPr>
        <p:spPr>
          <a:xfrm>
            <a:off x="5422665" y="3195910"/>
            <a:ext cx="217612" cy="375875"/>
          </a:xfrm>
          <a:custGeom>
            <a:avLst/>
            <a:gdLst>
              <a:gd name="csX0" fmla="*/ 290149 w 290149"/>
              <a:gd name="csY0" fmla="*/ 0 h 501167"/>
              <a:gd name="csX1" fmla="*/ 0 w 290149"/>
              <a:gd name="csY1" fmla="*/ 501167 h 501167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0149" h="501167">
                <a:moveTo>
                  <a:pt x="290149" y="0"/>
                </a:moveTo>
                <a:lnTo>
                  <a:pt x="0" y="501167"/>
                </a:lnTo>
              </a:path>
            </a:pathLst>
          </a:custGeom>
          <a:ln w="23739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81EDEDA1-72F9-3F8E-1786-D4B662C7FC1D}"/>
              </a:ext>
            </a:extLst>
          </p:cNvPr>
          <p:cNvSpPr/>
          <p:nvPr/>
        </p:nvSpPr>
        <p:spPr>
          <a:xfrm>
            <a:off x="5897455" y="3195910"/>
            <a:ext cx="306635" cy="553921"/>
          </a:xfrm>
          <a:custGeom>
            <a:avLst/>
            <a:gdLst>
              <a:gd name="csX0" fmla="*/ 0 w 408846"/>
              <a:gd name="csY0" fmla="*/ 0 h 738561"/>
              <a:gd name="csX1" fmla="*/ 408847 w 408846"/>
              <a:gd name="csY1" fmla="*/ 738562 h 73856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08846" h="738561">
                <a:moveTo>
                  <a:pt x="0" y="0"/>
                </a:moveTo>
                <a:lnTo>
                  <a:pt x="408847" y="738562"/>
                </a:lnTo>
              </a:path>
            </a:pathLst>
          </a:custGeom>
          <a:ln w="23739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5545BCE9-5AED-9F6E-C078-941B2841EDEB}"/>
              </a:ext>
            </a:extLst>
          </p:cNvPr>
          <p:cNvSpPr/>
          <p:nvPr/>
        </p:nvSpPr>
        <p:spPr>
          <a:xfrm>
            <a:off x="5185270" y="3710266"/>
            <a:ext cx="118697" cy="455006"/>
          </a:xfrm>
          <a:custGeom>
            <a:avLst/>
            <a:gdLst>
              <a:gd name="csX0" fmla="*/ 158263 w 158263"/>
              <a:gd name="csY0" fmla="*/ 0 h 606675"/>
              <a:gd name="csX1" fmla="*/ 0 w 158263"/>
              <a:gd name="csY1" fmla="*/ 606676 h 606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8263" h="606675">
                <a:moveTo>
                  <a:pt x="158263" y="0"/>
                </a:moveTo>
                <a:lnTo>
                  <a:pt x="0" y="606676"/>
                </a:lnTo>
              </a:path>
            </a:pathLst>
          </a:custGeom>
          <a:ln w="23739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9EEBA47-48F6-02D0-5E3F-5C9E0E335E7D}"/>
              </a:ext>
            </a:extLst>
          </p:cNvPr>
          <p:cNvSpPr/>
          <p:nvPr/>
        </p:nvSpPr>
        <p:spPr>
          <a:xfrm>
            <a:off x="5462231" y="3710266"/>
            <a:ext cx="217612" cy="455006"/>
          </a:xfrm>
          <a:custGeom>
            <a:avLst/>
            <a:gdLst>
              <a:gd name="csX0" fmla="*/ 0 w 290149"/>
              <a:gd name="csY0" fmla="*/ 0 h 606675"/>
              <a:gd name="csX1" fmla="*/ 290149 w 290149"/>
              <a:gd name="csY1" fmla="*/ 606676 h 606675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0149" h="606675">
                <a:moveTo>
                  <a:pt x="0" y="0"/>
                </a:moveTo>
                <a:lnTo>
                  <a:pt x="290149" y="606676"/>
                </a:lnTo>
              </a:path>
            </a:pathLst>
          </a:custGeom>
          <a:ln w="23739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F50BB61C-5298-EA48-ADA7-878F7089A582}"/>
              </a:ext>
            </a:extLst>
          </p:cNvPr>
          <p:cNvSpPr/>
          <p:nvPr/>
        </p:nvSpPr>
        <p:spPr>
          <a:xfrm>
            <a:off x="6985515" y="3393739"/>
            <a:ext cx="217612" cy="356092"/>
          </a:xfrm>
          <a:custGeom>
            <a:avLst/>
            <a:gdLst>
              <a:gd name="csX0" fmla="*/ 290149 w 290149"/>
              <a:gd name="csY0" fmla="*/ 0 h 474789"/>
              <a:gd name="csX1" fmla="*/ 0 w 290149"/>
              <a:gd name="csY1" fmla="*/ 474790 h 4747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90149" h="474789">
                <a:moveTo>
                  <a:pt x="290149" y="0"/>
                </a:moveTo>
                <a:lnTo>
                  <a:pt x="0" y="474790"/>
                </a:lnTo>
              </a:path>
            </a:pathLst>
          </a:custGeom>
          <a:ln w="23739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2236E38-CAEE-6F40-8BAF-197A8E4F2840}"/>
              </a:ext>
            </a:extLst>
          </p:cNvPr>
          <p:cNvSpPr/>
          <p:nvPr/>
        </p:nvSpPr>
        <p:spPr>
          <a:xfrm>
            <a:off x="7480088" y="3393739"/>
            <a:ext cx="336309" cy="356092"/>
          </a:xfrm>
          <a:custGeom>
            <a:avLst/>
            <a:gdLst>
              <a:gd name="csX0" fmla="*/ 0 w 448412"/>
              <a:gd name="csY0" fmla="*/ 0 h 474789"/>
              <a:gd name="csX1" fmla="*/ 448413 w 448412"/>
              <a:gd name="csY1" fmla="*/ 474790 h 47478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48412" h="474789">
                <a:moveTo>
                  <a:pt x="0" y="0"/>
                </a:moveTo>
                <a:lnTo>
                  <a:pt x="448413" y="474790"/>
                </a:lnTo>
              </a:path>
            </a:pathLst>
          </a:custGeom>
          <a:ln w="23739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E4CBA2-28ED-8392-1C41-40F9C9E4A17E}"/>
              </a:ext>
            </a:extLst>
          </p:cNvPr>
          <p:cNvSpPr txBox="1"/>
          <p:nvPr/>
        </p:nvSpPr>
        <p:spPr>
          <a:xfrm>
            <a:off x="5413433" y="3333136"/>
            <a:ext cx="244298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3A4A5A"/>
                </a:solidFill>
                <a:latin typeface="Courier New"/>
                <a:cs typeface="Courier New"/>
                <a:sym typeface="Courier New"/>
                <a:rtl val="0"/>
              </a:rPr>
              <a:t>yes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36E04C-2299-1AA2-C38F-35982E70BB66}"/>
              </a:ext>
            </a:extLst>
          </p:cNvPr>
          <p:cNvSpPr txBox="1"/>
          <p:nvPr/>
        </p:nvSpPr>
        <p:spPr>
          <a:xfrm>
            <a:off x="5908006" y="3372701"/>
            <a:ext cx="209032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3A4A5A"/>
                </a:solidFill>
                <a:latin typeface="Courier New"/>
                <a:cs typeface="Courier New"/>
                <a:sym typeface="Courier New"/>
                <a:rtl val="0"/>
              </a:rPr>
              <a:t>no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8017149-066F-050C-719C-4B77160F43D7}"/>
              </a:ext>
            </a:extLst>
          </p:cNvPr>
          <p:cNvSpPr txBox="1"/>
          <p:nvPr/>
        </p:nvSpPr>
        <p:spPr>
          <a:xfrm>
            <a:off x="5057341" y="3887057"/>
            <a:ext cx="244298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3A4A5A"/>
                </a:solidFill>
                <a:latin typeface="Courier New"/>
                <a:cs typeface="Courier New"/>
                <a:sym typeface="Courier New"/>
                <a:rtl val="0"/>
              </a:rPr>
              <a:t>yes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FC5D00-2A7A-286C-54CB-4E46892551A3}"/>
              </a:ext>
            </a:extLst>
          </p:cNvPr>
          <p:cNvSpPr txBox="1"/>
          <p:nvPr/>
        </p:nvSpPr>
        <p:spPr>
          <a:xfrm>
            <a:off x="5492565" y="3887057"/>
            <a:ext cx="209032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3A4A5A"/>
                </a:solidFill>
                <a:latin typeface="Courier New"/>
                <a:cs typeface="Courier New"/>
                <a:sym typeface="Courier New"/>
                <a:rtl val="0"/>
              </a:rPr>
              <a:t>no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5779928-5EF8-10A7-FF40-059AB82CB7F5}"/>
              </a:ext>
            </a:extLst>
          </p:cNvPr>
          <p:cNvSpPr txBox="1"/>
          <p:nvPr/>
        </p:nvSpPr>
        <p:spPr>
          <a:xfrm>
            <a:off x="6897152" y="3530965"/>
            <a:ext cx="244298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3A4A5A"/>
                </a:solidFill>
                <a:latin typeface="Courier New"/>
                <a:cs typeface="Courier New"/>
                <a:sym typeface="Courier New"/>
                <a:rtl val="0"/>
              </a:rPr>
              <a:t>yes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2C1AA38-34E5-5890-3529-7D400E4CA43F}"/>
              </a:ext>
            </a:extLst>
          </p:cNvPr>
          <p:cNvSpPr txBox="1"/>
          <p:nvPr/>
        </p:nvSpPr>
        <p:spPr>
          <a:xfrm>
            <a:off x="7520313" y="3530965"/>
            <a:ext cx="209032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3A4A5A"/>
                </a:solidFill>
                <a:latin typeface="Courier New"/>
                <a:cs typeface="Courier New"/>
                <a:sym typeface="Courier New"/>
                <a:rtl val="0"/>
              </a:rPr>
              <a:t>no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77EE3FB-F240-B8A9-F782-270844787C06}"/>
              </a:ext>
            </a:extLst>
          </p:cNvPr>
          <p:cNvSpPr/>
          <p:nvPr/>
        </p:nvSpPr>
        <p:spPr>
          <a:xfrm>
            <a:off x="5620494" y="3225584"/>
            <a:ext cx="158263" cy="158263"/>
          </a:xfrm>
          <a:prstGeom prst="ellipse">
            <a:avLst/>
          </a:prstGeom>
          <a:solidFill>
            <a:srgbClr val="1A2030"/>
          </a:solidFill>
          <a:ln w="13188" cap="flat">
            <a:solidFill>
              <a:srgbClr val="5BC4A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81EF7D3-000D-ACDA-B4EB-6014380E961F}"/>
              </a:ext>
            </a:extLst>
          </p:cNvPr>
          <p:cNvSpPr txBox="1"/>
          <p:nvPr/>
        </p:nvSpPr>
        <p:spPr>
          <a:xfrm>
            <a:off x="5607302" y="3244112"/>
            <a:ext cx="173766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 b="1">
                <a:ln/>
                <a:solidFill>
                  <a:srgbClr val="5BC4A0"/>
                </a:solidFill>
                <a:latin typeface="Courier New"/>
                <a:cs typeface="Courier New"/>
                <a:sym typeface="Courier New"/>
                <a:rtl val="0"/>
              </a:rPr>
              <a:t>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4D29A0B-214F-3E54-E41D-D756ED77F51D}"/>
              </a:ext>
            </a:extLst>
          </p:cNvPr>
          <p:cNvSpPr/>
          <p:nvPr/>
        </p:nvSpPr>
        <p:spPr>
          <a:xfrm>
            <a:off x="5244619" y="3828963"/>
            <a:ext cx="158263" cy="158263"/>
          </a:xfrm>
          <a:prstGeom prst="ellipse">
            <a:avLst/>
          </a:prstGeom>
          <a:solidFill>
            <a:srgbClr val="1A2030"/>
          </a:solidFill>
          <a:ln w="13188" cap="flat">
            <a:solidFill>
              <a:srgbClr val="E07B54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0426E3A-A00A-37C2-9F8E-0DD2479F1D3B}"/>
              </a:ext>
            </a:extLst>
          </p:cNvPr>
          <p:cNvSpPr txBox="1"/>
          <p:nvPr/>
        </p:nvSpPr>
        <p:spPr>
          <a:xfrm>
            <a:off x="5231427" y="3847491"/>
            <a:ext cx="173766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 b="1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3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C2957B74-D65D-32F6-FA0B-6B08D1B9613E}"/>
              </a:ext>
            </a:extLst>
          </p:cNvPr>
          <p:cNvSpPr/>
          <p:nvPr/>
        </p:nvSpPr>
        <p:spPr>
          <a:xfrm>
            <a:off x="7341607" y="3492654"/>
            <a:ext cx="158263" cy="158263"/>
          </a:xfrm>
          <a:prstGeom prst="ellipse">
            <a:avLst/>
          </a:prstGeom>
          <a:solidFill>
            <a:srgbClr val="1A2030"/>
          </a:solidFill>
          <a:ln w="13188" cap="flat">
            <a:solidFill>
              <a:srgbClr val="A78BFA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E2E501-6037-E90D-BD97-CE6AF4A6F45C}"/>
              </a:ext>
            </a:extLst>
          </p:cNvPr>
          <p:cNvSpPr txBox="1"/>
          <p:nvPr/>
        </p:nvSpPr>
        <p:spPr>
          <a:xfrm>
            <a:off x="7328415" y="3511182"/>
            <a:ext cx="173766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 b="1">
                <a:ln/>
                <a:solidFill>
                  <a:srgbClr val="A78BFA"/>
                </a:solidFill>
                <a:latin typeface="Courier New"/>
                <a:cs typeface="Courier New"/>
                <a:sym typeface="Courier New"/>
                <a:rtl val="0"/>
              </a:rPr>
              <a:t>4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42B2BD3-A928-B7A2-2348-5821543A4CE2}"/>
              </a:ext>
            </a:extLst>
          </p:cNvPr>
          <p:cNvSpPr/>
          <p:nvPr/>
        </p:nvSpPr>
        <p:spPr>
          <a:xfrm>
            <a:off x="5996369" y="2305679"/>
            <a:ext cx="1147409" cy="356092"/>
          </a:xfrm>
          <a:prstGeom prst="rect">
            <a:avLst/>
          </a:prstGeom>
          <a:solidFill>
            <a:srgbClr val="1A2030"/>
          </a:solidFill>
          <a:ln w="19783" cap="flat">
            <a:solidFill>
              <a:srgbClr val="E8C547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5B764F9-6E58-213B-1BDF-A929751821D6}"/>
              </a:ext>
            </a:extLst>
          </p:cNvPr>
          <p:cNvSpPr txBox="1"/>
          <p:nvPr/>
        </p:nvSpPr>
        <p:spPr>
          <a:xfrm>
            <a:off x="6189862" y="2348108"/>
            <a:ext cx="609782" cy="1366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38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1 - root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B96EC13-32F2-A6C0-602F-2A0244C94068}"/>
              </a:ext>
            </a:extLst>
          </p:cNvPr>
          <p:cNvSpPr txBox="1"/>
          <p:nvPr/>
        </p:nvSpPr>
        <p:spPr>
          <a:xfrm>
            <a:off x="6142375" y="2457766"/>
            <a:ext cx="685124" cy="1681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43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x1 &lt; 0.47 ?</a:t>
            </a:r>
          </a:p>
        </p:txBody>
      </p: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00ADE428-CCC4-C11B-CB50-99756D439218}"/>
              </a:ext>
            </a:extLst>
          </p:cNvPr>
          <p:cNvGrpSpPr/>
          <p:nvPr/>
        </p:nvGrpSpPr>
        <p:grpSpPr>
          <a:xfrm>
            <a:off x="5264402" y="2622205"/>
            <a:ext cx="2551995" cy="830882"/>
            <a:chOff x="7019202" y="2353273"/>
            <a:chExt cx="3402660" cy="110784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5D619C0-947F-E7CC-D6C1-48ED70E143DF}"/>
                </a:ext>
              </a:extLst>
            </p:cNvPr>
            <p:cNvSpPr/>
            <p:nvPr/>
          </p:nvSpPr>
          <p:spPr>
            <a:xfrm>
              <a:off x="7784141" y="2353273"/>
              <a:ext cx="764939" cy="448412"/>
            </a:xfrm>
            <a:custGeom>
              <a:avLst/>
              <a:gdLst>
                <a:gd name="csX0" fmla="*/ 764939 w 764939"/>
                <a:gd name="csY0" fmla="*/ 0 h 448412"/>
                <a:gd name="csX1" fmla="*/ 0 w 764939"/>
                <a:gd name="csY1" fmla="*/ 448413 h 4484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4939" h="448412">
                  <a:moveTo>
                    <a:pt x="764939" y="0"/>
                  </a:moveTo>
                  <a:lnTo>
                    <a:pt x="0" y="448413"/>
                  </a:lnTo>
                </a:path>
              </a:pathLst>
            </a:custGeom>
            <a:ln w="23739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2894AFB8-0C6F-4D54-759C-EF2EC3714C17}"/>
                </a:ext>
              </a:extLst>
            </p:cNvPr>
            <p:cNvSpPr/>
            <p:nvPr/>
          </p:nvSpPr>
          <p:spPr>
            <a:xfrm>
              <a:off x="8971116" y="2353273"/>
              <a:ext cx="764939" cy="685807"/>
            </a:xfrm>
            <a:custGeom>
              <a:avLst/>
              <a:gdLst>
                <a:gd name="csX0" fmla="*/ 0 w 764939"/>
                <a:gd name="csY0" fmla="*/ 0 h 685807"/>
                <a:gd name="csX1" fmla="*/ 764939 w 764939"/>
                <a:gd name="csY1" fmla="*/ 685808 h 6858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764939" h="685807">
                  <a:moveTo>
                    <a:pt x="0" y="0"/>
                  </a:moveTo>
                  <a:lnTo>
                    <a:pt x="764939" y="685808"/>
                  </a:lnTo>
                </a:path>
              </a:pathLst>
            </a:custGeom>
            <a:ln w="23739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E842105E-72A5-07C5-140A-9799CB3654AE}"/>
                </a:ext>
              </a:extLst>
            </p:cNvPr>
            <p:cNvSpPr txBox="1"/>
            <p:nvPr/>
          </p:nvSpPr>
          <p:spPr>
            <a:xfrm>
              <a:off x="7930097" y="2509865"/>
              <a:ext cx="325731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>
                  <a:ln/>
                  <a:solidFill>
                    <a:srgbClr val="3A4A5A"/>
                  </a:solidFill>
                  <a:latin typeface="Courier New"/>
                  <a:cs typeface="Courier New"/>
                  <a:sym typeface="Courier New"/>
                  <a:rtl val="0"/>
                </a:rPr>
                <a:t>yes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39BBA70-CC3F-C557-0875-A7C62A449E17}"/>
                </a:ext>
              </a:extLst>
            </p:cNvPr>
            <p:cNvSpPr txBox="1"/>
            <p:nvPr/>
          </p:nvSpPr>
          <p:spPr>
            <a:xfrm>
              <a:off x="9143449" y="2562618"/>
              <a:ext cx="278709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>
                  <a:ln/>
                  <a:solidFill>
                    <a:srgbClr val="3A4A5A"/>
                  </a:solidFill>
                  <a:latin typeface="Courier New"/>
                  <a:cs typeface="Courier New"/>
                  <a:sym typeface="Courier New"/>
                  <a:rtl val="0"/>
                </a:rPr>
                <a:t>no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902C353B-889A-E613-E275-64BBE3892859}"/>
                </a:ext>
              </a:extLst>
            </p:cNvPr>
            <p:cNvSpPr/>
            <p:nvPr/>
          </p:nvSpPr>
          <p:spPr>
            <a:xfrm>
              <a:off x="8166611" y="2458782"/>
              <a:ext cx="211017" cy="211017"/>
            </a:xfrm>
            <a:prstGeom prst="ellipse">
              <a:avLst/>
            </a:prstGeom>
            <a:solidFill>
              <a:srgbClr val="1A2030"/>
            </a:solidFill>
            <a:ln w="13188" cap="flat">
              <a:solidFill>
                <a:srgbClr val="E8C547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B959B44C-18A3-E821-177D-4A1A3DA442C5}"/>
                </a:ext>
              </a:extLst>
            </p:cNvPr>
            <p:cNvSpPr txBox="1"/>
            <p:nvPr/>
          </p:nvSpPr>
          <p:spPr>
            <a:xfrm>
              <a:off x="8149022" y="2483486"/>
              <a:ext cx="231688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 b="1">
                  <a:ln/>
                  <a:solidFill>
                    <a:srgbClr val="E8C547"/>
                  </a:solidFill>
                  <a:latin typeface="Courier New"/>
                  <a:cs typeface="Courier New"/>
                  <a:sym typeface="Courier New"/>
                  <a:rtl val="0"/>
                </a:rPr>
                <a:t>1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2432E18E-528E-5EAB-1809-C95BB2779D46}"/>
                </a:ext>
              </a:extLst>
            </p:cNvPr>
            <p:cNvSpPr/>
            <p:nvPr/>
          </p:nvSpPr>
          <p:spPr>
            <a:xfrm>
              <a:off x="7019202" y="2801686"/>
              <a:ext cx="1318860" cy="395658"/>
            </a:xfrm>
            <a:prstGeom prst="rect">
              <a:avLst/>
            </a:prstGeom>
            <a:solidFill>
              <a:srgbClr val="1A2030"/>
            </a:solidFill>
            <a:ln w="19783" cap="flat">
              <a:solidFill>
                <a:srgbClr val="5BC4A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DC3820B-538D-EAB6-4182-22B5EEB637D0}"/>
                </a:ext>
              </a:extLst>
            </p:cNvPr>
            <p:cNvSpPr txBox="1"/>
            <p:nvPr/>
          </p:nvSpPr>
          <p:spPr>
            <a:xfrm>
              <a:off x="7393289" y="2837370"/>
              <a:ext cx="483893" cy="17628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09">
                  <a:ln/>
                  <a:solidFill>
                    <a:srgbClr val="6B7A99"/>
                  </a:solidFill>
                  <a:latin typeface="Courier New"/>
                  <a:cs typeface="Courier New"/>
                  <a:sym typeface="Courier New"/>
                  <a:rtl val="0"/>
                </a:rPr>
                <a:t>split 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83A67EE-9C0E-BC29-7100-53184AAC48A2}"/>
                </a:ext>
              </a:extLst>
            </p:cNvPr>
            <p:cNvSpPr txBox="1"/>
            <p:nvPr/>
          </p:nvSpPr>
          <p:spPr>
            <a:xfrm>
              <a:off x="7108369" y="2964904"/>
              <a:ext cx="913499" cy="22425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43" b="1">
                  <a:ln/>
                  <a:solidFill>
                    <a:srgbClr val="FFFFFF"/>
                  </a:solidFill>
                  <a:latin typeface="Courier New"/>
                  <a:cs typeface="Courier New"/>
                  <a:sym typeface="Courier New"/>
                  <a:rtl val="0"/>
                </a:rPr>
                <a:t>x1 &lt; 0.31 ?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0D85BAF-2799-26BD-A460-3B06030140DE}"/>
                </a:ext>
              </a:extLst>
            </p:cNvPr>
            <p:cNvSpPr/>
            <p:nvPr/>
          </p:nvSpPr>
          <p:spPr>
            <a:xfrm>
              <a:off x="9103002" y="3065458"/>
              <a:ext cx="1318860" cy="395658"/>
            </a:xfrm>
            <a:prstGeom prst="rect">
              <a:avLst/>
            </a:prstGeom>
            <a:solidFill>
              <a:srgbClr val="1A2030"/>
            </a:solidFill>
            <a:ln w="19783" cap="flat">
              <a:solidFill>
                <a:srgbClr val="A78BFA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6458106B-6ACB-9FC7-A567-99BACAF67093}"/>
                </a:ext>
              </a:extLst>
            </p:cNvPr>
            <p:cNvSpPr txBox="1"/>
            <p:nvPr/>
          </p:nvSpPr>
          <p:spPr>
            <a:xfrm>
              <a:off x="9477089" y="3101143"/>
              <a:ext cx="483893" cy="17628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09">
                  <a:ln/>
                  <a:solidFill>
                    <a:srgbClr val="6B7A99"/>
                  </a:solidFill>
                  <a:latin typeface="Courier New"/>
                  <a:cs typeface="Courier New"/>
                  <a:sym typeface="Courier New"/>
                  <a:rtl val="0"/>
                </a:rPr>
                <a:t>split 4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5DD2EFAB-8E90-EBA9-6D83-04BB3B787E95}"/>
                </a:ext>
              </a:extLst>
            </p:cNvPr>
            <p:cNvSpPr txBox="1"/>
            <p:nvPr/>
          </p:nvSpPr>
          <p:spPr>
            <a:xfrm>
              <a:off x="9192169" y="3228676"/>
              <a:ext cx="913499" cy="22425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43" b="1">
                  <a:ln/>
                  <a:solidFill>
                    <a:srgbClr val="FFFFFF"/>
                  </a:solidFill>
                  <a:latin typeface="Courier New"/>
                  <a:cs typeface="Courier New"/>
                  <a:sym typeface="Courier New"/>
                  <a:rtl val="0"/>
                </a:rPr>
                <a:t>x1 &lt; 0.65 ?</a:t>
              </a:r>
            </a:p>
          </p:txBody>
        </p:sp>
      </p:grpSp>
      <p:sp>
        <p:nvSpPr>
          <p:cNvPr id="56" name="Rectangle 55">
            <a:extLst>
              <a:ext uri="{FF2B5EF4-FFF2-40B4-BE49-F238E27FC236}">
                <a16:creationId xmlns:a16="http://schemas.microsoft.com/office/drawing/2014/main" id="{DFFDB9C5-5B1E-6463-2BA7-5719896D90CA}"/>
              </a:ext>
            </a:extLst>
          </p:cNvPr>
          <p:cNvSpPr/>
          <p:nvPr/>
        </p:nvSpPr>
        <p:spPr>
          <a:xfrm>
            <a:off x="4947875" y="3571785"/>
            <a:ext cx="910013" cy="296744"/>
          </a:xfrm>
          <a:prstGeom prst="rect">
            <a:avLst/>
          </a:prstGeom>
          <a:solidFill>
            <a:srgbClr val="1A2030"/>
          </a:solidFill>
          <a:ln w="19783" cap="flat">
            <a:solidFill>
              <a:srgbClr val="E07B54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01604E0-7F1A-DB09-D13C-FFA0CA482088}"/>
              </a:ext>
            </a:extLst>
          </p:cNvPr>
          <p:cNvSpPr txBox="1"/>
          <p:nvPr/>
        </p:nvSpPr>
        <p:spPr>
          <a:xfrm>
            <a:off x="5188873" y="3598549"/>
            <a:ext cx="362920" cy="132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9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3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CF55155-19A5-770D-629A-2BDEFAED4293}"/>
              </a:ext>
            </a:extLst>
          </p:cNvPr>
          <p:cNvSpPr txBox="1"/>
          <p:nvPr/>
        </p:nvSpPr>
        <p:spPr>
          <a:xfrm>
            <a:off x="4975183" y="3694198"/>
            <a:ext cx="685124" cy="1681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43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x1 &lt; 0.16 ?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675C6B50-86ED-0C38-73E7-022B6E44A597}"/>
              </a:ext>
            </a:extLst>
          </p:cNvPr>
          <p:cNvSpPr/>
          <p:nvPr/>
        </p:nvSpPr>
        <p:spPr>
          <a:xfrm>
            <a:off x="4848960" y="4185055"/>
            <a:ext cx="613270" cy="435224"/>
          </a:xfrm>
          <a:prstGeom prst="rect">
            <a:avLst/>
          </a:prstGeom>
          <a:solidFill>
            <a:srgbClr val="E8C547">
              <a:alpha val="12000"/>
            </a:srgbClr>
          </a:solidFill>
          <a:ln w="19783" cap="flat">
            <a:solidFill>
              <a:srgbClr val="E8C547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FA3892-EB54-69E9-8E5B-5AD8721588D1}"/>
              </a:ext>
            </a:extLst>
          </p:cNvPr>
          <p:cNvSpPr txBox="1"/>
          <p:nvPr/>
        </p:nvSpPr>
        <p:spPr>
          <a:xfrm>
            <a:off x="5033593" y="4215132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R1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D1205FF-0CB8-75EF-C389-9861AE07AE75}"/>
              </a:ext>
            </a:extLst>
          </p:cNvPr>
          <p:cNvSpPr txBox="1"/>
          <p:nvPr/>
        </p:nvSpPr>
        <p:spPr>
          <a:xfrm>
            <a:off x="4886680" y="4346182"/>
            <a:ext cx="441468" cy="1366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38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x1 &lt; 0.16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1ED4887-7DD8-4383-8CEE-39E3239F2229}"/>
              </a:ext>
            </a:extLst>
          </p:cNvPr>
          <p:cNvSpPr txBox="1"/>
          <p:nvPr/>
        </p:nvSpPr>
        <p:spPr>
          <a:xfrm>
            <a:off x="4897069" y="4460762"/>
            <a:ext cx="420628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y = 0.21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A464078-1481-8991-55F9-8AC2B577695D}"/>
              </a:ext>
            </a:extLst>
          </p:cNvPr>
          <p:cNvSpPr/>
          <p:nvPr/>
        </p:nvSpPr>
        <p:spPr>
          <a:xfrm>
            <a:off x="5501796" y="4185055"/>
            <a:ext cx="613270" cy="435224"/>
          </a:xfrm>
          <a:prstGeom prst="rect">
            <a:avLst/>
          </a:prstGeom>
          <a:solidFill>
            <a:srgbClr val="5BC4A0">
              <a:alpha val="12000"/>
            </a:srgbClr>
          </a:solidFill>
          <a:ln w="19783" cap="flat">
            <a:solidFill>
              <a:srgbClr val="5BC4A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65EE450-9132-16A2-9601-429949F8BC17}"/>
              </a:ext>
            </a:extLst>
          </p:cNvPr>
          <p:cNvSpPr txBox="1"/>
          <p:nvPr/>
        </p:nvSpPr>
        <p:spPr>
          <a:xfrm>
            <a:off x="5686429" y="4215132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>
                <a:ln/>
                <a:solidFill>
                  <a:srgbClr val="5BC4A0"/>
                </a:solidFill>
                <a:latin typeface="Courier New"/>
                <a:cs typeface="Courier New"/>
                <a:sym typeface="Courier New"/>
                <a:rtl val="0"/>
              </a:rPr>
              <a:t>R2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3040202-43AB-C1C8-1C27-11E9B73EDD75}"/>
              </a:ext>
            </a:extLst>
          </p:cNvPr>
          <p:cNvSpPr txBox="1"/>
          <p:nvPr/>
        </p:nvSpPr>
        <p:spPr>
          <a:xfrm>
            <a:off x="5615199" y="4350299"/>
            <a:ext cx="330860" cy="132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9">
                <a:ln/>
                <a:solidFill>
                  <a:srgbClr val="5BC4A0"/>
                </a:solidFill>
                <a:latin typeface="Courier New"/>
                <a:cs typeface="Courier New"/>
                <a:sym typeface="Courier New"/>
                <a:rtl val="0"/>
              </a:rPr>
              <a:t>&lt; 0.31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50D143C7-CA53-30E3-48C9-83672F1E63C3}"/>
              </a:ext>
            </a:extLst>
          </p:cNvPr>
          <p:cNvSpPr txBox="1"/>
          <p:nvPr/>
        </p:nvSpPr>
        <p:spPr>
          <a:xfrm>
            <a:off x="5549905" y="4460762"/>
            <a:ext cx="420628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5BC4A0"/>
                </a:solidFill>
                <a:latin typeface="Courier New"/>
                <a:cs typeface="Courier New"/>
                <a:sym typeface="Courier New"/>
                <a:rtl val="0"/>
              </a:rPr>
              <a:t>y = 0.39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DC93FC7-94C9-6735-D6D2-AD8DF29E1613}"/>
              </a:ext>
            </a:extLst>
          </p:cNvPr>
          <p:cNvSpPr/>
          <p:nvPr/>
        </p:nvSpPr>
        <p:spPr>
          <a:xfrm>
            <a:off x="5897455" y="3769614"/>
            <a:ext cx="613270" cy="435224"/>
          </a:xfrm>
          <a:prstGeom prst="rect">
            <a:avLst/>
          </a:prstGeom>
          <a:solidFill>
            <a:srgbClr val="E07B54">
              <a:alpha val="12000"/>
            </a:srgbClr>
          </a:solidFill>
          <a:ln w="19783" cap="flat">
            <a:solidFill>
              <a:srgbClr val="E07B54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7259C1F-574B-FDA0-BC79-BE32F1045A7C}"/>
              </a:ext>
            </a:extLst>
          </p:cNvPr>
          <p:cNvSpPr txBox="1"/>
          <p:nvPr/>
        </p:nvSpPr>
        <p:spPr>
          <a:xfrm>
            <a:off x="6082087" y="3799691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R3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7806119-B5CA-C8E8-CC7E-394B60242449}"/>
              </a:ext>
            </a:extLst>
          </p:cNvPr>
          <p:cNvSpPr txBox="1"/>
          <p:nvPr/>
        </p:nvSpPr>
        <p:spPr>
          <a:xfrm>
            <a:off x="6010857" y="3934858"/>
            <a:ext cx="330860" cy="132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9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&lt; 0.47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92F520D-7B88-06DB-4592-8C64AF6D084A}"/>
              </a:ext>
            </a:extLst>
          </p:cNvPr>
          <p:cNvSpPr txBox="1"/>
          <p:nvPr/>
        </p:nvSpPr>
        <p:spPr>
          <a:xfrm>
            <a:off x="5945563" y="4045321"/>
            <a:ext cx="420628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y = 0.29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AF81B9C-5F09-01C2-19A7-E2010324D789}"/>
              </a:ext>
            </a:extLst>
          </p:cNvPr>
          <p:cNvSpPr/>
          <p:nvPr/>
        </p:nvSpPr>
        <p:spPr>
          <a:xfrm>
            <a:off x="6668988" y="3769614"/>
            <a:ext cx="613270" cy="435224"/>
          </a:xfrm>
          <a:prstGeom prst="rect">
            <a:avLst/>
          </a:prstGeom>
          <a:solidFill>
            <a:srgbClr val="A78BFA">
              <a:alpha val="12000"/>
            </a:srgbClr>
          </a:solidFill>
          <a:ln w="19783" cap="flat">
            <a:solidFill>
              <a:srgbClr val="A78BFA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DE1D92-EB8B-BA83-7D2A-0F5F68CFA5C2}"/>
              </a:ext>
            </a:extLst>
          </p:cNvPr>
          <p:cNvSpPr txBox="1"/>
          <p:nvPr/>
        </p:nvSpPr>
        <p:spPr>
          <a:xfrm>
            <a:off x="6853621" y="3799691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>
                <a:ln/>
                <a:solidFill>
                  <a:srgbClr val="A78BFA"/>
                </a:solidFill>
                <a:latin typeface="Courier New"/>
                <a:cs typeface="Courier New"/>
                <a:sym typeface="Courier New"/>
                <a:rtl val="0"/>
              </a:rPr>
              <a:t>R4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895D1C-1ED3-70E1-C30B-B116F830121A}"/>
              </a:ext>
            </a:extLst>
          </p:cNvPr>
          <p:cNvSpPr txBox="1"/>
          <p:nvPr/>
        </p:nvSpPr>
        <p:spPr>
          <a:xfrm>
            <a:off x="6782390" y="3934858"/>
            <a:ext cx="330860" cy="132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9">
                <a:ln/>
                <a:solidFill>
                  <a:srgbClr val="A78BFA"/>
                </a:solidFill>
                <a:latin typeface="Courier New"/>
                <a:cs typeface="Courier New"/>
                <a:sym typeface="Courier New"/>
                <a:rtl val="0"/>
              </a:rPr>
              <a:t>&lt; 0.65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3302535-F7A4-BE3E-55A3-365E3E026F7A}"/>
              </a:ext>
            </a:extLst>
          </p:cNvPr>
          <p:cNvSpPr txBox="1"/>
          <p:nvPr/>
        </p:nvSpPr>
        <p:spPr>
          <a:xfrm>
            <a:off x="6717096" y="4045321"/>
            <a:ext cx="420628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A78BFA"/>
                </a:solidFill>
                <a:latin typeface="Courier New"/>
                <a:cs typeface="Courier New"/>
                <a:sym typeface="Courier New"/>
                <a:rtl val="0"/>
              </a:rPr>
              <a:t>y = 0.54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DF9B386-6406-DE9F-3C82-3D5E5AEAA072}"/>
              </a:ext>
            </a:extLst>
          </p:cNvPr>
          <p:cNvSpPr/>
          <p:nvPr/>
        </p:nvSpPr>
        <p:spPr>
          <a:xfrm>
            <a:off x="7579002" y="3769614"/>
            <a:ext cx="613270" cy="435224"/>
          </a:xfrm>
          <a:prstGeom prst="rect">
            <a:avLst/>
          </a:prstGeom>
          <a:solidFill>
            <a:srgbClr val="64B5F6">
              <a:alpha val="12000"/>
            </a:srgbClr>
          </a:solidFill>
          <a:ln w="19783" cap="flat">
            <a:solidFill>
              <a:srgbClr val="64B5F6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4F49792-EE9F-CB85-2CB4-61FC71ADA17F}"/>
              </a:ext>
            </a:extLst>
          </p:cNvPr>
          <p:cNvSpPr txBox="1"/>
          <p:nvPr/>
        </p:nvSpPr>
        <p:spPr>
          <a:xfrm>
            <a:off x="7763635" y="3799691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R5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2B6F05-4E2B-07CC-2BEA-90E06188CF7D}"/>
              </a:ext>
            </a:extLst>
          </p:cNvPr>
          <p:cNvSpPr txBox="1"/>
          <p:nvPr/>
        </p:nvSpPr>
        <p:spPr>
          <a:xfrm>
            <a:off x="7609303" y="3934858"/>
            <a:ext cx="459100" cy="132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9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x1 &gt;= 0.65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BD7936F-AE3D-034A-B64E-6CC21C962810}"/>
              </a:ext>
            </a:extLst>
          </p:cNvPr>
          <p:cNvSpPr txBox="1"/>
          <p:nvPr/>
        </p:nvSpPr>
        <p:spPr>
          <a:xfrm>
            <a:off x="7627110" y="4045321"/>
            <a:ext cx="420628" cy="1411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7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y = 0.42</a:t>
            </a:r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3CD7FDDB-186D-E74C-4347-F8B86A300F8C}"/>
              </a:ext>
            </a:extLst>
          </p:cNvPr>
          <p:cNvSpPr/>
          <p:nvPr/>
        </p:nvSpPr>
        <p:spPr>
          <a:xfrm>
            <a:off x="4848960" y="4738976"/>
            <a:ext cx="3363095" cy="9891"/>
          </a:xfrm>
          <a:custGeom>
            <a:avLst/>
            <a:gdLst>
              <a:gd name="csX0" fmla="*/ 0 w 4484126"/>
              <a:gd name="csY0" fmla="*/ 0 h 13188"/>
              <a:gd name="csX1" fmla="*/ 4484126 w 4484126"/>
              <a:gd name="csY1" fmla="*/ 0 h 13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484126" h="13188">
                <a:moveTo>
                  <a:pt x="0" y="0"/>
                </a:moveTo>
                <a:lnTo>
                  <a:pt x="4484126" y="0"/>
                </a:lnTo>
              </a:path>
            </a:pathLst>
          </a:custGeom>
          <a:ln w="13188" cap="flat">
            <a:solidFill>
              <a:srgbClr val="1E2535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8E118838-E7DB-2AED-7C4C-B72E3FC34557}"/>
              </a:ext>
            </a:extLst>
          </p:cNvPr>
          <p:cNvGrpSpPr/>
          <p:nvPr/>
        </p:nvGrpSpPr>
        <p:grpSpPr>
          <a:xfrm>
            <a:off x="780264" y="1869559"/>
            <a:ext cx="3640055" cy="3196193"/>
            <a:chOff x="6280639" y="1466771"/>
            <a:chExt cx="4853407" cy="4261591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16E06E5-5B37-6DD8-7C82-059D5AD4D4CB}"/>
                </a:ext>
              </a:extLst>
            </p:cNvPr>
            <p:cNvSpPr/>
            <p:nvPr/>
          </p:nvSpPr>
          <p:spPr>
            <a:xfrm>
              <a:off x="6280639" y="1719026"/>
              <a:ext cx="4853407" cy="4009336"/>
            </a:xfrm>
            <a:prstGeom prst="rect">
              <a:avLst/>
            </a:prstGeom>
            <a:solidFill>
              <a:srgbClr val="13181F"/>
            </a:solidFill>
            <a:ln w="13188" cap="flat">
              <a:solidFill>
                <a:srgbClr val="252D3D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6DCEF3F-9EE9-EEFC-0E95-73D445F394E5}"/>
                </a:ext>
              </a:extLst>
            </p:cNvPr>
            <p:cNvSpPr txBox="1"/>
            <p:nvPr/>
          </p:nvSpPr>
          <p:spPr>
            <a:xfrm>
              <a:off x="7610812" y="1466771"/>
              <a:ext cx="1879660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 spc="156">
                  <a:ln/>
                  <a:solidFill>
                    <a:srgbClr val="6B7A99"/>
                  </a:solidFill>
                  <a:latin typeface="Courier New"/>
                  <a:cs typeface="Courier New"/>
                  <a:sym typeface="Courier New"/>
                  <a:rtl val="0"/>
                </a:rPr>
                <a:t>FEATURE SPACE PARTITION</a:t>
              </a: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151A3D4-7B59-66E3-63FF-4D6D11DF5A22}"/>
                </a:ext>
              </a:extLst>
            </p:cNvPr>
            <p:cNvSpPr/>
            <p:nvPr/>
          </p:nvSpPr>
          <p:spPr>
            <a:xfrm>
              <a:off x="6623543" y="5174441"/>
              <a:ext cx="4352240" cy="13188"/>
            </a:xfrm>
            <a:custGeom>
              <a:avLst/>
              <a:gdLst>
                <a:gd name="csX0" fmla="*/ 0 w 4352240"/>
                <a:gd name="csY0" fmla="*/ 0 h 13188"/>
                <a:gd name="csX1" fmla="*/ 4352240 w 4352240"/>
                <a:gd name="csY1" fmla="*/ 0 h 13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352240" h="13188">
                  <a:moveTo>
                    <a:pt x="0" y="0"/>
                  </a:moveTo>
                  <a:lnTo>
                    <a:pt x="4352240" y="0"/>
                  </a:lnTo>
                </a:path>
              </a:pathLst>
            </a:custGeom>
            <a:ln w="15826" cap="flat">
              <a:solidFill>
                <a:srgbClr val="252D3D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77C0D6F-87AA-D046-FC6A-4201E0395BFC}"/>
                </a:ext>
              </a:extLst>
            </p:cNvPr>
            <p:cNvSpPr/>
            <p:nvPr/>
          </p:nvSpPr>
          <p:spPr>
            <a:xfrm>
              <a:off x="6623543" y="1982799"/>
              <a:ext cx="13188" cy="3191642"/>
            </a:xfrm>
            <a:custGeom>
              <a:avLst/>
              <a:gdLst>
                <a:gd name="csX0" fmla="*/ 0 w 13188"/>
                <a:gd name="csY0" fmla="*/ 0 h 3191642"/>
                <a:gd name="csX1" fmla="*/ 0 w 13188"/>
                <a:gd name="csY1" fmla="*/ 3191643 h 3191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188" h="3191642">
                  <a:moveTo>
                    <a:pt x="0" y="0"/>
                  </a:moveTo>
                  <a:lnTo>
                    <a:pt x="0" y="3191643"/>
                  </a:lnTo>
                </a:path>
              </a:pathLst>
            </a:custGeom>
            <a:ln w="15826" cap="flat">
              <a:solidFill>
                <a:srgbClr val="252D3D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2848DDB4-F203-7696-46FC-A78BBE8AB3F8}"/>
                </a:ext>
              </a:extLst>
            </p:cNvPr>
            <p:cNvSpPr txBox="1"/>
            <p:nvPr/>
          </p:nvSpPr>
          <p:spPr>
            <a:xfrm>
              <a:off x="8352072" y="5293675"/>
              <a:ext cx="719000" cy="20022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526">
                  <a:ln/>
                  <a:solidFill>
                    <a:srgbClr val="58697A"/>
                  </a:solidFill>
                  <a:latin typeface="Courier New"/>
                  <a:cs typeface="Courier New"/>
                  <a:sym typeface="Courier New"/>
                  <a:rtl val="0"/>
                </a:rPr>
                <a:t>x1 (slope)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06CE0990-6A00-63B3-4DAF-F890D95F108C}"/>
                </a:ext>
              </a:extLst>
            </p:cNvPr>
            <p:cNvSpPr txBox="1"/>
            <p:nvPr/>
          </p:nvSpPr>
          <p:spPr>
            <a:xfrm rot="16200000">
              <a:off x="5967326" y="3478507"/>
              <a:ext cx="932733" cy="20022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526">
                  <a:ln/>
                  <a:solidFill>
                    <a:srgbClr val="58697A"/>
                  </a:solidFill>
                  <a:latin typeface="Courier New"/>
                  <a:cs typeface="Courier New"/>
                  <a:sym typeface="Courier New"/>
                  <a:rtl val="0"/>
                </a:rPr>
                <a:t>x2 (curvature)</a:t>
              </a: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A489DCA-468F-06D4-8AC4-23C9D9D00425}"/>
                </a:ext>
              </a:extLst>
            </p:cNvPr>
            <p:cNvSpPr/>
            <p:nvPr/>
          </p:nvSpPr>
          <p:spPr>
            <a:xfrm>
              <a:off x="6623543" y="1982799"/>
              <a:ext cx="685807" cy="2519023"/>
            </a:xfrm>
            <a:custGeom>
              <a:avLst/>
              <a:gdLst>
                <a:gd name="csX0" fmla="*/ 0 w 685807"/>
                <a:gd name="csY0" fmla="*/ 0 h 2519023"/>
                <a:gd name="csX1" fmla="*/ 685808 w 685807"/>
                <a:gd name="csY1" fmla="*/ 0 h 2519023"/>
                <a:gd name="csX2" fmla="*/ 685808 w 685807"/>
                <a:gd name="csY2" fmla="*/ 2519024 h 2519023"/>
                <a:gd name="csX3" fmla="*/ 0 w 685807"/>
                <a:gd name="csY3" fmla="*/ 2519024 h 25190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5807" h="2519023">
                  <a:moveTo>
                    <a:pt x="0" y="0"/>
                  </a:moveTo>
                  <a:lnTo>
                    <a:pt x="685808" y="0"/>
                  </a:lnTo>
                  <a:lnTo>
                    <a:pt x="685808" y="2519024"/>
                  </a:lnTo>
                  <a:lnTo>
                    <a:pt x="0" y="2519024"/>
                  </a:lnTo>
                  <a:close/>
                </a:path>
              </a:pathLst>
            </a:custGeom>
            <a:solidFill>
              <a:srgbClr val="64B5F6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9AD5BE7E-965A-1198-310C-E84435DE91F7}"/>
                </a:ext>
              </a:extLst>
            </p:cNvPr>
            <p:cNvSpPr/>
            <p:nvPr/>
          </p:nvSpPr>
          <p:spPr>
            <a:xfrm>
              <a:off x="7309351" y="1982799"/>
              <a:ext cx="659430" cy="1951913"/>
            </a:xfrm>
            <a:custGeom>
              <a:avLst/>
              <a:gdLst>
                <a:gd name="csX0" fmla="*/ 0 w 659430"/>
                <a:gd name="csY0" fmla="*/ 0 h 1951913"/>
                <a:gd name="csX1" fmla="*/ 659430 w 659430"/>
                <a:gd name="csY1" fmla="*/ 0 h 1951913"/>
                <a:gd name="csX2" fmla="*/ 659430 w 659430"/>
                <a:gd name="csY2" fmla="*/ 1951914 h 1951913"/>
                <a:gd name="csX3" fmla="*/ 0 w 659430"/>
                <a:gd name="csY3" fmla="*/ 1951914 h 195191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59430" h="1951913">
                  <a:moveTo>
                    <a:pt x="0" y="0"/>
                  </a:moveTo>
                  <a:lnTo>
                    <a:pt x="659430" y="0"/>
                  </a:lnTo>
                  <a:lnTo>
                    <a:pt x="659430" y="1951914"/>
                  </a:lnTo>
                  <a:lnTo>
                    <a:pt x="0" y="1951914"/>
                  </a:lnTo>
                  <a:close/>
                </a:path>
              </a:pathLst>
            </a:custGeom>
            <a:solidFill>
              <a:srgbClr val="64B5F6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8285431-5D39-CEB7-E732-D82D84BC1AD9}"/>
                </a:ext>
              </a:extLst>
            </p:cNvPr>
            <p:cNvSpPr/>
            <p:nvPr/>
          </p:nvSpPr>
          <p:spPr>
            <a:xfrm>
              <a:off x="7968781" y="1982799"/>
              <a:ext cx="685807" cy="2268440"/>
            </a:xfrm>
            <a:custGeom>
              <a:avLst/>
              <a:gdLst>
                <a:gd name="csX0" fmla="*/ 0 w 685807"/>
                <a:gd name="csY0" fmla="*/ 0 h 2268440"/>
                <a:gd name="csX1" fmla="*/ 685808 w 685807"/>
                <a:gd name="csY1" fmla="*/ 0 h 2268440"/>
                <a:gd name="csX2" fmla="*/ 685808 w 685807"/>
                <a:gd name="csY2" fmla="*/ 2268440 h 2268440"/>
                <a:gd name="csX3" fmla="*/ 0 w 685807"/>
                <a:gd name="csY3" fmla="*/ 2268440 h 226844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5807" h="2268440">
                  <a:moveTo>
                    <a:pt x="0" y="0"/>
                  </a:moveTo>
                  <a:lnTo>
                    <a:pt x="685808" y="0"/>
                  </a:lnTo>
                  <a:lnTo>
                    <a:pt x="685808" y="2268440"/>
                  </a:lnTo>
                  <a:lnTo>
                    <a:pt x="0" y="2268440"/>
                  </a:lnTo>
                  <a:close/>
                </a:path>
              </a:pathLst>
            </a:custGeom>
            <a:solidFill>
              <a:srgbClr val="64B5F6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80B56367-0EF6-636B-F63F-5C4532EAFF56}"/>
                </a:ext>
              </a:extLst>
            </p:cNvPr>
            <p:cNvSpPr/>
            <p:nvPr/>
          </p:nvSpPr>
          <p:spPr>
            <a:xfrm>
              <a:off x="8654589" y="1982799"/>
              <a:ext cx="778127" cy="1463935"/>
            </a:xfrm>
            <a:custGeom>
              <a:avLst/>
              <a:gdLst>
                <a:gd name="csX0" fmla="*/ 0 w 778127"/>
                <a:gd name="csY0" fmla="*/ 0 h 1463935"/>
                <a:gd name="csX1" fmla="*/ 778128 w 778127"/>
                <a:gd name="csY1" fmla="*/ 0 h 1463935"/>
                <a:gd name="csX2" fmla="*/ 778128 w 778127"/>
                <a:gd name="csY2" fmla="*/ 1463935 h 1463935"/>
                <a:gd name="csX3" fmla="*/ 0 w 778127"/>
                <a:gd name="csY3" fmla="*/ 1463935 h 146393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8127" h="1463935">
                  <a:moveTo>
                    <a:pt x="0" y="0"/>
                  </a:moveTo>
                  <a:lnTo>
                    <a:pt x="778128" y="0"/>
                  </a:lnTo>
                  <a:lnTo>
                    <a:pt x="778128" y="1463935"/>
                  </a:lnTo>
                  <a:lnTo>
                    <a:pt x="0" y="1463935"/>
                  </a:lnTo>
                  <a:close/>
                </a:path>
              </a:pathLst>
            </a:custGeom>
            <a:solidFill>
              <a:srgbClr val="64B5F6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ADD9EEF-D555-22AB-32D7-524E9EC2C4E0}"/>
                </a:ext>
              </a:extLst>
            </p:cNvPr>
            <p:cNvSpPr/>
            <p:nvPr/>
          </p:nvSpPr>
          <p:spPr>
            <a:xfrm>
              <a:off x="9432716" y="1982799"/>
              <a:ext cx="1543066" cy="1846404"/>
            </a:xfrm>
            <a:custGeom>
              <a:avLst/>
              <a:gdLst>
                <a:gd name="csX0" fmla="*/ 0 w 1543066"/>
                <a:gd name="csY0" fmla="*/ 0 h 1846404"/>
                <a:gd name="csX1" fmla="*/ 1543067 w 1543066"/>
                <a:gd name="csY1" fmla="*/ 0 h 1846404"/>
                <a:gd name="csX2" fmla="*/ 1543067 w 1543066"/>
                <a:gd name="csY2" fmla="*/ 1846405 h 1846404"/>
                <a:gd name="csX3" fmla="*/ 0 w 1543066"/>
                <a:gd name="csY3" fmla="*/ 1846405 h 184640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43066" h="1846404">
                  <a:moveTo>
                    <a:pt x="0" y="0"/>
                  </a:moveTo>
                  <a:lnTo>
                    <a:pt x="1543067" y="0"/>
                  </a:lnTo>
                  <a:lnTo>
                    <a:pt x="1543067" y="1846405"/>
                  </a:lnTo>
                  <a:lnTo>
                    <a:pt x="0" y="1846405"/>
                  </a:lnTo>
                  <a:close/>
                </a:path>
              </a:pathLst>
            </a:custGeom>
            <a:solidFill>
              <a:srgbClr val="64B5F6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27485EA-6978-CE9E-40B3-476F6B78C2F6}"/>
                </a:ext>
              </a:extLst>
            </p:cNvPr>
            <p:cNvSpPr/>
            <p:nvPr/>
          </p:nvSpPr>
          <p:spPr>
            <a:xfrm>
              <a:off x="6623543" y="4501822"/>
              <a:ext cx="685807" cy="672618"/>
            </a:xfrm>
            <a:custGeom>
              <a:avLst/>
              <a:gdLst>
                <a:gd name="csX0" fmla="*/ 0 w 685807"/>
                <a:gd name="csY0" fmla="*/ 0 h 672618"/>
                <a:gd name="csX1" fmla="*/ 685808 w 685807"/>
                <a:gd name="csY1" fmla="*/ 0 h 672618"/>
                <a:gd name="csX2" fmla="*/ 685808 w 685807"/>
                <a:gd name="csY2" fmla="*/ 672619 h 672618"/>
                <a:gd name="csX3" fmla="*/ 0 w 685807"/>
                <a:gd name="csY3" fmla="*/ 672619 h 6726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5807" h="672618">
                  <a:moveTo>
                    <a:pt x="0" y="0"/>
                  </a:moveTo>
                  <a:lnTo>
                    <a:pt x="685808" y="0"/>
                  </a:lnTo>
                  <a:lnTo>
                    <a:pt x="685808" y="672619"/>
                  </a:lnTo>
                  <a:lnTo>
                    <a:pt x="0" y="672619"/>
                  </a:lnTo>
                  <a:close/>
                </a:path>
              </a:pathLst>
            </a:custGeom>
            <a:solidFill>
              <a:srgbClr val="EF9A9A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78D6099A-AF0A-BBF5-8039-3A13DD8D2C84}"/>
                </a:ext>
              </a:extLst>
            </p:cNvPr>
            <p:cNvSpPr/>
            <p:nvPr/>
          </p:nvSpPr>
          <p:spPr>
            <a:xfrm>
              <a:off x="7309351" y="3934712"/>
              <a:ext cx="659430" cy="1239728"/>
            </a:xfrm>
            <a:custGeom>
              <a:avLst/>
              <a:gdLst>
                <a:gd name="csX0" fmla="*/ 0 w 659430"/>
                <a:gd name="csY0" fmla="*/ 0 h 1239728"/>
                <a:gd name="csX1" fmla="*/ 659430 w 659430"/>
                <a:gd name="csY1" fmla="*/ 0 h 1239728"/>
                <a:gd name="csX2" fmla="*/ 659430 w 659430"/>
                <a:gd name="csY2" fmla="*/ 1239729 h 1239728"/>
                <a:gd name="csX3" fmla="*/ 0 w 659430"/>
                <a:gd name="csY3" fmla="*/ 1239729 h 123972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59430" h="1239728">
                  <a:moveTo>
                    <a:pt x="0" y="0"/>
                  </a:moveTo>
                  <a:lnTo>
                    <a:pt x="659430" y="0"/>
                  </a:lnTo>
                  <a:lnTo>
                    <a:pt x="659430" y="1239729"/>
                  </a:lnTo>
                  <a:lnTo>
                    <a:pt x="0" y="1239729"/>
                  </a:lnTo>
                  <a:close/>
                </a:path>
              </a:pathLst>
            </a:custGeom>
            <a:solidFill>
              <a:srgbClr val="EF9A9A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841EC3DA-DF39-24E4-4582-6DF1431FF955}"/>
                </a:ext>
              </a:extLst>
            </p:cNvPr>
            <p:cNvSpPr/>
            <p:nvPr/>
          </p:nvSpPr>
          <p:spPr>
            <a:xfrm>
              <a:off x="7968781" y="4251239"/>
              <a:ext cx="685807" cy="923202"/>
            </a:xfrm>
            <a:custGeom>
              <a:avLst/>
              <a:gdLst>
                <a:gd name="csX0" fmla="*/ 0 w 685807"/>
                <a:gd name="csY0" fmla="*/ 0 h 923202"/>
                <a:gd name="csX1" fmla="*/ 685808 w 685807"/>
                <a:gd name="csY1" fmla="*/ 0 h 923202"/>
                <a:gd name="csX2" fmla="*/ 685808 w 685807"/>
                <a:gd name="csY2" fmla="*/ 923202 h 923202"/>
                <a:gd name="csX3" fmla="*/ 0 w 685807"/>
                <a:gd name="csY3" fmla="*/ 923202 h 92320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5807" h="923202">
                  <a:moveTo>
                    <a:pt x="0" y="0"/>
                  </a:moveTo>
                  <a:lnTo>
                    <a:pt x="685808" y="0"/>
                  </a:lnTo>
                  <a:lnTo>
                    <a:pt x="685808" y="923202"/>
                  </a:lnTo>
                  <a:lnTo>
                    <a:pt x="0" y="923202"/>
                  </a:lnTo>
                  <a:close/>
                </a:path>
              </a:pathLst>
            </a:custGeom>
            <a:solidFill>
              <a:srgbClr val="EF9A9A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C967F57A-A103-8A3E-59EE-2019079AD47C}"/>
                </a:ext>
              </a:extLst>
            </p:cNvPr>
            <p:cNvSpPr/>
            <p:nvPr/>
          </p:nvSpPr>
          <p:spPr>
            <a:xfrm>
              <a:off x="8654589" y="3446734"/>
              <a:ext cx="778127" cy="1727707"/>
            </a:xfrm>
            <a:custGeom>
              <a:avLst/>
              <a:gdLst>
                <a:gd name="csX0" fmla="*/ 0 w 778127"/>
                <a:gd name="csY0" fmla="*/ 0 h 1727707"/>
                <a:gd name="csX1" fmla="*/ 778128 w 778127"/>
                <a:gd name="csY1" fmla="*/ 0 h 1727707"/>
                <a:gd name="csX2" fmla="*/ 778128 w 778127"/>
                <a:gd name="csY2" fmla="*/ 1727707 h 1727707"/>
                <a:gd name="csX3" fmla="*/ 0 w 778127"/>
                <a:gd name="csY3" fmla="*/ 1727707 h 172770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8127" h="1727707">
                  <a:moveTo>
                    <a:pt x="0" y="0"/>
                  </a:moveTo>
                  <a:lnTo>
                    <a:pt x="778128" y="0"/>
                  </a:lnTo>
                  <a:lnTo>
                    <a:pt x="778128" y="1727707"/>
                  </a:lnTo>
                  <a:lnTo>
                    <a:pt x="0" y="1727707"/>
                  </a:lnTo>
                  <a:close/>
                </a:path>
              </a:pathLst>
            </a:custGeom>
            <a:solidFill>
              <a:srgbClr val="EF9A9A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1E629654-4199-A167-6FB0-909FFB57B928}"/>
                </a:ext>
              </a:extLst>
            </p:cNvPr>
            <p:cNvSpPr/>
            <p:nvPr/>
          </p:nvSpPr>
          <p:spPr>
            <a:xfrm>
              <a:off x="9432716" y="3829203"/>
              <a:ext cx="1543066" cy="1345237"/>
            </a:xfrm>
            <a:custGeom>
              <a:avLst/>
              <a:gdLst>
                <a:gd name="csX0" fmla="*/ 0 w 1543066"/>
                <a:gd name="csY0" fmla="*/ 0 h 1345237"/>
                <a:gd name="csX1" fmla="*/ 1543067 w 1543066"/>
                <a:gd name="csY1" fmla="*/ 0 h 1345237"/>
                <a:gd name="csX2" fmla="*/ 1543067 w 1543066"/>
                <a:gd name="csY2" fmla="*/ 1345238 h 1345237"/>
                <a:gd name="csX3" fmla="*/ 0 w 1543066"/>
                <a:gd name="csY3" fmla="*/ 1345238 h 134523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543066" h="1345237">
                  <a:moveTo>
                    <a:pt x="0" y="0"/>
                  </a:moveTo>
                  <a:lnTo>
                    <a:pt x="1543067" y="0"/>
                  </a:lnTo>
                  <a:lnTo>
                    <a:pt x="1543067" y="1345238"/>
                  </a:lnTo>
                  <a:lnTo>
                    <a:pt x="0" y="1345238"/>
                  </a:lnTo>
                  <a:close/>
                </a:path>
              </a:pathLst>
            </a:custGeom>
            <a:solidFill>
              <a:srgbClr val="EF9A9A">
                <a:alpha val="5000"/>
              </a:srgbClr>
            </a:solidFill>
            <a:ln w="13188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676D365-C69D-8C62-48A5-937E2C496DF6}"/>
                </a:ext>
              </a:extLst>
            </p:cNvPr>
            <p:cNvSpPr/>
            <p:nvPr/>
          </p:nvSpPr>
          <p:spPr>
            <a:xfrm>
              <a:off x="8654589" y="1982799"/>
              <a:ext cx="13188" cy="3191642"/>
            </a:xfrm>
            <a:custGeom>
              <a:avLst/>
              <a:gdLst>
                <a:gd name="csX0" fmla="*/ 0 w 13188"/>
                <a:gd name="csY0" fmla="*/ 0 h 3191642"/>
                <a:gd name="csX1" fmla="*/ 0 w 13188"/>
                <a:gd name="csY1" fmla="*/ 3191643 h 3191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188" h="3191642">
                  <a:moveTo>
                    <a:pt x="0" y="0"/>
                  </a:moveTo>
                  <a:lnTo>
                    <a:pt x="0" y="3191643"/>
                  </a:lnTo>
                </a:path>
              </a:pathLst>
            </a:custGeom>
            <a:ln w="23739" cap="flat">
              <a:solidFill>
                <a:srgbClr val="E8C547"/>
              </a:solidFill>
              <a:custDash>
                <a:ds d="450000" sp="225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DFC7D681-D5E1-C3F1-CF37-A4966831A8E7}"/>
                </a:ext>
              </a:extLst>
            </p:cNvPr>
            <p:cNvSpPr/>
            <p:nvPr/>
          </p:nvSpPr>
          <p:spPr>
            <a:xfrm>
              <a:off x="7968781" y="1982799"/>
              <a:ext cx="13188" cy="3191642"/>
            </a:xfrm>
            <a:custGeom>
              <a:avLst/>
              <a:gdLst>
                <a:gd name="csX0" fmla="*/ 0 w 13188"/>
                <a:gd name="csY0" fmla="*/ 0 h 3191642"/>
                <a:gd name="csX1" fmla="*/ 0 w 13188"/>
                <a:gd name="csY1" fmla="*/ 3191643 h 3191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188" h="3191642">
                  <a:moveTo>
                    <a:pt x="0" y="0"/>
                  </a:moveTo>
                  <a:lnTo>
                    <a:pt x="0" y="3191643"/>
                  </a:lnTo>
                </a:path>
              </a:pathLst>
            </a:custGeom>
            <a:ln w="19783" cap="flat">
              <a:solidFill>
                <a:srgbClr val="5BC4A0"/>
              </a:solidFill>
              <a:custDash>
                <a:ds d="375000" sp="225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8E481FC0-311B-1E29-C245-8EA46D59304E}"/>
                </a:ext>
              </a:extLst>
            </p:cNvPr>
            <p:cNvSpPr/>
            <p:nvPr/>
          </p:nvSpPr>
          <p:spPr>
            <a:xfrm>
              <a:off x="7309351" y="1982799"/>
              <a:ext cx="13188" cy="3191642"/>
            </a:xfrm>
            <a:custGeom>
              <a:avLst/>
              <a:gdLst>
                <a:gd name="csX0" fmla="*/ 0 w 13188"/>
                <a:gd name="csY0" fmla="*/ 0 h 3191642"/>
                <a:gd name="csX1" fmla="*/ 0 w 13188"/>
                <a:gd name="csY1" fmla="*/ 3191643 h 3191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188" h="3191642">
                  <a:moveTo>
                    <a:pt x="0" y="0"/>
                  </a:moveTo>
                  <a:lnTo>
                    <a:pt x="0" y="3191643"/>
                  </a:lnTo>
                </a:path>
              </a:pathLst>
            </a:custGeom>
            <a:ln w="19783" cap="flat">
              <a:solidFill>
                <a:srgbClr val="E07B54"/>
              </a:solidFill>
              <a:custDash>
                <a:ds d="375000" sp="225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CF9273F4-5467-119C-30E3-399D42B26848}"/>
                </a:ext>
              </a:extLst>
            </p:cNvPr>
            <p:cNvSpPr/>
            <p:nvPr/>
          </p:nvSpPr>
          <p:spPr>
            <a:xfrm>
              <a:off x="9432716" y="1982799"/>
              <a:ext cx="13188" cy="3191642"/>
            </a:xfrm>
            <a:custGeom>
              <a:avLst/>
              <a:gdLst>
                <a:gd name="csX0" fmla="*/ 0 w 13188"/>
                <a:gd name="csY0" fmla="*/ 0 h 3191642"/>
                <a:gd name="csX1" fmla="*/ 0 w 13188"/>
                <a:gd name="csY1" fmla="*/ 3191643 h 31916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188" h="3191642">
                  <a:moveTo>
                    <a:pt x="0" y="0"/>
                  </a:moveTo>
                  <a:lnTo>
                    <a:pt x="0" y="3191643"/>
                  </a:lnTo>
                </a:path>
              </a:pathLst>
            </a:custGeom>
            <a:ln w="19783" cap="flat">
              <a:solidFill>
                <a:srgbClr val="A78BFA"/>
              </a:solidFill>
              <a:custDash>
                <a:ds d="375000" sp="225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7603639E-2342-2B35-8590-0BEAF3EDB4D9}"/>
                </a:ext>
              </a:extLst>
            </p:cNvPr>
            <p:cNvSpPr/>
            <p:nvPr/>
          </p:nvSpPr>
          <p:spPr>
            <a:xfrm>
              <a:off x="6623543" y="3446734"/>
              <a:ext cx="4352240" cy="1055088"/>
            </a:xfrm>
            <a:custGeom>
              <a:avLst/>
              <a:gdLst>
                <a:gd name="csX0" fmla="*/ 0 w 4352240"/>
                <a:gd name="csY0" fmla="*/ 1055089 h 1055088"/>
                <a:gd name="csX1" fmla="*/ 685808 w 4352240"/>
                <a:gd name="csY1" fmla="*/ 1055089 h 1055088"/>
                <a:gd name="csX2" fmla="*/ 685808 w 4352240"/>
                <a:gd name="csY2" fmla="*/ 487978 h 1055088"/>
                <a:gd name="csX3" fmla="*/ 1345238 w 4352240"/>
                <a:gd name="csY3" fmla="*/ 487978 h 1055088"/>
                <a:gd name="csX4" fmla="*/ 1345238 w 4352240"/>
                <a:gd name="csY4" fmla="*/ 804505 h 1055088"/>
                <a:gd name="csX5" fmla="*/ 2031045 w 4352240"/>
                <a:gd name="csY5" fmla="*/ 804505 h 1055088"/>
                <a:gd name="csX6" fmla="*/ 2031045 w 4352240"/>
                <a:gd name="csY6" fmla="*/ 0 h 1055088"/>
                <a:gd name="csX7" fmla="*/ 2809173 w 4352240"/>
                <a:gd name="csY7" fmla="*/ 0 h 1055088"/>
                <a:gd name="csX8" fmla="*/ 2809173 w 4352240"/>
                <a:gd name="csY8" fmla="*/ 382470 h 1055088"/>
                <a:gd name="csX9" fmla="*/ 4352240 w 4352240"/>
                <a:gd name="csY9" fmla="*/ 382470 h 10550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352240" h="1055088">
                  <a:moveTo>
                    <a:pt x="0" y="1055089"/>
                  </a:moveTo>
                  <a:lnTo>
                    <a:pt x="685808" y="1055089"/>
                  </a:lnTo>
                  <a:lnTo>
                    <a:pt x="685808" y="487978"/>
                  </a:lnTo>
                  <a:lnTo>
                    <a:pt x="1345238" y="487978"/>
                  </a:lnTo>
                  <a:lnTo>
                    <a:pt x="1345238" y="804505"/>
                  </a:lnTo>
                  <a:lnTo>
                    <a:pt x="2031045" y="804505"/>
                  </a:lnTo>
                  <a:lnTo>
                    <a:pt x="2031045" y="0"/>
                  </a:lnTo>
                  <a:lnTo>
                    <a:pt x="2809173" y="0"/>
                  </a:lnTo>
                  <a:lnTo>
                    <a:pt x="2809173" y="382470"/>
                  </a:lnTo>
                  <a:lnTo>
                    <a:pt x="4352240" y="382470"/>
                  </a:lnTo>
                </a:path>
              </a:pathLst>
            </a:custGeom>
            <a:noFill/>
            <a:ln w="32971" cap="flat">
              <a:solidFill>
                <a:srgbClr val="EF9A9A"/>
              </a:solidFill>
              <a:prstDash val="solid"/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AF93E614-40EB-2360-F7D6-3E37BF7E61D7}"/>
                </a:ext>
              </a:extLst>
            </p:cNvPr>
            <p:cNvSpPr/>
            <p:nvPr/>
          </p:nvSpPr>
          <p:spPr>
            <a:xfrm>
              <a:off x="6623543" y="3775541"/>
              <a:ext cx="4352240" cy="897733"/>
            </a:xfrm>
            <a:custGeom>
              <a:avLst/>
              <a:gdLst>
                <a:gd name="csX0" fmla="*/ 0 w 4352240"/>
                <a:gd name="csY0" fmla="*/ 897734 h 897733"/>
                <a:gd name="csX1" fmla="*/ 2176120 w 4352240"/>
                <a:gd name="csY1" fmla="*/ 908 h 897733"/>
                <a:gd name="csX2" fmla="*/ 4352240 w 4352240"/>
                <a:gd name="csY2" fmla="*/ 159172 h 8977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4352240" h="897733">
                  <a:moveTo>
                    <a:pt x="0" y="897734"/>
                  </a:moveTo>
                  <a:cubicBezTo>
                    <a:pt x="659430" y="528453"/>
                    <a:pt x="1318861" y="-25469"/>
                    <a:pt x="2176120" y="908"/>
                  </a:cubicBezTo>
                  <a:cubicBezTo>
                    <a:pt x="2769607" y="27286"/>
                    <a:pt x="3494981" y="317435"/>
                    <a:pt x="4352240" y="159172"/>
                  </a:cubicBezTo>
                </a:path>
              </a:pathLst>
            </a:custGeom>
            <a:noFill/>
            <a:ln w="19783" cap="flat">
              <a:solidFill>
                <a:srgbClr val="FFFFFF">
                  <a:alpha val="18000"/>
                </a:srgbClr>
              </a:solidFill>
              <a:custDash>
                <a:ds d="375000" sp="30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80350C74-914A-28D5-9782-73884BAE8C15}"/>
                </a:ext>
              </a:extLst>
            </p:cNvPr>
            <p:cNvSpPr txBox="1"/>
            <p:nvPr/>
          </p:nvSpPr>
          <p:spPr>
            <a:xfrm>
              <a:off x="10462309" y="3722022"/>
              <a:ext cx="372752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>
                  <a:ln/>
                  <a:solidFill>
                    <a:srgbClr val="FFFFFF">
                      <a:alpha val="35000"/>
                    </a:srgbClr>
                  </a:solidFill>
                  <a:latin typeface="Courier New"/>
                  <a:cs typeface="Courier New"/>
                  <a:sym typeface="Courier New"/>
                  <a:rtl val="0"/>
                </a:rPr>
                <a:t>true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BEB78E12-8F64-288C-A70C-EE9B834A0454}"/>
                </a:ext>
              </a:extLst>
            </p:cNvPr>
            <p:cNvSpPr txBox="1"/>
            <p:nvPr/>
          </p:nvSpPr>
          <p:spPr>
            <a:xfrm>
              <a:off x="7083364" y="5206845"/>
              <a:ext cx="389851" cy="1943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97">
                  <a:ln/>
                  <a:solidFill>
                    <a:srgbClr val="E07B54"/>
                  </a:solidFill>
                  <a:latin typeface="Courier New"/>
                  <a:cs typeface="Courier New"/>
                  <a:sym typeface="Courier New"/>
                  <a:rtl val="0"/>
                </a:rPr>
                <a:t>0.16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3F31657-2F4C-D9B8-5558-4A9C3694E881}"/>
                </a:ext>
              </a:extLst>
            </p:cNvPr>
            <p:cNvSpPr txBox="1"/>
            <p:nvPr/>
          </p:nvSpPr>
          <p:spPr>
            <a:xfrm>
              <a:off x="7742795" y="5206845"/>
              <a:ext cx="389851" cy="1943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97">
                  <a:ln/>
                  <a:solidFill>
                    <a:srgbClr val="5BC4A0"/>
                  </a:solidFill>
                  <a:latin typeface="Courier New"/>
                  <a:cs typeface="Courier New"/>
                  <a:sym typeface="Courier New"/>
                  <a:rtl val="0"/>
                </a:rPr>
                <a:t>0.31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6CF9510D-2983-ECB1-E809-DF80E54708F9}"/>
                </a:ext>
              </a:extLst>
            </p:cNvPr>
            <p:cNvSpPr txBox="1"/>
            <p:nvPr/>
          </p:nvSpPr>
          <p:spPr>
            <a:xfrm>
              <a:off x="8428603" y="5206845"/>
              <a:ext cx="389851" cy="1943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97">
                  <a:ln/>
                  <a:solidFill>
                    <a:srgbClr val="E8C547"/>
                  </a:solidFill>
                  <a:latin typeface="Courier New"/>
                  <a:cs typeface="Courier New"/>
                  <a:sym typeface="Courier New"/>
                  <a:rtl val="0"/>
                </a:rPr>
                <a:t>0.47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4F697D89-E235-505C-B15D-3DBEF9E944C0}"/>
                </a:ext>
              </a:extLst>
            </p:cNvPr>
            <p:cNvSpPr txBox="1"/>
            <p:nvPr/>
          </p:nvSpPr>
          <p:spPr>
            <a:xfrm>
              <a:off x="9206731" y="5206845"/>
              <a:ext cx="389851" cy="19432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97">
                  <a:ln/>
                  <a:solidFill>
                    <a:srgbClr val="A78BFA"/>
                  </a:solidFill>
                  <a:latin typeface="Courier New"/>
                  <a:cs typeface="Courier New"/>
                  <a:sym typeface="Courier New"/>
                  <a:rtl val="0"/>
                </a:rPr>
                <a:t>0.65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1EA62781-842B-B5ED-8FD3-D63B4990174F}"/>
                </a:ext>
              </a:extLst>
            </p:cNvPr>
            <p:cNvSpPr txBox="1"/>
            <p:nvPr/>
          </p:nvSpPr>
          <p:spPr>
            <a:xfrm>
              <a:off x="6787948" y="3293424"/>
              <a:ext cx="317181" cy="22425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43" b="1">
                  <a:ln/>
                  <a:solidFill>
                    <a:srgbClr val="E8C547"/>
                  </a:solidFill>
                  <a:latin typeface="Courier New"/>
                  <a:cs typeface="Courier New"/>
                  <a:sym typeface="Courier New"/>
                  <a:rtl val="0"/>
                </a:rPr>
                <a:t>R1</a:t>
              </a: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0F54A2D8-E895-0429-C3A2-3AC27A2BDF9D}"/>
                </a:ext>
              </a:extLst>
            </p:cNvPr>
            <p:cNvSpPr txBox="1"/>
            <p:nvPr/>
          </p:nvSpPr>
          <p:spPr>
            <a:xfrm>
              <a:off x="7460567" y="2897767"/>
              <a:ext cx="317181" cy="22425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43" b="1">
                  <a:ln/>
                  <a:solidFill>
                    <a:srgbClr val="5BC4A0"/>
                  </a:solidFill>
                  <a:latin typeface="Courier New"/>
                  <a:cs typeface="Courier New"/>
                  <a:sym typeface="Courier New"/>
                  <a:rtl val="0"/>
                </a:rPr>
                <a:t>R2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9EEC0E7-51C9-E698-C3B6-93604D0EDB52}"/>
                </a:ext>
              </a:extLst>
            </p:cNvPr>
            <p:cNvSpPr txBox="1"/>
            <p:nvPr/>
          </p:nvSpPr>
          <p:spPr>
            <a:xfrm>
              <a:off x="8133186" y="3095596"/>
              <a:ext cx="317181" cy="22425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43" b="1">
                  <a:ln/>
                  <a:solidFill>
                    <a:srgbClr val="E07B54"/>
                  </a:solidFill>
                  <a:latin typeface="Courier New"/>
                  <a:cs typeface="Courier New"/>
                  <a:sym typeface="Courier New"/>
                  <a:rtl val="0"/>
                </a:rPr>
                <a:t>R3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80F935AC-F2CF-8966-82F1-0ECD8E4C500E}"/>
                </a:ext>
              </a:extLst>
            </p:cNvPr>
            <p:cNvSpPr txBox="1"/>
            <p:nvPr/>
          </p:nvSpPr>
          <p:spPr>
            <a:xfrm>
              <a:off x="8871749" y="2633995"/>
              <a:ext cx="317181" cy="22425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43" b="1">
                  <a:ln/>
                  <a:solidFill>
                    <a:srgbClr val="A78BFA"/>
                  </a:solidFill>
                  <a:latin typeface="Courier New"/>
                  <a:cs typeface="Courier New"/>
                  <a:sym typeface="Courier New"/>
                  <a:rtl val="0"/>
                </a:rPr>
                <a:t>R4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E7F3ABFC-D69E-AB0A-258E-2782F360C6AF}"/>
                </a:ext>
              </a:extLst>
            </p:cNvPr>
            <p:cNvSpPr txBox="1"/>
            <p:nvPr/>
          </p:nvSpPr>
          <p:spPr>
            <a:xfrm>
              <a:off x="10032345" y="2897767"/>
              <a:ext cx="317181" cy="22425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43" b="1">
                  <a:ln/>
                  <a:solidFill>
                    <a:srgbClr val="64B5F6"/>
                  </a:solidFill>
                  <a:latin typeface="Courier New"/>
                  <a:cs typeface="Courier New"/>
                  <a:sym typeface="Courier New"/>
                  <a:rtl val="0"/>
                </a:rPr>
                <a:t>R5</a:t>
              </a: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0CDA74C7-A26C-58E8-738A-B0B5EFCE176B}"/>
                </a:ext>
              </a:extLst>
            </p:cNvPr>
            <p:cNvSpPr/>
            <p:nvPr/>
          </p:nvSpPr>
          <p:spPr>
            <a:xfrm>
              <a:off x="6676298" y="4501822"/>
              <a:ext cx="580298" cy="13188"/>
            </a:xfrm>
            <a:custGeom>
              <a:avLst/>
              <a:gdLst>
                <a:gd name="csX0" fmla="*/ 0 w 580298"/>
                <a:gd name="csY0" fmla="*/ 0 h 13188"/>
                <a:gd name="csX1" fmla="*/ 580299 w 580298"/>
                <a:gd name="csY1" fmla="*/ 0 h 13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80298" h="13188">
                  <a:moveTo>
                    <a:pt x="0" y="0"/>
                  </a:moveTo>
                  <a:lnTo>
                    <a:pt x="580299" y="0"/>
                  </a:lnTo>
                </a:path>
              </a:pathLst>
            </a:custGeom>
            <a:ln w="13188" cap="flat">
              <a:solidFill>
                <a:srgbClr val="E8C547">
                  <a:alpha val="40000"/>
                </a:srgbClr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24AA2E92-C3DD-C76F-970C-1F05AC6B3500}"/>
                </a:ext>
              </a:extLst>
            </p:cNvPr>
            <p:cNvSpPr/>
            <p:nvPr/>
          </p:nvSpPr>
          <p:spPr>
            <a:xfrm>
              <a:off x="7362105" y="3934712"/>
              <a:ext cx="553921" cy="13188"/>
            </a:xfrm>
            <a:custGeom>
              <a:avLst/>
              <a:gdLst>
                <a:gd name="csX0" fmla="*/ 0 w 553921"/>
                <a:gd name="csY0" fmla="*/ 0 h 13188"/>
                <a:gd name="csX1" fmla="*/ 553922 w 553921"/>
                <a:gd name="csY1" fmla="*/ 0 h 13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53921" h="13188">
                  <a:moveTo>
                    <a:pt x="0" y="0"/>
                  </a:moveTo>
                  <a:lnTo>
                    <a:pt x="553922" y="0"/>
                  </a:lnTo>
                </a:path>
              </a:pathLst>
            </a:custGeom>
            <a:ln w="13188" cap="flat">
              <a:solidFill>
                <a:srgbClr val="5BC4A0">
                  <a:alpha val="40000"/>
                </a:srgbClr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4E99916D-C60F-9B56-EBFE-A69CE37A56BE}"/>
                </a:ext>
              </a:extLst>
            </p:cNvPr>
            <p:cNvSpPr/>
            <p:nvPr/>
          </p:nvSpPr>
          <p:spPr>
            <a:xfrm>
              <a:off x="8021536" y="4251239"/>
              <a:ext cx="580298" cy="13188"/>
            </a:xfrm>
            <a:custGeom>
              <a:avLst/>
              <a:gdLst>
                <a:gd name="csX0" fmla="*/ 0 w 580298"/>
                <a:gd name="csY0" fmla="*/ 0 h 13188"/>
                <a:gd name="csX1" fmla="*/ 580299 w 580298"/>
                <a:gd name="csY1" fmla="*/ 0 h 13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580298" h="13188">
                  <a:moveTo>
                    <a:pt x="0" y="0"/>
                  </a:moveTo>
                  <a:lnTo>
                    <a:pt x="580299" y="0"/>
                  </a:lnTo>
                </a:path>
              </a:pathLst>
            </a:custGeom>
            <a:ln w="13188" cap="flat">
              <a:solidFill>
                <a:srgbClr val="E07B54">
                  <a:alpha val="40000"/>
                </a:srgbClr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19139E91-A62D-E9F1-4329-69869BD39A1E}"/>
                </a:ext>
              </a:extLst>
            </p:cNvPr>
            <p:cNvSpPr/>
            <p:nvPr/>
          </p:nvSpPr>
          <p:spPr>
            <a:xfrm>
              <a:off x="8707343" y="3446734"/>
              <a:ext cx="672618" cy="13188"/>
            </a:xfrm>
            <a:custGeom>
              <a:avLst/>
              <a:gdLst>
                <a:gd name="csX0" fmla="*/ 0 w 672618"/>
                <a:gd name="csY0" fmla="*/ 0 h 13188"/>
                <a:gd name="csX1" fmla="*/ 672619 w 672618"/>
                <a:gd name="csY1" fmla="*/ 0 h 13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72618" h="13188">
                  <a:moveTo>
                    <a:pt x="0" y="0"/>
                  </a:moveTo>
                  <a:lnTo>
                    <a:pt x="672619" y="0"/>
                  </a:lnTo>
                </a:path>
              </a:pathLst>
            </a:custGeom>
            <a:ln w="13188" cap="flat">
              <a:solidFill>
                <a:srgbClr val="A78BFA">
                  <a:alpha val="40000"/>
                </a:srgbClr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3B720C46-86CA-278D-9655-6DB2892FE66A}"/>
                </a:ext>
              </a:extLst>
            </p:cNvPr>
            <p:cNvSpPr/>
            <p:nvPr/>
          </p:nvSpPr>
          <p:spPr>
            <a:xfrm>
              <a:off x="9485471" y="3829203"/>
              <a:ext cx="1437558" cy="13188"/>
            </a:xfrm>
            <a:custGeom>
              <a:avLst/>
              <a:gdLst>
                <a:gd name="csX0" fmla="*/ 0 w 1437558"/>
                <a:gd name="csY0" fmla="*/ 0 h 13188"/>
                <a:gd name="csX1" fmla="*/ 1437558 w 1437558"/>
                <a:gd name="csY1" fmla="*/ 0 h 131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37558" h="13188">
                  <a:moveTo>
                    <a:pt x="0" y="0"/>
                  </a:moveTo>
                  <a:lnTo>
                    <a:pt x="1437558" y="0"/>
                  </a:lnTo>
                </a:path>
              </a:pathLst>
            </a:custGeom>
            <a:ln w="13188" cap="flat">
              <a:solidFill>
                <a:srgbClr val="64B5F6">
                  <a:alpha val="40000"/>
                </a:srgbClr>
              </a:solidFill>
              <a:custDash>
                <a:ds d="150000" sp="15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16" name="Oval 115">
              <a:extLst>
                <a:ext uri="{FF2B5EF4-FFF2-40B4-BE49-F238E27FC236}">
                  <a16:creationId xmlns:a16="http://schemas.microsoft.com/office/drawing/2014/main" id="{032A158C-BCEE-CE47-28BA-3AC1ED299327}"/>
                </a:ext>
              </a:extLst>
            </p:cNvPr>
            <p:cNvSpPr/>
            <p:nvPr/>
          </p:nvSpPr>
          <p:spPr>
            <a:xfrm>
              <a:off x="8918361" y="2048742"/>
              <a:ext cx="237394" cy="237394"/>
            </a:xfrm>
            <a:prstGeom prst="ellipse">
              <a:avLst/>
            </a:prstGeom>
            <a:solidFill>
              <a:srgbClr val="1A2030"/>
            </a:solidFill>
            <a:ln w="15826" cap="flat">
              <a:solidFill>
                <a:srgbClr val="E8C547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7BF7D68C-B2C7-A796-527A-55DA948D120F}"/>
                </a:ext>
              </a:extLst>
            </p:cNvPr>
            <p:cNvSpPr txBox="1"/>
            <p:nvPr/>
          </p:nvSpPr>
          <p:spPr>
            <a:xfrm>
              <a:off x="8913961" y="2086635"/>
              <a:ext cx="231688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 b="1">
                  <a:ln/>
                  <a:solidFill>
                    <a:srgbClr val="E8C547"/>
                  </a:solidFill>
                  <a:latin typeface="Courier New"/>
                  <a:cs typeface="Courier New"/>
                  <a:sym typeface="Courier New"/>
                  <a:rtl val="0"/>
                </a:rPr>
                <a:t>1</a:t>
              </a:r>
            </a:p>
          </p:txBody>
        </p:sp>
        <p:sp>
          <p:nvSpPr>
            <p:cNvPr id="118" name="Oval 117">
              <a:extLst>
                <a:ext uri="{FF2B5EF4-FFF2-40B4-BE49-F238E27FC236}">
                  <a16:creationId xmlns:a16="http://schemas.microsoft.com/office/drawing/2014/main" id="{8E9188AC-141D-31E2-8E15-A5238F809EDF}"/>
                </a:ext>
              </a:extLst>
            </p:cNvPr>
            <p:cNvSpPr/>
            <p:nvPr/>
          </p:nvSpPr>
          <p:spPr>
            <a:xfrm>
              <a:off x="7520368" y="2048742"/>
              <a:ext cx="237394" cy="237394"/>
            </a:xfrm>
            <a:prstGeom prst="ellipse">
              <a:avLst/>
            </a:prstGeom>
            <a:solidFill>
              <a:srgbClr val="1A2030"/>
            </a:solidFill>
            <a:ln w="15826" cap="flat">
              <a:solidFill>
                <a:srgbClr val="5BC4A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73348BFF-1D22-BB9A-A5F5-AFDDC10EE964}"/>
                </a:ext>
              </a:extLst>
            </p:cNvPr>
            <p:cNvSpPr txBox="1"/>
            <p:nvPr/>
          </p:nvSpPr>
          <p:spPr>
            <a:xfrm>
              <a:off x="7515968" y="2086635"/>
              <a:ext cx="231688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 b="1">
                  <a:ln/>
                  <a:solidFill>
                    <a:srgbClr val="5BC4A0"/>
                  </a:solidFill>
                  <a:latin typeface="Courier New"/>
                  <a:cs typeface="Courier New"/>
                  <a:sym typeface="Courier New"/>
                  <a:rtl val="0"/>
                </a:rPr>
                <a:t>2</a:t>
              </a:r>
            </a:p>
          </p:txBody>
        </p:sp>
        <p:sp>
          <p:nvSpPr>
            <p:cNvPr id="120" name="Oval 119">
              <a:extLst>
                <a:ext uri="{FF2B5EF4-FFF2-40B4-BE49-F238E27FC236}">
                  <a16:creationId xmlns:a16="http://schemas.microsoft.com/office/drawing/2014/main" id="{1C52BC35-FC80-545B-84DB-D6E33AFDC39D}"/>
                </a:ext>
              </a:extLst>
            </p:cNvPr>
            <p:cNvSpPr/>
            <p:nvPr/>
          </p:nvSpPr>
          <p:spPr>
            <a:xfrm>
              <a:off x="6847750" y="2048742"/>
              <a:ext cx="237394" cy="237394"/>
            </a:xfrm>
            <a:prstGeom prst="ellipse">
              <a:avLst/>
            </a:prstGeom>
            <a:solidFill>
              <a:srgbClr val="1A2030"/>
            </a:solidFill>
            <a:ln w="15826" cap="flat">
              <a:solidFill>
                <a:srgbClr val="E07B54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2A6643E0-B7C1-4539-4FCC-B96B3639D289}"/>
                </a:ext>
              </a:extLst>
            </p:cNvPr>
            <p:cNvSpPr txBox="1"/>
            <p:nvPr/>
          </p:nvSpPr>
          <p:spPr>
            <a:xfrm>
              <a:off x="6843348" y="2086635"/>
              <a:ext cx="231688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 b="1">
                  <a:ln/>
                  <a:solidFill>
                    <a:srgbClr val="E07B54"/>
                  </a:solidFill>
                  <a:latin typeface="Courier New"/>
                  <a:cs typeface="Courier New"/>
                  <a:sym typeface="Courier New"/>
                  <a:rtl val="0"/>
                </a:rPr>
                <a:t>3</a:t>
              </a: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0915DD1F-4CA1-BABA-5144-6355BC2806BA}"/>
                </a:ext>
              </a:extLst>
            </p:cNvPr>
            <p:cNvSpPr/>
            <p:nvPr/>
          </p:nvSpPr>
          <p:spPr>
            <a:xfrm>
              <a:off x="10078958" y="2048742"/>
              <a:ext cx="237394" cy="237394"/>
            </a:xfrm>
            <a:prstGeom prst="ellipse">
              <a:avLst/>
            </a:prstGeom>
            <a:solidFill>
              <a:srgbClr val="1A2030"/>
            </a:solidFill>
            <a:ln w="15826" cap="flat">
              <a:solidFill>
                <a:srgbClr val="A78BFA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68B39D02-0EC3-ECE7-02E7-B65E53C9309B}"/>
                </a:ext>
              </a:extLst>
            </p:cNvPr>
            <p:cNvSpPr txBox="1"/>
            <p:nvPr/>
          </p:nvSpPr>
          <p:spPr>
            <a:xfrm>
              <a:off x="10074558" y="2086635"/>
              <a:ext cx="231688" cy="18817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7" b="1">
                  <a:ln/>
                  <a:solidFill>
                    <a:srgbClr val="A78BFA"/>
                  </a:solidFill>
                  <a:latin typeface="Courier New"/>
                  <a:cs typeface="Courier New"/>
                  <a:sym typeface="Courier New"/>
                  <a:rtl val="0"/>
                </a:rPr>
                <a:t>4</a:t>
              </a:r>
            </a:p>
          </p:txBody>
        </p:sp>
        <p:grpSp>
          <p:nvGrpSpPr>
            <p:cNvPr id="124" name="Graphic 12">
              <a:extLst>
                <a:ext uri="{FF2B5EF4-FFF2-40B4-BE49-F238E27FC236}">
                  <a16:creationId xmlns:a16="http://schemas.microsoft.com/office/drawing/2014/main" id="{D6EE5405-8C0B-9C51-B6AB-B0DA0937F1D8}"/>
                </a:ext>
              </a:extLst>
            </p:cNvPr>
            <p:cNvGrpSpPr/>
            <p:nvPr/>
          </p:nvGrpSpPr>
          <p:grpSpPr>
            <a:xfrm>
              <a:off x="6860938" y="2457588"/>
              <a:ext cx="3877450" cy="1028711"/>
              <a:chOff x="6860938" y="2457588"/>
              <a:chExt cx="3877450" cy="1028711"/>
            </a:xfrm>
            <a:solidFill>
              <a:srgbClr val="64B5F6">
                <a:alpha val="88000"/>
              </a:srgbClr>
            </a:solidFill>
          </p:grpSpPr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E1FF985F-4CE3-0C44-0944-41F8E0B61993}"/>
                  </a:ext>
                </a:extLst>
              </p:cNvPr>
              <p:cNvSpPr/>
              <p:nvPr/>
            </p:nvSpPr>
            <p:spPr>
              <a:xfrm>
                <a:off x="6860938" y="3380791"/>
                <a:ext cx="105508" cy="105508"/>
              </a:xfrm>
              <a:prstGeom prst="ellipse">
                <a:avLst/>
              </a:prstGeom>
              <a:solidFill>
                <a:srgbClr val="64B5F6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08DBE8C9-8BE0-22DD-2FD1-ED0D6AC92F02}"/>
                  </a:ext>
                </a:extLst>
              </p:cNvPr>
              <p:cNvSpPr/>
              <p:nvPr/>
            </p:nvSpPr>
            <p:spPr>
              <a:xfrm>
                <a:off x="7625877" y="3011510"/>
                <a:ext cx="105508" cy="105508"/>
              </a:xfrm>
              <a:prstGeom prst="ellipse">
                <a:avLst/>
              </a:prstGeom>
              <a:solidFill>
                <a:srgbClr val="64B5F6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93251785-7D0B-E81E-004C-8FAAC55D4C77}"/>
                  </a:ext>
                </a:extLst>
              </p:cNvPr>
              <p:cNvSpPr/>
              <p:nvPr/>
            </p:nvSpPr>
            <p:spPr>
              <a:xfrm>
                <a:off x="7071956" y="2668606"/>
                <a:ext cx="105508" cy="105508"/>
              </a:xfrm>
              <a:prstGeom prst="ellipse">
                <a:avLst/>
              </a:prstGeom>
              <a:solidFill>
                <a:srgbClr val="64B5F6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A1FA0A80-6657-71B1-4699-23D230B17DCF}"/>
                  </a:ext>
                </a:extLst>
              </p:cNvPr>
              <p:cNvSpPr/>
              <p:nvPr/>
            </p:nvSpPr>
            <p:spPr>
              <a:xfrm>
                <a:off x="8232553" y="3248905"/>
                <a:ext cx="105508" cy="105508"/>
              </a:xfrm>
              <a:prstGeom prst="ellipse">
                <a:avLst/>
              </a:prstGeom>
              <a:solidFill>
                <a:srgbClr val="64B5F6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1EB82CE9-D5E0-F62B-409C-A1505D968438}"/>
                  </a:ext>
                </a:extLst>
              </p:cNvPr>
              <p:cNvSpPr/>
              <p:nvPr/>
            </p:nvSpPr>
            <p:spPr>
              <a:xfrm>
                <a:off x="8971115" y="2563097"/>
                <a:ext cx="105508" cy="105508"/>
              </a:xfrm>
              <a:prstGeom prst="ellipse">
                <a:avLst/>
              </a:prstGeom>
              <a:solidFill>
                <a:srgbClr val="64B5F6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CF33B432-9F93-58FE-0C76-B45439987FC4}"/>
                  </a:ext>
                </a:extLst>
              </p:cNvPr>
              <p:cNvSpPr/>
              <p:nvPr/>
            </p:nvSpPr>
            <p:spPr>
              <a:xfrm>
                <a:off x="10210844" y="2879624"/>
                <a:ext cx="105508" cy="105508"/>
              </a:xfrm>
              <a:prstGeom prst="ellipse">
                <a:avLst/>
              </a:prstGeom>
              <a:solidFill>
                <a:srgbClr val="64B5F6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6AAF37CC-1F0B-31B9-2100-832AE70749E4}"/>
                  </a:ext>
                </a:extLst>
              </p:cNvPr>
              <p:cNvSpPr/>
              <p:nvPr/>
            </p:nvSpPr>
            <p:spPr>
              <a:xfrm>
                <a:off x="10632880" y="2457588"/>
                <a:ext cx="105508" cy="105508"/>
              </a:xfrm>
              <a:prstGeom prst="ellipse">
                <a:avLst/>
              </a:prstGeom>
              <a:solidFill>
                <a:srgbClr val="64B5F6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132" name="Graphic 12">
              <a:extLst>
                <a:ext uri="{FF2B5EF4-FFF2-40B4-BE49-F238E27FC236}">
                  <a16:creationId xmlns:a16="http://schemas.microsoft.com/office/drawing/2014/main" id="{1F729AAA-FA4E-9458-11FA-45DE761C4EC0}"/>
                </a:ext>
              </a:extLst>
            </p:cNvPr>
            <p:cNvGrpSpPr/>
            <p:nvPr/>
          </p:nvGrpSpPr>
          <p:grpSpPr>
            <a:xfrm>
              <a:off x="6755429" y="4409502"/>
              <a:ext cx="4114845" cy="527544"/>
              <a:chOff x="6755429" y="4409502"/>
              <a:chExt cx="4114845" cy="527544"/>
            </a:xfrm>
            <a:solidFill>
              <a:srgbClr val="EF9A9A">
                <a:alpha val="88000"/>
              </a:srgbClr>
            </a:solidFill>
          </p:grpSpPr>
          <p:sp>
            <p:nvSpPr>
              <p:cNvPr id="133" name="Oval 132">
                <a:extLst>
                  <a:ext uri="{FF2B5EF4-FFF2-40B4-BE49-F238E27FC236}">
                    <a16:creationId xmlns:a16="http://schemas.microsoft.com/office/drawing/2014/main" id="{C00B8C07-147C-5888-E766-0E05CE25FDA0}"/>
                  </a:ext>
                </a:extLst>
              </p:cNvPr>
              <p:cNvSpPr/>
              <p:nvPr/>
            </p:nvSpPr>
            <p:spPr>
              <a:xfrm>
                <a:off x="6755429" y="4831537"/>
                <a:ext cx="105508" cy="105508"/>
              </a:xfrm>
              <a:prstGeom prst="ellipse">
                <a:avLst/>
              </a:prstGeom>
              <a:solidFill>
                <a:srgbClr val="EF9A9A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6228CD1B-785B-1DDD-170D-7E9F5A60A1A2}"/>
                  </a:ext>
                </a:extLst>
              </p:cNvPr>
              <p:cNvSpPr/>
              <p:nvPr/>
            </p:nvSpPr>
            <p:spPr>
              <a:xfrm>
                <a:off x="6966447" y="4673274"/>
                <a:ext cx="105508" cy="105508"/>
              </a:xfrm>
              <a:prstGeom prst="ellipse">
                <a:avLst/>
              </a:prstGeom>
              <a:solidFill>
                <a:srgbClr val="EF9A9A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B9B3B2CB-04AA-0537-B647-B97BF6390DA9}"/>
                  </a:ext>
                </a:extLst>
              </p:cNvPr>
              <p:cNvSpPr/>
              <p:nvPr/>
            </p:nvSpPr>
            <p:spPr>
              <a:xfrm>
                <a:off x="7546746" y="4567765"/>
                <a:ext cx="105508" cy="105508"/>
              </a:xfrm>
              <a:prstGeom prst="ellipse">
                <a:avLst/>
              </a:prstGeom>
              <a:solidFill>
                <a:srgbClr val="EF9A9A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252FF8B1-CC0D-D575-8299-5D7B80B0A4B2}"/>
                  </a:ext>
                </a:extLst>
              </p:cNvPr>
              <p:cNvSpPr/>
              <p:nvPr/>
            </p:nvSpPr>
            <p:spPr>
              <a:xfrm>
                <a:off x="8179799" y="4726029"/>
                <a:ext cx="105508" cy="105508"/>
              </a:xfrm>
              <a:prstGeom prst="ellipse">
                <a:avLst/>
              </a:prstGeom>
              <a:solidFill>
                <a:srgbClr val="EF9A9A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61A61E04-250C-7C09-FB28-E99FC997DA23}"/>
                  </a:ext>
                </a:extLst>
              </p:cNvPr>
              <p:cNvSpPr/>
              <p:nvPr/>
            </p:nvSpPr>
            <p:spPr>
              <a:xfrm>
                <a:off x="8417194" y="4488634"/>
                <a:ext cx="105508" cy="105508"/>
              </a:xfrm>
              <a:prstGeom prst="ellipse">
                <a:avLst/>
              </a:prstGeom>
              <a:solidFill>
                <a:srgbClr val="EF9A9A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38" name="Oval 137">
                <a:extLst>
                  <a:ext uri="{FF2B5EF4-FFF2-40B4-BE49-F238E27FC236}">
                    <a16:creationId xmlns:a16="http://schemas.microsoft.com/office/drawing/2014/main" id="{9CF84C59-12D4-A258-3F24-7B1B87523819}"/>
                  </a:ext>
                </a:extLst>
              </p:cNvPr>
              <p:cNvSpPr/>
              <p:nvPr/>
            </p:nvSpPr>
            <p:spPr>
              <a:xfrm>
                <a:off x="9050247" y="4409502"/>
                <a:ext cx="105508" cy="105508"/>
              </a:xfrm>
              <a:prstGeom prst="ellipse">
                <a:avLst/>
              </a:prstGeom>
              <a:solidFill>
                <a:srgbClr val="EF9A9A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39" name="Oval 138">
                <a:extLst>
                  <a:ext uri="{FF2B5EF4-FFF2-40B4-BE49-F238E27FC236}">
                    <a16:creationId xmlns:a16="http://schemas.microsoft.com/office/drawing/2014/main" id="{F0F86094-33EF-DD08-AC31-D9B126A866D7}"/>
                  </a:ext>
                </a:extLst>
              </p:cNvPr>
              <p:cNvSpPr/>
              <p:nvPr/>
            </p:nvSpPr>
            <p:spPr>
              <a:xfrm>
                <a:off x="10263599" y="4515011"/>
                <a:ext cx="105508" cy="105508"/>
              </a:xfrm>
              <a:prstGeom prst="ellipse">
                <a:avLst/>
              </a:prstGeom>
              <a:solidFill>
                <a:srgbClr val="EF9A9A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40" name="Oval 139">
                <a:extLst>
                  <a:ext uri="{FF2B5EF4-FFF2-40B4-BE49-F238E27FC236}">
                    <a16:creationId xmlns:a16="http://schemas.microsoft.com/office/drawing/2014/main" id="{89CA75B9-A535-7636-0328-CD455D2DC488}"/>
                  </a:ext>
                </a:extLst>
              </p:cNvPr>
              <p:cNvSpPr/>
              <p:nvPr/>
            </p:nvSpPr>
            <p:spPr>
              <a:xfrm>
                <a:off x="10764766" y="4699651"/>
                <a:ext cx="105508" cy="105508"/>
              </a:xfrm>
              <a:prstGeom prst="ellipse">
                <a:avLst/>
              </a:prstGeom>
              <a:solidFill>
                <a:srgbClr val="EF9A9A">
                  <a:alpha val="88000"/>
                </a:srgbClr>
              </a:solidFill>
              <a:ln w="13188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</p:grpSp>
      </p:grpSp>
      <p:sp>
        <p:nvSpPr>
          <p:cNvPr id="141" name="Freeform: Shape 140">
            <a:extLst>
              <a:ext uri="{FF2B5EF4-FFF2-40B4-BE49-F238E27FC236}">
                <a16:creationId xmlns:a16="http://schemas.microsoft.com/office/drawing/2014/main" id="{69A178E4-0C5E-4BF8-9C44-21054AEDA334}"/>
              </a:ext>
            </a:extLst>
          </p:cNvPr>
          <p:cNvSpPr/>
          <p:nvPr/>
        </p:nvSpPr>
        <p:spPr>
          <a:xfrm>
            <a:off x="4433519" y="3541215"/>
            <a:ext cx="197829" cy="9891"/>
          </a:xfrm>
          <a:custGeom>
            <a:avLst/>
            <a:gdLst>
              <a:gd name="csX0" fmla="*/ 0 w 263772"/>
              <a:gd name="csY0" fmla="*/ 0 h 13188"/>
              <a:gd name="csX1" fmla="*/ 263772 w 263772"/>
              <a:gd name="csY1" fmla="*/ 0 h 13188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263772" h="13188">
                <a:moveTo>
                  <a:pt x="0" y="0"/>
                </a:moveTo>
                <a:lnTo>
                  <a:pt x="263772" y="0"/>
                </a:lnTo>
              </a:path>
            </a:pathLst>
          </a:custGeom>
          <a:ln w="19783" cap="flat">
            <a:solidFill>
              <a:srgbClr val="2A314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2" name="Freeform: Shape 141">
            <a:extLst>
              <a:ext uri="{FF2B5EF4-FFF2-40B4-BE49-F238E27FC236}">
                <a16:creationId xmlns:a16="http://schemas.microsoft.com/office/drawing/2014/main" id="{3B6090CC-BF94-70D3-206F-CE139A59D878}"/>
              </a:ext>
            </a:extLst>
          </p:cNvPr>
          <p:cNvSpPr/>
          <p:nvPr/>
        </p:nvSpPr>
        <p:spPr>
          <a:xfrm>
            <a:off x="4631348" y="3501649"/>
            <a:ext cx="79131" cy="79131"/>
          </a:xfrm>
          <a:custGeom>
            <a:avLst/>
            <a:gdLst>
              <a:gd name="csX0" fmla="*/ 0 w 105508"/>
              <a:gd name="csY0" fmla="*/ 0 h 105508"/>
              <a:gd name="csX1" fmla="*/ 105509 w 105508"/>
              <a:gd name="csY1" fmla="*/ 52754 h 105508"/>
              <a:gd name="csX2" fmla="*/ 0 w 105508"/>
              <a:gd name="csY2" fmla="*/ 105509 h 1055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5508" h="105508">
                <a:moveTo>
                  <a:pt x="0" y="0"/>
                </a:moveTo>
                <a:lnTo>
                  <a:pt x="105509" y="52754"/>
                </a:lnTo>
                <a:lnTo>
                  <a:pt x="0" y="105509"/>
                </a:lnTo>
                <a:close/>
              </a:path>
            </a:pathLst>
          </a:custGeom>
          <a:solidFill>
            <a:srgbClr val="2A3140"/>
          </a:solidFill>
          <a:ln w="1318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8732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BCEAC-8350-A883-EAE2-1A3A8D818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FD15151-DD2D-8C71-DF03-3DE8CB0C8DC4}"/>
              </a:ext>
            </a:extLst>
          </p:cNvPr>
          <p:cNvSpPr/>
          <p:nvPr/>
        </p:nvSpPr>
        <p:spPr>
          <a:xfrm>
            <a:off x="0" y="857250"/>
            <a:ext cx="9141714" cy="617220"/>
          </a:xfrm>
          <a:prstGeom prst="rect">
            <a:avLst/>
          </a:prstGeom>
          <a:solidFill>
            <a:srgbClr val="0C0F14"/>
          </a:solidFill>
          <a:ln w="12700">
            <a:solidFill>
              <a:srgbClr val="0C0F1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6BCE9EB-ECD3-BE32-5757-54824B022C2C}"/>
              </a:ext>
            </a:extLst>
          </p:cNvPr>
          <p:cNvSpPr/>
          <p:nvPr/>
        </p:nvSpPr>
        <p:spPr>
          <a:xfrm>
            <a:off x="0" y="1474470"/>
            <a:ext cx="9141714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46B799C-C54C-823B-8968-2117F24775FC}"/>
              </a:ext>
            </a:extLst>
          </p:cNvPr>
          <p:cNvSpPr/>
          <p:nvPr/>
        </p:nvSpPr>
        <p:spPr>
          <a:xfrm>
            <a:off x="274320" y="898398"/>
            <a:ext cx="5897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 &amp; the Staircase Problem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A61B45C-DA6C-00FE-E69D-4DD8F0CD915C}"/>
              </a:ext>
            </a:extLst>
          </p:cNvPr>
          <p:cNvSpPr/>
          <p:nvPr/>
        </p:nvSpPr>
        <p:spPr>
          <a:xfrm>
            <a:off x="274320" y="1255014"/>
            <a:ext cx="5897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kern="0" spc="38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averaging many weak learners produces smooth, low-variance predictions</a:t>
            </a:r>
            <a:endParaRPr lang="en-US" sz="7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8F681B1-6167-57CE-A288-C6444620C639}"/>
              </a:ext>
            </a:extLst>
          </p:cNvPr>
          <p:cNvSpPr/>
          <p:nvPr/>
        </p:nvSpPr>
        <p:spPr>
          <a:xfrm>
            <a:off x="6013475" y="1042416"/>
            <a:ext cx="565785" cy="219456"/>
          </a:xfrm>
          <a:prstGeom prst="rect">
            <a:avLst/>
          </a:prstGeom>
          <a:solidFill>
            <a:srgbClr val="13181F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69ED850-3CD4-0E32-B918-84C6E6B96F70}"/>
              </a:ext>
            </a:extLst>
          </p:cNvPr>
          <p:cNvSpPr/>
          <p:nvPr/>
        </p:nvSpPr>
        <p:spPr>
          <a:xfrm>
            <a:off x="6013475" y="1042416"/>
            <a:ext cx="5657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kern="0" spc="113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BAGGING</a:t>
            </a:r>
            <a:endParaRPr lang="en-US" sz="488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D71A3A1-782F-3887-8F5E-22A70527DFBA}"/>
              </a:ext>
            </a:extLst>
          </p:cNvPr>
          <p:cNvSpPr/>
          <p:nvPr/>
        </p:nvSpPr>
        <p:spPr>
          <a:xfrm>
            <a:off x="6752228" y="1042416"/>
            <a:ext cx="874395" cy="219456"/>
          </a:xfrm>
          <a:prstGeom prst="rect">
            <a:avLst/>
          </a:prstGeom>
          <a:solidFill>
            <a:srgbClr val="13181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C50C3A-0FCE-C33B-8F1D-10200EDF508D}"/>
              </a:ext>
            </a:extLst>
          </p:cNvPr>
          <p:cNvSpPr/>
          <p:nvPr/>
        </p:nvSpPr>
        <p:spPr>
          <a:xfrm>
            <a:off x="6752228" y="1042416"/>
            <a:ext cx="8743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kern="0" spc="113" dirty="0">
                <a:solidFill>
                  <a:srgbClr val="FFD5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FOREST</a:t>
            </a:r>
            <a:endParaRPr lang="en-US" sz="488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9ABC9E2-E851-5EB4-6B88-5EA4965299AA}"/>
              </a:ext>
            </a:extLst>
          </p:cNvPr>
          <p:cNvSpPr/>
          <p:nvPr/>
        </p:nvSpPr>
        <p:spPr>
          <a:xfrm>
            <a:off x="7762265" y="1042416"/>
            <a:ext cx="1131570" cy="219456"/>
          </a:xfrm>
          <a:prstGeom prst="rect">
            <a:avLst/>
          </a:prstGeom>
          <a:solidFill>
            <a:srgbClr val="13181F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EDE6029-F2A3-3C66-AFAC-46ABBC93A117}"/>
              </a:ext>
            </a:extLst>
          </p:cNvPr>
          <p:cNvSpPr/>
          <p:nvPr/>
        </p:nvSpPr>
        <p:spPr>
          <a:xfrm>
            <a:off x="7762265" y="104241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kern="0" spc="113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 REDUCTION</a:t>
            </a:r>
            <a:endParaRPr lang="en-US" sz="488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5EEBA9-3B59-D28C-3C1C-5E7776B7531F}"/>
              </a:ext>
            </a:extLst>
          </p:cNvPr>
          <p:cNvGrpSpPr/>
          <p:nvPr/>
        </p:nvGrpSpPr>
        <p:grpSpPr>
          <a:xfrm>
            <a:off x="150876" y="1625346"/>
            <a:ext cx="2862072" cy="130302"/>
            <a:chOff x="201168" y="1024128"/>
            <a:chExt cx="3816096" cy="173736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8A8F21FD-594F-8E79-2A5E-387FAE1FB502}"/>
                </a:ext>
              </a:extLst>
            </p:cNvPr>
            <p:cNvSpPr/>
            <p:nvPr/>
          </p:nvSpPr>
          <p:spPr>
            <a:xfrm>
              <a:off x="201168" y="1065276"/>
              <a:ext cx="91440" cy="91440"/>
            </a:xfrm>
            <a:prstGeom prst="ellipse">
              <a:avLst/>
            </a:prstGeom>
            <a:solidFill>
              <a:srgbClr val="EF9A9A"/>
            </a:solidFill>
            <a:ln w="12700">
              <a:solidFill>
                <a:srgbClr val="EF9A9A"/>
              </a:solidFill>
              <a:prstDash val="solid"/>
            </a:ln>
          </p:spPr>
          <p:txBody>
            <a:bodyPr/>
            <a:lstStyle/>
            <a:p>
              <a:endParaRPr lang="en-US" sz="825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9F4B9268-F0C5-62C8-0829-A27FA33BDFBA}"/>
                </a:ext>
              </a:extLst>
            </p:cNvPr>
            <p:cNvSpPr/>
            <p:nvPr/>
          </p:nvSpPr>
          <p:spPr>
            <a:xfrm>
              <a:off x="338328" y="1024128"/>
              <a:ext cx="367893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25" kern="0" spc="135" dirty="0">
                  <a:solidFill>
                    <a:srgbClr val="EF9A9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SINGLE CART TREE</a:t>
              </a:r>
              <a:endParaRPr lang="en-US" sz="825" dirty="0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5356C035-7A17-9ED8-8732-571E37957A8E}"/>
              </a:ext>
            </a:extLst>
          </p:cNvPr>
          <p:cNvSpPr/>
          <p:nvPr/>
        </p:nvSpPr>
        <p:spPr>
          <a:xfrm>
            <a:off x="3861347" y="5287517"/>
            <a:ext cx="27454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Variance, Low Bias</a:t>
            </a:r>
            <a:endParaRPr lang="en-US" sz="938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74FE09-52FD-54B8-BD05-7DBE84FFC0E8}"/>
              </a:ext>
            </a:extLst>
          </p:cNvPr>
          <p:cNvSpPr/>
          <p:nvPr/>
        </p:nvSpPr>
        <p:spPr>
          <a:xfrm>
            <a:off x="445418" y="1851036"/>
            <a:ext cx="8115885" cy="3381619"/>
          </a:xfrm>
          <a:prstGeom prst="rect">
            <a:avLst/>
          </a:prstGeom>
          <a:solidFill>
            <a:srgbClr val="0E1117"/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560435A-18C1-CE9B-18B6-FAE691900747}"/>
              </a:ext>
            </a:extLst>
          </p:cNvPr>
          <p:cNvSpPr/>
          <p:nvPr/>
        </p:nvSpPr>
        <p:spPr>
          <a:xfrm>
            <a:off x="501778" y="2053933"/>
            <a:ext cx="8003164" cy="3111089"/>
          </a:xfrm>
          <a:prstGeom prst="rect">
            <a:avLst/>
          </a:prstGeom>
          <a:solidFill>
            <a:srgbClr val="13181F"/>
          </a:solidFill>
          <a:ln w="15028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D898257-C351-4105-4D58-AB971A8E46D9}"/>
              </a:ext>
            </a:extLst>
          </p:cNvPr>
          <p:cNvSpPr txBox="1"/>
          <p:nvPr/>
        </p:nvSpPr>
        <p:spPr>
          <a:xfrm>
            <a:off x="3506413" y="1881628"/>
            <a:ext cx="1731243" cy="1461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00" spc="16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2D CART CLASSIFICATION TREE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7B61C0E-C618-CFB0-6E92-F878C7B92F59}"/>
              </a:ext>
            </a:extLst>
          </p:cNvPr>
          <p:cNvSpPr/>
          <p:nvPr/>
        </p:nvSpPr>
        <p:spPr>
          <a:xfrm>
            <a:off x="6915582" y="2099021"/>
            <a:ext cx="90176" cy="90176"/>
          </a:xfrm>
          <a:prstGeom prst="rect">
            <a:avLst/>
          </a:prstGeom>
          <a:noFill/>
          <a:ln w="18034" cap="flat">
            <a:solidFill>
              <a:srgbClr val="E8C547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6DB6540-9ABD-71FB-9C80-90AFC602145C}"/>
              </a:ext>
            </a:extLst>
          </p:cNvPr>
          <p:cNvSpPr txBox="1"/>
          <p:nvPr/>
        </p:nvSpPr>
        <p:spPr>
          <a:xfrm>
            <a:off x="6970993" y="2089218"/>
            <a:ext cx="420628" cy="1409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6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x1 split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B842348-22D2-DC0A-A0A6-FA2AD4459B4C}"/>
              </a:ext>
            </a:extLst>
          </p:cNvPr>
          <p:cNvSpPr/>
          <p:nvPr/>
        </p:nvSpPr>
        <p:spPr>
          <a:xfrm>
            <a:off x="7479185" y="2099021"/>
            <a:ext cx="90176" cy="90176"/>
          </a:xfrm>
          <a:prstGeom prst="rect">
            <a:avLst/>
          </a:prstGeom>
          <a:noFill/>
          <a:ln w="18034" cap="flat">
            <a:solidFill>
              <a:srgbClr val="64B5F6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337EED9-D3AE-8323-81FB-800AC268AE25}"/>
              </a:ext>
            </a:extLst>
          </p:cNvPr>
          <p:cNvSpPr txBox="1"/>
          <p:nvPr/>
        </p:nvSpPr>
        <p:spPr>
          <a:xfrm>
            <a:off x="7534597" y="2089218"/>
            <a:ext cx="420628" cy="1409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6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x2 split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36CC201D-0879-5BFC-68FC-231A5EA61E6B}"/>
              </a:ext>
            </a:extLst>
          </p:cNvPr>
          <p:cNvSpPr/>
          <p:nvPr/>
        </p:nvSpPr>
        <p:spPr>
          <a:xfrm>
            <a:off x="8020244" y="2099021"/>
            <a:ext cx="90176" cy="90176"/>
          </a:xfrm>
          <a:prstGeom prst="ellipse">
            <a:avLst/>
          </a:prstGeom>
          <a:solidFill>
            <a:srgbClr val="64B5F6">
              <a:alpha val="80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E69AAE7-ADE9-66C3-30CE-6B20FD689CC0}"/>
              </a:ext>
            </a:extLst>
          </p:cNvPr>
          <p:cNvSpPr txBox="1"/>
          <p:nvPr/>
        </p:nvSpPr>
        <p:spPr>
          <a:xfrm>
            <a:off x="8075656" y="2089218"/>
            <a:ext cx="173766" cy="1409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6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B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D3B56C48-3B23-D638-FFFD-4B1596D4E470}"/>
              </a:ext>
            </a:extLst>
          </p:cNvPr>
          <p:cNvSpPr/>
          <p:nvPr/>
        </p:nvSpPr>
        <p:spPr>
          <a:xfrm>
            <a:off x="8256957" y="2099021"/>
            <a:ext cx="90176" cy="90176"/>
          </a:xfrm>
          <a:prstGeom prst="ellipse">
            <a:avLst/>
          </a:prstGeom>
          <a:solidFill>
            <a:srgbClr val="EF9A9A">
              <a:alpha val="80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927A6A-7FC3-25CE-FECF-2198CB2D9272}"/>
              </a:ext>
            </a:extLst>
          </p:cNvPr>
          <p:cNvSpPr txBox="1"/>
          <p:nvPr/>
        </p:nvSpPr>
        <p:spPr>
          <a:xfrm>
            <a:off x="8312369" y="2089218"/>
            <a:ext cx="173766" cy="14093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66">
                <a:ln/>
                <a:solidFill>
                  <a:srgbClr val="EF9A9A"/>
                </a:solidFill>
                <a:latin typeface="Courier New"/>
                <a:cs typeface="Courier New"/>
                <a:sym typeface="Courier New"/>
                <a:rtl val="0"/>
              </a:rPr>
              <a:t>A</a:t>
            </a:r>
          </a:p>
        </p:txBody>
      </p:sp>
      <p:grpSp>
        <p:nvGrpSpPr>
          <p:cNvPr id="51" name="Graphic 16">
            <a:extLst>
              <a:ext uri="{FF2B5EF4-FFF2-40B4-BE49-F238E27FC236}">
                <a16:creationId xmlns:a16="http://schemas.microsoft.com/office/drawing/2014/main" id="{6F0ADF3C-9473-FB73-C769-8CF2C25BB0E3}"/>
              </a:ext>
            </a:extLst>
          </p:cNvPr>
          <p:cNvGrpSpPr/>
          <p:nvPr/>
        </p:nvGrpSpPr>
        <p:grpSpPr>
          <a:xfrm>
            <a:off x="2203859" y="2279373"/>
            <a:ext cx="4599002" cy="2772927"/>
            <a:chOff x="2938479" y="1896164"/>
            <a:chExt cx="6132002" cy="3697236"/>
          </a:xfrm>
        </p:grpSpPr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55A8D1B-A8AC-53F3-39F7-CD6EED316ED5}"/>
                </a:ext>
              </a:extLst>
            </p:cNvPr>
            <p:cNvSpPr/>
            <p:nvPr/>
          </p:nvSpPr>
          <p:spPr>
            <a:xfrm>
              <a:off x="2938479" y="1896164"/>
              <a:ext cx="15029" cy="3697236"/>
            </a:xfrm>
            <a:custGeom>
              <a:avLst/>
              <a:gdLst>
                <a:gd name="csX0" fmla="*/ 0 w 15029"/>
                <a:gd name="csY0" fmla="*/ 0 h 3697236"/>
                <a:gd name="csX1" fmla="*/ 0 w 15029"/>
                <a:gd name="csY1" fmla="*/ 3697237 h 36972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" h="3697236">
                  <a:moveTo>
                    <a:pt x="0" y="0"/>
                  </a:moveTo>
                  <a:lnTo>
                    <a:pt x="0" y="3697237"/>
                  </a:lnTo>
                </a:path>
              </a:pathLst>
            </a:custGeom>
            <a:ln w="15028" cap="flat">
              <a:solidFill>
                <a:srgbClr val="1C2535"/>
              </a:solidFill>
              <a:custDash>
                <a:ds d="150000" sp="30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4EFFF9C-3FA6-D81C-2CC5-B37F0B246546}"/>
                </a:ext>
              </a:extLst>
            </p:cNvPr>
            <p:cNvSpPr/>
            <p:nvPr/>
          </p:nvSpPr>
          <p:spPr>
            <a:xfrm>
              <a:off x="4982479" y="1896164"/>
              <a:ext cx="15029" cy="3697236"/>
            </a:xfrm>
            <a:custGeom>
              <a:avLst/>
              <a:gdLst>
                <a:gd name="csX0" fmla="*/ 0 w 15029"/>
                <a:gd name="csY0" fmla="*/ 0 h 3697236"/>
                <a:gd name="csX1" fmla="*/ 0 w 15029"/>
                <a:gd name="csY1" fmla="*/ 3697237 h 36972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" h="3697236">
                  <a:moveTo>
                    <a:pt x="0" y="0"/>
                  </a:moveTo>
                  <a:lnTo>
                    <a:pt x="0" y="3697237"/>
                  </a:lnTo>
                </a:path>
              </a:pathLst>
            </a:custGeom>
            <a:ln w="15028" cap="flat">
              <a:solidFill>
                <a:srgbClr val="1C2535"/>
              </a:solidFill>
              <a:custDash>
                <a:ds d="150000" sp="30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AE6397C-1C6D-BDA6-15BD-F90CE4960D3A}"/>
                </a:ext>
              </a:extLst>
            </p:cNvPr>
            <p:cNvSpPr/>
            <p:nvPr/>
          </p:nvSpPr>
          <p:spPr>
            <a:xfrm>
              <a:off x="7026480" y="1896164"/>
              <a:ext cx="15029" cy="3697236"/>
            </a:xfrm>
            <a:custGeom>
              <a:avLst/>
              <a:gdLst>
                <a:gd name="csX0" fmla="*/ 0 w 15029"/>
                <a:gd name="csY0" fmla="*/ 0 h 3697236"/>
                <a:gd name="csX1" fmla="*/ 0 w 15029"/>
                <a:gd name="csY1" fmla="*/ 3697237 h 36972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" h="3697236">
                  <a:moveTo>
                    <a:pt x="0" y="0"/>
                  </a:moveTo>
                  <a:lnTo>
                    <a:pt x="0" y="3697237"/>
                  </a:lnTo>
                </a:path>
              </a:pathLst>
            </a:custGeom>
            <a:ln w="15028" cap="flat">
              <a:solidFill>
                <a:srgbClr val="1C2535"/>
              </a:solidFill>
              <a:custDash>
                <a:ds d="150000" sp="30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DF9114B-4B7B-32F2-9F4A-71EB508E6491}"/>
                </a:ext>
              </a:extLst>
            </p:cNvPr>
            <p:cNvSpPr/>
            <p:nvPr/>
          </p:nvSpPr>
          <p:spPr>
            <a:xfrm>
              <a:off x="9070481" y="1896164"/>
              <a:ext cx="15029" cy="3697236"/>
            </a:xfrm>
            <a:custGeom>
              <a:avLst/>
              <a:gdLst>
                <a:gd name="csX0" fmla="*/ 0 w 15029"/>
                <a:gd name="csY0" fmla="*/ 0 h 3697236"/>
                <a:gd name="csX1" fmla="*/ 0 w 15029"/>
                <a:gd name="csY1" fmla="*/ 3697237 h 36972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" h="3697236">
                  <a:moveTo>
                    <a:pt x="0" y="0"/>
                  </a:moveTo>
                  <a:lnTo>
                    <a:pt x="0" y="3697237"/>
                  </a:lnTo>
                </a:path>
              </a:pathLst>
            </a:custGeom>
            <a:ln w="15028" cap="flat">
              <a:solidFill>
                <a:srgbClr val="1C2535"/>
              </a:solidFill>
              <a:custDash>
                <a:ds d="150000" sp="300000"/>
              </a:custDash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56" name="Graphic 16">
            <a:extLst>
              <a:ext uri="{FF2B5EF4-FFF2-40B4-BE49-F238E27FC236}">
                <a16:creationId xmlns:a16="http://schemas.microsoft.com/office/drawing/2014/main" id="{C36C6C20-9E1A-9FDA-5125-89680238F11B}"/>
              </a:ext>
            </a:extLst>
          </p:cNvPr>
          <p:cNvGrpSpPr/>
          <p:nvPr/>
        </p:nvGrpSpPr>
        <p:grpSpPr>
          <a:xfrm>
            <a:off x="1155703" y="5042499"/>
            <a:ext cx="6599487" cy="140936"/>
            <a:chOff x="1540936" y="5580330"/>
            <a:chExt cx="8799316" cy="187915"/>
          </a:xfrm>
          <a:solidFill>
            <a:srgbClr val="252D3D"/>
          </a:solidFill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1784570C-790C-90BB-2184-A0A1F5716CE5}"/>
                </a:ext>
              </a:extLst>
            </p:cNvPr>
            <p:cNvSpPr txBox="1"/>
            <p:nvPr/>
          </p:nvSpPr>
          <p:spPr>
            <a:xfrm>
              <a:off x="1540936" y="5580330"/>
              <a:ext cx="607859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52D3D"/>
                  </a:solidFill>
                  <a:latin typeface="Courier New"/>
                  <a:cs typeface="Courier New"/>
                  <a:sym typeface="Courier New"/>
                  <a:rtl val="0"/>
                </a:rPr>
                <a:t>x1 &lt; 0.16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79352EFD-5C02-568B-0DCB-DCA4AFF978A7}"/>
                </a:ext>
              </a:extLst>
            </p:cNvPr>
            <p:cNvSpPr txBox="1"/>
            <p:nvPr/>
          </p:nvSpPr>
          <p:spPr>
            <a:xfrm>
              <a:off x="3521803" y="5580330"/>
              <a:ext cx="701901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52D3D"/>
                  </a:solidFill>
                  <a:latin typeface="Courier New"/>
                  <a:cs typeface="Courier New"/>
                  <a:sym typeface="Courier New"/>
                  <a:rtl val="0"/>
                </a:rPr>
                <a:t>0.16 – 0.31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E1653573-3A3F-6D3E-9560-BD9C1E41C90C}"/>
                </a:ext>
              </a:extLst>
            </p:cNvPr>
            <p:cNvSpPr txBox="1"/>
            <p:nvPr/>
          </p:nvSpPr>
          <p:spPr>
            <a:xfrm>
              <a:off x="5565803" y="5580330"/>
              <a:ext cx="701901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52D3D"/>
                  </a:solidFill>
                  <a:latin typeface="Courier New"/>
                  <a:cs typeface="Courier New"/>
                  <a:sym typeface="Courier New"/>
                  <a:rtl val="0"/>
                </a:rPr>
                <a:t>0.31 – 0.47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2B52EB49-92A9-67AA-DEEC-751A8BF88F33}"/>
                </a:ext>
              </a:extLst>
            </p:cNvPr>
            <p:cNvSpPr txBox="1"/>
            <p:nvPr/>
          </p:nvSpPr>
          <p:spPr>
            <a:xfrm>
              <a:off x="7609804" y="5580330"/>
              <a:ext cx="701901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52D3D"/>
                  </a:solidFill>
                  <a:latin typeface="Courier New"/>
                  <a:cs typeface="Courier New"/>
                  <a:sym typeface="Courier New"/>
                  <a:rtl val="0"/>
                </a:rPr>
                <a:t>0.47 – 0.65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B6DDC554-F16F-B80B-0A61-A979E7A869D1}"/>
                </a:ext>
              </a:extLst>
            </p:cNvPr>
            <p:cNvSpPr txBox="1"/>
            <p:nvPr/>
          </p:nvSpPr>
          <p:spPr>
            <a:xfrm>
              <a:off x="9685372" y="5580330"/>
              <a:ext cx="654880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52D3D"/>
                  </a:solidFill>
                  <a:latin typeface="Courier New"/>
                  <a:cs typeface="Courier New"/>
                  <a:sym typeface="Courier New"/>
                  <a:rtl val="0"/>
                </a:rPr>
                <a:t>x1 &gt;= 0.65</a:t>
              </a:r>
            </a:p>
          </p:txBody>
        </p:sp>
      </p:grpSp>
      <p:grpSp>
        <p:nvGrpSpPr>
          <p:cNvPr id="62" name="Graphic 16">
            <a:extLst>
              <a:ext uri="{FF2B5EF4-FFF2-40B4-BE49-F238E27FC236}">
                <a16:creationId xmlns:a16="http://schemas.microsoft.com/office/drawing/2014/main" id="{B0259A01-E876-BBE1-2614-C60312818364}"/>
              </a:ext>
            </a:extLst>
          </p:cNvPr>
          <p:cNvGrpSpPr/>
          <p:nvPr/>
        </p:nvGrpSpPr>
        <p:grpSpPr>
          <a:xfrm>
            <a:off x="1144285" y="2403366"/>
            <a:ext cx="6718149" cy="2243140"/>
            <a:chOff x="1525713" y="2061488"/>
            <a:chExt cx="8957532" cy="2990853"/>
          </a:xfrm>
        </p:grpSpPr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6A1527A1-0B8D-E972-A2FE-122BA1372770}"/>
                </a:ext>
              </a:extLst>
            </p:cNvPr>
            <p:cNvSpPr/>
            <p:nvPr/>
          </p:nvSpPr>
          <p:spPr>
            <a:xfrm>
              <a:off x="4381303" y="2061488"/>
              <a:ext cx="1322588" cy="495970"/>
            </a:xfrm>
            <a:custGeom>
              <a:avLst/>
              <a:gdLst>
                <a:gd name="csX0" fmla="*/ 1322589 w 1322588"/>
                <a:gd name="csY0" fmla="*/ 0 h 495970"/>
                <a:gd name="csX1" fmla="*/ 0 w 1322588"/>
                <a:gd name="csY1" fmla="*/ 495971 h 49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322588" h="495970">
                  <a:moveTo>
                    <a:pt x="1322589" y="0"/>
                  </a:moveTo>
                  <a:lnTo>
                    <a:pt x="0" y="495971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52741924-223A-284C-D9A0-57448E990D28}"/>
                </a:ext>
              </a:extLst>
            </p:cNvPr>
            <p:cNvSpPr/>
            <p:nvPr/>
          </p:nvSpPr>
          <p:spPr>
            <a:xfrm>
              <a:off x="6425303" y="2061488"/>
              <a:ext cx="1713353" cy="495970"/>
            </a:xfrm>
            <a:custGeom>
              <a:avLst/>
              <a:gdLst>
                <a:gd name="csX0" fmla="*/ 0 w 1713353"/>
                <a:gd name="csY0" fmla="*/ 0 h 495970"/>
                <a:gd name="csX1" fmla="*/ 1713354 w 1713353"/>
                <a:gd name="csY1" fmla="*/ 495971 h 49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713353" h="495970">
                  <a:moveTo>
                    <a:pt x="0" y="0"/>
                  </a:moveTo>
                  <a:lnTo>
                    <a:pt x="1713354" y="495971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59842E2-6CC0-118B-8346-80F5E27E6F4D}"/>
                </a:ext>
              </a:extLst>
            </p:cNvPr>
            <p:cNvSpPr/>
            <p:nvPr/>
          </p:nvSpPr>
          <p:spPr>
            <a:xfrm>
              <a:off x="2698008" y="2873076"/>
              <a:ext cx="901765" cy="495970"/>
            </a:xfrm>
            <a:custGeom>
              <a:avLst/>
              <a:gdLst>
                <a:gd name="csX0" fmla="*/ 901765 w 901765"/>
                <a:gd name="csY0" fmla="*/ 0 h 495970"/>
                <a:gd name="csX1" fmla="*/ 0 w 901765"/>
                <a:gd name="csY1" fmla="*/ 495971 h 49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01765" h="495970">
                  <a:moveTo>
                    <a:pt x="901765" y="0"/>
                  </a:moveTo>
                  <a:lnTo>
                    <a:pt x="0" y="495971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6C0F2278-4D2D-C37C-DD72-F6489B623840}"/>
                </a:ext>
              </a:extLst>
            </p:cNvPr>
            <p:cNvSpPr/>
            <p:nvPr/>
          </p:nvSpPr>
          <p:spPr>
            <a:xfrm>
              <a:off x="4321185" y="2873076"/>
              <a:ext cx="1262471" cy="495970"/>
            </a:xfrm>
            <a:custGeom>
              <a:avLst/>
              <a:gdLst>
                <a:gd name="csX0" fmla="*/ 0 w 1262471"/>
                <a:gd name="csY0" fmla="*/ 0 h 495970"/>
                <a:gd name="csX1" fmla="*/ 1262471 w 1262471"/>
                <a:gd name="csY1" fmla="*/ 495971 h 49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62471" h="495970">
                  <a:moveTo>
                    <a:pt x="0" y="0"/>
                  </a:moveTo>
                  <a:lnTo>
                    <a:pt x="1262471" y="495971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81BA634C-6000-EFAD-30C4-6F10E55C9794}"/>
                </a:ext>
              </a:extLst>
            </p:cNvPr>
            <p:cNvSpPr/>
            <p:nvPr/>
          </p:nvSpPr>
          <p:spPr>
            <a:xfrm>
              <a:off x="8048480" y="2873076"/>
              <a:ext cx="150294" cy="495970"/>
            </a:xfrm>
            <a:custGeom>
              <a:avLst/>
              <a:gdLst>
                <a:gd name="csX0" fmla="*/ 150294 w 150294"/>
                <a:gd name="csY0" fmla="*/ 0 h 495970"/>
                <a:gd name="csX1" fmla="*/ 0 w 150294"/>
                <a:gd name="csY1" fmla="*/ 495971 h 49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495970">
                  <a:moveTo>
                    <a:pt x="150294" y="0"/>
                  </a:moveTo>
                  <a:lnTo>
                    <a:pt x="0" y="495971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77F2DE04-C685-40A5-EBFC-296C8AA4CE3E}"/>
                </a:ext>
              </a:extLst>
            </p:cNvPr>
            <p:cNvSpPr/>
            <p:nvPr/>
          </p:nvSpPr>
          <p:spPr>
            <a:xfrm>
              <a:off x="8920186" y="2873076"/>
              <a:ext cx="871706" cy="495970"/>
            </a:xfrm>
            <a:custGeom>
              <a:avLst/>
              <a:gdLst>
                <a:gd name="csX0" fmla="*/ 0 w 871706"/>
                <a:gd name="csY0" fmla="*/ 0 h 495970"/>
                <a:gd name="csX1" fmla="*/ 871706 w 871706"/>
                <a:gd name="csY1" fmla="*/ 495971 h 49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871706" h="495970">
                  <a:moveTo>
                    <a:pt x="0" y="0"/>
                  </a:moveTo>
                  <a:lnTo>
                    <a:pt x="871706" y="495971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F9538255-6980-42A8-3142-53823C4222A4}"/>
                </a:ext>
              </a:extLst>
            </p:cNvPr>
            <p:cNvSpPr/>
            <p:nvPr/>
          </p:nvSpPr>
          <p:spPr>
            <a:xfrm>
              <a:off x="2036714" y="3684665"/>
              <a:ext cx="120235" cy="495970"/>
            </a:xfrm>
            <a:custGeom>
              <a:avLst/>
              <a:gdLst>
                <a:gd name="csX0" fmla="*/ 120235 w 120235"/>
                <a:gd name="csY0" fmla="*/ 0 h 495970"/>
                <a:gd name="csX1" fmla="*/ 0 w 120235"/>
                <a:gd name="csY1" fmla="*/ 495971 h 49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20235" h="495970">
                  <a:moveTo>
                    <a:pt x="120235" y="0"/>
                  </a:moveTo>
                  <a:lnTo>
                    <a:pt x="0" y="495971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521F91BA-361A-61AE-40A2-55C9B53D697F}"/>
                </a:ext>
              </a:extLst>
            </p:cNvPr>
            <p:cNvSpPr/>
            <p:nvPr/>
          </p:nvSpPr>
          <p:spPr>
            <a:xfrm>
              <a:off x="2728067" y="3684665"/>
              <a:ext cx="991941" cy="495970"/>
            </a:xfrm>
            <a:custGeom>
              <a:avLst/>
              <a:gdLst>
                <a:gd name="csX0" fmla="*/ 0 w 991941"/>
                <a:gd name="csY0" fmla="*/ 0 h 495970"/>
                <a:gd name="csX1" fmla="*/ 991942 w 991941"/>
                <a:gd name="csY1" fmla="*/ 495971 h 4959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991941" h="495970">
                  <a:moveTo>
                    <a:pt x="0" y="0"/>
                  </a:moveTo>
                  <a:lnTo>
                    <a:pt x="991942" y="495971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AF9703CB-6E97-8BE5-6C33-E969DFA506FA}"/>
                </a:ext>
              </a:extLst>
            </p:cNvPr>
            <p:cNvSpPr/>
            <p:nvPr/>
          </p:nvSpPr>
          <p:spPr>
            <a:xfrm>
              <a:off x="1525713" y="4646548"/>
              <a:ext cx="180353" cy="405794"/>
            </a:xfrm>
            <a:custGeom>
              <a:avLst/>
              <a:gdLst>
                <a:gd name="csX0" fmla="*/ 180353 w 180353"/>
                <a:gd name="csY0" fmla="*/ 0 h 405794"/>
                <a:gd name="csX1" fmla="*/ 0 w 180353"/>
                <a:gd name="csY1" fmla="*/ 405794 h 405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0353" h="405794">
                  <a:moveTo>
                    <a:pt x="180353" y="0"/>
                  </a:moveTo>
                  <a:lnTo>
                    <a:pt x="0" y="405794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D2A5F90-5499-37D1-CA1C-DE36F166D816}"/>
                </a:ext>
              </a:extLst>
            </p:cNvPr>
            <p:cNvSpPr/>
            <p:nvPr/>
          </p:nvSpPr>
          <p:spPr>
            <a:xfrm>
              <a:off x="2126890" y="4646548"/>
              <a:ext cx="180353" cy="405794"/>
            </a:xfrm>
            <a:custGeom>
              <a:avLst/>
              <a:gdLst>
                <a:gd name="csX0" fmla="*/ 0 w 180353"/>
                <a:gd name="csY0" fmla="*/ 0 h 405794"/>
                <a:gd name="csX1" fmla="*/ 180353 w 180353"/>
                <a:gd name="csY1" fmla="*/ 405794 h 405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80353" h="405794">
                  <a:moveTo>
                    <a:pt x="0" y="0"/>
                  </a:moveTo>
                  <a:lnTo>
                    <a:pt x="180353" y="405794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14119107-032B-F698-11F4-63DB033A146A}"/>
                </a:ext>
              </a:extLst>
            </p:cNvPr>
            <p:cNvSpPr/>
            <p:nvPr/>
          </p:nvSpPr>
          <p:spPr>
            <a:xfrm>
              <a:off x="3569714" y="4646548"/>
              <a:ext cx="150294" cy="405794"/>
            </a:xfrm>
            <a:custGeom>
              <a:avLst/>
              <a:gdLst>
                <a:gd name="csX0" fmla="*/ 150294 w 150294"/>
                <a:gd name="csY0" fmla="*/ 0 h 405794"/>
                <a:gd name="csX1" fmla="*/ 0 w 150294"/>
                <a:gd name="csY1" fmla="*/ 405794 h 405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405794">
                  <a:moveTo>
                    <a:pt x="150294" y="0"/>
                  </a:moveTo>
                  <a:lnTo>
                    <a:pt x="0" y="405794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BBECB1C-A530-0FB4-6C5C-41DC625D4D72}"/>
                </a:ext>
              </a:extLst>
            </p:cNvPr>
            <p:cNvSpPr/>
            <p:nvPr/>
          </p:nvSpPr>
          <p:spPr>
            <a:xfrm>
              <a:off x="4200950" y="4646548"/>
              <a:ext cx="150294" cy="405794"/>
            </a:xfrm>
            <a:custGeom>
              <a:avLst/>
              <a:gdLst>
                <a:gd name="csX0" fmla="*/ 0 w 150294"/>
                <a:gd name="csY0" fmla="*/ 0 h 405794"/>
                <a:gd name="csX1" fmla="*/ 150294 w 150294"/>
                <a:gd name="csY1" fmla="*/ 405794 h 40579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405794">
                  <a:moveTo>
                    <a:pt x="0" y="0"/>
                  </a:moveTo>
                  <a:lnTo>
                    <a:pt x="150294" y="405794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39339C88-0CE7-E7D8-A8D4-B4B6B17DA601}"/>
                </a:ext>
              </a:extLst>
            </p:cNvPr>
            <p:cNvSpPr/>
            <p:nvPr/>
          </p:nvSpPr>
          <p:spPr>
            <a:xfrm>
              <a:off x="5613715" y="3684665"/>
              <a:ext cx="150294" cy="1367676"/>
            </a:xfrm>
            <a:custGeom>
              <a:avLst/>
              <a:gdLst>
                <a:gd name="csX0" fmla="*/ 150294 w 150294"/>
                <a:gd name="csY0" fmla="*/ 0 h 1367676"/>
                <a:gd name="csX1" fmla="*/ 0 w 150294"/>
                <a:gd name="csY1" fmla="*/ 1367677 h 136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1367676">
                  <a:moveTo>
                    <a:pt x="150294" y="0"/>
                  </a:moveTo>
                  <a:lnTo>
                    <a:pt x="0" y="1367677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D531C1B-0890-D848-BAE2-372FC92C7E0B}"/>
                </a:ext>
              </a:extLst>
            </p:cNvPr>
            <p:cNvSpPr/>
            <p:nvPr/>
          </p:nvSpPr>
          <p:spPr>
            <a:xfrm>
              <a:off x="6244950" y="3684665"/>
              <a:ext cx="150294" cy="1367676"/>
            </a:xfrm>
            <a:custGeom>
              <a:avLst/>
              <a:gdLst>
                <a:gd name="csX0" fmla="*/ 0 w 150294"/>
                <a:gd name="csY0" fmla="*/ 0 h 1367676"/>
                <a:gd name="csX1" fmla="*/ 150294 w 150294"/>
                <a:gd name="csY1" fmla="*/ 1367677 h 136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1367676">
                  <a:moveTo>
                    <a:pt x="0" y="0"/>
                  </a:moveTo>
                  <a:lnTo>
                    <a:pt x="150294" y="1367677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FE678F8D-0109-8CAF-AAF4-FEA64CF72EE2}"/>
                </a:ext>
              </a:extLst>
            </p:cNvPr>
            <p:cNvSpPr/>
            <p:nvPr/>
          </p:nvSpPr>
          <p:spPr>
            <a:xfrm>
              <a:off x="7657715" y="3684665"/>
              <a:ext cx="150294" cy="1367676"/>
            </a:xfrm>
            <a:custGeom>
              <a:avLst/>
              <a:gdLst>
                <a:gd name="csX0" fmla="*/ 150294 w 150294"/>
                <a:gd name="csY0" fmla="*/ 0 h 1367676"/>
                <a:gd name="csX1" fmla="*/ 0 w 150294"/>
                <a:gd name="csY1" fmla="*/ 1367677 h 136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1367676">
                  <a:moveTo>
                    <a:pt x="150294" y="0"/>
                  </a:moveTo>
                  <a:lnTo>
                    <a:pt x="0" y="1367677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DAE8182B-CC15-02A7-21A5-A373A4C3E816}"/>
                </a:ext>
              </a:extLst>
            </p:cNvPr>
            <p:cNvSpPr/>
            <p:nvPr/>
          </p:nvSpPr>
          <p:spPr>
            <a:xfrm>
              <a:off x="8288951" y="3684665"/>
              <a:ext cx="150294" cy="1367676"/>
            </a:xfrm>
            <a:custGeom>
              <a:avLst/>
              <a:gdLst>
                <a:gd name="csX0" fmla="*/ 0 w 150294"/>
                <a:gd name="csY0" fmla="*/ 0 h 1367676"/>
                <a:gd name="csX1" fmla="*/ 150294 w 150294"/>
                <a:gd name="csY1" fmla="*/ 1367677 h 136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1367676">
                  <a:moveTo>
                    <a:pt x="0" y="0"/>
                  </a:moveTo>
                  <a:lnTo>
                    <a:pt x="150294" y="1367677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7DC0EAA-4274-51E7-65EC-1F5E851AC8D2}"/>
                </a:ext>
              </a:extLst>
            </p:cNvPr>
            <p:cNvSpPr/>
            <p:nvPr/>
          </p:nvSpPr>
          <p:spPr>
            <a:xfrm>
              <a:off x="9701716" y="3684665"/>
              <a:ext cx="150294" cy="1367676"/>
            </a:xfrm>
            <a:custGeom>
              <a:avLst/>
              <a:gdLst>
                <a:gd name="csX0" fmla="*/ 150294 w 150294"/>
                <a:gd name="csY0" fmla="*/ 0 h 1367676"/>
                <a:gd name="csX1" fmla="*/ 0 w 150294"/>
                <a:gd name="csY1" fmla="*/ 1367677 h 136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1367676">
                  <a:moveTo>
                    <a:pt x="150294" y="0"/>
                  </a:moveTo>
                  <a:lnTo>
                    <a:pt x="0" y="1367677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042A97A-EAD0-BEA7-C4BE-77412C88484B}"/>
                </a:ext>
              </a:extLst>
            </p:cNvPr>
            <p:cNvSpPr/>
            <p:nvPr/>
          </p:nvSpPr>
          <p:spPr>
            <a:xfrm>
              <a:off x="10332952" y="3684665"/>
              <a:ext cx="150294" cy="1367676"/>
            </a:xfrm>
            <a:custGeom>
              <a:avLst/>
              <a:gdLst>
                <a:gd name="csX0" fmla="*/ 0 w 150294"/>
                <a:gd name="csY0" fmla="*/ 0 h 1367676"/>
                <a:gd name="csX1" fmla="*/ 150294 w 150294"/>
                <a:gd name="csY1" fmla="*/ 1367677 h 13676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50294" h="1367676">
                  <a:moveTo>
                    <a:pt x="0" y="0"/>
                  </a:moveTo>
                  <a:lnTo>
                    <a:pt x="150294" y="1367677"/>
                  </a:lnTo>
                </a:path>
              </a:pathLst>
            </a:custGeom>
            <a:ln w="21040" cap="flat">
              <a:solidFill>
                <a:srgbClr val="2A3140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81" name="Graphic 16">
            <a:extLst>
              <a:ext uri="{FF2B5EF4-FFF2-40B4-BE49-F238E27FC236}">
                <a16:creationId xmlns:a16="http://schemas.microsoft.com/office/drawing/2014/main" id="{1EB673BB-D1A5-55C6-FCF4-AF8541E3AD64}"/>
              </a:ext>
            </a:extLst>
          </p:cNvPr>
          <p:cNvGrpSpPr/>
          <p:nvPr/>
        </p:nvGrpSpPr>
        <p:grpSpPr>
          <a:xfrm>
            <a:off x="1256058" y="2562644"/>
            <a:ext cx="5619622" cy="1358319"/>
            <a:chOff x="1674744" y="2273859"/>
            <a:chExt cx="7492828" cy="1811092"/>
          </a:xfrm>
          <a:solidFill>
            <a:srgbClr val="2E3D50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01AA9581-4B87-ACD9-63BB-B8F03D10B247}"/>
                </a:ext>
              </a:extLst>
            </p:cNvPr>
            <p:cNvSpPr txBox="1"/>
            <p:nvPr/>
          </p:nvSpPr>
          <p:spPr>
            <a:xfrm>
              <a:off x="4740745" y="2273859"/>
              <a:ext cx="325731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E3D50"/>
                  </a:solidFill>
                  <a:latin typeface="Courier New"/>
                  <a:cs typeface="Courier New"/>
                  <a:sym typeface="Courier New"/>
                  <a:rtl val="0"/>
                </a:rPr>
                <a:t>yes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CA8C245-84E8-7CA0-2AD8-C048088B4A3C}"/>
                </a:ext>
              </a:extLst>
            </p:cNvPr>
            <p:cNvSpPr txBox="1"/>
            <p:nvPr/>
          </p:nvSpPr>
          <p:spPr>
            <a:xfrm>
              <a:off x="6544276" y="2273859"/>
              <a:ext cx="278709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E3D50"/>
                  </a:solidFill>
                  <a:latin typeface="Courier New"/>
                  <a:cs typeface="Courier New"/>
                  <a:sym typeface="Courier New"/>
                  <a:rtl val="0"/>
                </a:rPr>
                <a:t>no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E610665-EF05-5A98-4FAF-088E9C3A50AD}"/>
                </a:ext>
              </a:extLst>
            </p:cNvPr>
            <p:cNvSpPr txBox="1"/>
            <p:nvPr/>
          </p:nvSpPr>
          <p:spPr>
            <a:xfrm>
              <a:off x="2907156" y="3055388"/>
              <a:ext cx="325731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E3D50"/>
                  </a:solidFill>
                  <a:latin typeface="Courier New"/>
                  <a:cs typeface="Courier New"/>
                  <a:sym typeface="Courier New"/>
                  <a:rtl val="0"/>
                </a:rPr>
                <a:t>yes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B4C67D56-9908-BA44-FA9C-C1F5F24F8ACD}"/>
                </a:ext>
              </a:extLst>
            </p:cNvPr>
            <p:cNvSpPr txBox="1"/>
            <p:nvPr/>
          </p:nvSpPr>
          <p:spPr>
            <a:xfrm>
              <a:off x="4500274" y="3055388"/>
              <a:ext cx="278709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E3D50"/>
                  </a:solidFill>
                  <a:latin typeface="Courier New"/>
                  <a:cs typeface="Courier New"/>
                  <a:sym typeface="Courier New"/>
                  <a:rtl val="0"/>
                </a:rPr>
                <a:t>no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3DF37DAA-CDFC-14E0-030E-C07C92744E6C}"/>
                </a:ext>
              </a:extLst>
            </p:cNvPr>
            <p:cNvSpPr txBox="1"/>
            <p:nvPr/>
          </p:nvSpPr>
          <p:spPr>
            <a:xfrm>
              <a:off x="7836805" y="2995271"/>
              <a:ext cx="325731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E3D50"/>
                  </a:solidFill>
                  <a:latin typeface="Courier New"/>
                  <a:cs typeface="Courier New"/>
                  <a:sym typeface="Courier New"/>
                  <a:rtl val="0"/>
                </a:rPr>
                <a:t>yes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EAEF291-D3B8-2B4C-1D0A-0DE2B7FDFDCD}"/>
                </a:ext>
              </a:extLst>
            </p:cNvPr>
            <p:cNvSpPr txBox="1"/>
            <p:nvPr/>
          </p:nvSpPr>
          <p:spPr>
            <a:xfrm>
              <a:off x="8888863" y="2995271"/>
              <a:ext cx="278709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E3D50"/>
                  </a:solidFill>
                  <a:latin typeface="Courier New"/>
                  <a:cs typeface="Courier New"/>
                  <a:sym typeface="Courier New"/>
                  <a:rtl val="0"/>
                </a:rPr>
                <a:t>no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FA07403-D781-C752-42A1-C11EA3367474}"/>
                </a:ext>
              </a:extLst>
            </p:cNvPr>
            <p:cNvSpPr txBox="1"/>
            <p:nvPr/>
          </p:nvSpPr>
          <p:spPr>
            <a:xfrm>
              <a:off x="1674744" y="3897036"/>
              <a:ext cx="325731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E3D50"/>
                  </a:solidFill>
                  <a:latin typeface="Courier New"/>
                  <a:cs typeface="Courier New"/>
                  <a:sym typeface="Courier New"/>
                  <a:rtl val="0"/>
                </a:rPr>
                <a:t>yes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965242CC-6F04-00EA-CABD-BF4E000A4C2E}"/>
                </a:ext>
              </a:extLst>
            </p:cNvPr>
            <p:cNvSpPr txBox="1"/>
            <p:nvPr/>
          </p:nvSpPr>
          <p:spPr>
            <a:xfrm>
              <a:off x="2726802" y="3897036"/>
              <a:ext cx="278709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2E3D50"/>
                  </a:solidFill>
                  <a:latin typeface="Courier New"/>
                  <a:cs typeface="Courier New"/>
                  <a:sym typeface="Courier New"/>
                  <a:rtl val="0"/>
                </a:rPr>
                <a:t>no</a:t>
              </a:r>
            </a:p>
          </p:txBody>
        </p:sp>
      </p:grpSp>
      <p:sp>
        <p:nvSpPr>
          <p:cNvPr id="90" name="Rectangle 89">
            <a:extLst>
              <a:ext uri="{FF2B5EF4-FFF2-40B4-BE49-F238E27FC236}">
                <a16:creationId xmlns:a16="http://schemas.microsoft.com/office/drawing/2014/main" id="{7C67C043-6295-E595-2C58-C962FC43A3A8}"/>
              </a:ext>
            </a:extLst>
          </p:cNvPr>
          <p:cNvSpPr/>
          <p:nvPr/>
        </p:nvSpPr>
        <p:spPr>
          <a:xfrm>
            <a:off x="3804492" y="2110292"/>
            <a:ext cx="1442824" cy="293073"/>
          </a:xfrm>
          <a:prstGeom prst="rect">
            <a:avLst/>
          </a:prstGeom>
          <a:solidFill>
            <a:srgbClr val="1A2030"/>
          </a:solidFill>
          <a:ln w="24045" cap="flat">
            <a:solidFill>
              <a:srgbClr val="E8C547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8858FB9-CC22-C38F-DA08-0BD4DE8CD01F}"/>
              </a:ext>
            </a:extLst>
          </p:cNvPr>
          <p:cNvSpPr txBox="1"/>
          <p:nvPr/>
        </p:nvSpPr>
        <p:spPr>
          <a:xfrm>
            <a:off x="4149546" y="2127725"/>
            <a:ext cx="609782" cy="13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33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root · split 1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8DA9C26-1F76-1719-D9D6-9F31C28F048D}"/>
              </a:ext>
            </a:extLst>
          </p:cNvPr>
          <p:cNvSpPr txBox="1"/>
          <p:nvPr/>
        </p:nvSpPr>
        <p:spPr>
          <a:xfrm>
            <a:off x="4066683" y="2214182"/>
            <a:ext cx="738023" cy="1768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99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x1 &lt; 0.47 ?</a:t>
            </a:r>
          </a:p>
        </p:txBody>
      </p:sp>
      <p:sp>
        <p:nvSpPr>
          <p:cNvPr id="93" name="Rectangle 92">
            <a:extLst>
              <a:ext uri="{FF2B5EF4-FFF2-40B4-BE49-F238E27FC236}">
                <a16:creationId xmlns:a16="http://schemas.microsoft.com/office/drawing/2014/main" id="{9EE1D33C-D47C-8BB4-FAE0-5E45188E5E5D}"/>
              </a:ext>
            </a:extLst>
          </p:cNvPr>
          <p:cNvSpPr/>
          <p:nvPr/>
        </p:nvSpPr>
        <p:spPr>
          <a:xfrm>
            <a:off x="2474389" y="2775344"/>
            <a:ext cx="1082118" cy="270530"/>
          </a:xfrm>
          <a:prstGeom prst="rect">
            <a:avLst/>
          </a:prstGeom>
          <a:solidFill>
            <a:srgbClr val="1A2030"/>
          </a:solidFill>
          <a:ln w="21040" cap="flat">
            <a:solidFill>
              <a:srgbClr val="E8C547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597C22EB-B628-44E0-69D1-B13874E87B4E}"/>
              </a:ext>
            </a:extLst>
          </p:cNvPr>
          <p:cNvSpPr txBox="1"/>
          <p:nvPr/>
        </p:nvSpPr>
        <p:spPr>
          <a:xfrm>
            <a:off x="2804816" y="2786198"/>
            <a:ext cx="351699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2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81A00B7-90DA-399B-BCFE-D31544ACCCFC}"/>
              </a:ext>
            </a:extLst>
          </p:cNvPr>
          <p:cNvSpPr txBox="1"/>
          <p:nvPr/>
        </p:nvSpPr>
        <p:spPr>
          <a:xfrm>
            <a:off x="2574829" y="2872653"/>
            <a:ext cx="702756" cy="171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6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x1 &lt; 0.31 ?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827DB850-5E7B-4AD1-4487-30F9CFAA77D5}"/>
              </a:ext>
            </a:extLst>
          </p:cNvPr>
          <p:cNvSpPr/>
          <p:nvPr/>
        </p:nvSpPr>
        <p:spPr>
          <a:xfrm>
            <a:off x="5653110" y="2775344"/>
            <a:ext cx="1082118" cy="270530"/>
          </a:xfrm>
          <a:prstGeom prst="rect">
            <a:avLst/>
          </a:prstGeom>
          <a:solidFill>
            <a:srgbClr val="1A2030"/>
          </a:solidFill>
          <a:ln w="21040" cap="flat">
            <a:solidFill>
              <a:srgbClr val="E8C547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DDD11CB1-9948-F664-9574-F4D7D1A6243B}"/>
              </a:ext>
            </a:extLst>
          </p:cNvPr>
          <p:cNvSpPr txBox="1"/>
          <p:nvPr/>
        </p:nvSpPr>
        <p:spPr>
          <a:xfrm>
            <a:off x="5983538" y="2786198"/>
            <a:ext cx="351699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4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9C69BF4-DEF7-E275-EC3B-E8E71B6DEB84}"/>
              </a:ext>
            </a:extLst>
          </p:cNvPr>
          <p:cNvSpPr txBox="1"/>
          <p:nvPr/>
        </p:nvSpPr>
        <p:spPr>
          <a:xfrm>
            <a:off x="5753551" y="2872653"/>
            <a:ext cx="702756" cy="171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6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x1 &lt; 0.65 ?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F31BA24D-65B5-1600-A4FF-F61A09BDDACF}"/>
              </a:ext>
            </a:extLst>
          </p:cNvPr>
          <p:cNvSpPr/>
          <p:nvPr/>
        </p:nvSpPr>
        <p:spPr>
          <a:xfrm>
            <a:off x="1347182" y="3384035"/>
            <a:ext cx="1082118" cy="270530"/>
          </a:xfrm>
          <a:prstGeom prst="rect">
            <a:avLst/>
          </a:prstGeom>
          <a:solidFill>
            <a:srgbClr val="1A2030"/>
          </a:solidFill>
          <a:ln w="21040" cap="flat">
            <a:solidFill>
              <a:srgbClr val="E8C547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54326E6C-9B10-AE70-C84B-8323EDB3C824}"/>
              </a:ext>
            </a:extLst>
          </p:cNvPr>
          <p:cNvSpPr txBox="1"/>
          <p:nvPr/>
        </p:nvSpPr>
        <p:spPr>
          <a:xfrm>
            <a:off x="1677610" y="3394889"/>
            <a:ext cx="351699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3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5394ED2F-350B-5DEA-C8C0-2CA8DC9623CA}"/>
              </a:ext>
            </a:extLst>
          </p:cNvPr>
          <p:cNvSpPr txBox="1"/>
          <p:nvPr/>
        </p:nvSpPr>
        <p:spPr>
          <a:xfrm>
            <a:off x="1447623" y="3481345"/>
            <a:ext cx="702756" cy="171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6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x1 &lt; 0.16 ?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C0E20BA7-57B1-7936-C9BF-BBC9096DFDA6}"/>
              </a:ext>
            </a:extLst>
          </p:cNvPr>
          <p:cNvSpPr/>
          <p:nvPr/>
        </p:nvSpPr>
        <p:spPr>
          <a:xfrm>
            <a:off x="4007389" y="3384035"/>
            <a:ext cx="1082118" cy="270530"/>
          </a:xfrm>
          <a:prstGeom prst="rect">
            <a:avLst/>
          </a:prstGeom>
          <a:solidFill>
            <a:srgbClr val="E07B54">
              <a:alpha val="12000"/>
            </a:srgbClr>
          </a:solidFill>
          <a:ln w="21040" cap="flat">
            <a:solidFill>
              <a:srgbClr val="E07B54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929D3A17-5D2D-B33C-C163-B167CF4A217E}"/>
              </a:ext>
            </a:extLst>
          </p:cNvPr>
          <p:cNvSpPr txBox="1"/>
          <p:nvPr/>
        </p:nvSpPr>
        <p:spPr>
          <a:xfrm>
            <a:off x="4337817" y="3394889"/>
            <a:ext cx="351699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5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C054E9B-C3CD-65A4-1287-28BC39127287}"/>
              </a:ext>
            </a:extLst>
          </p:cNvPr>
          <p:cNvSpPr txBox="1"/>
          <p:nvPr/>
        </p:nvSpPr>
        <p:spPr>
          <a:xfrm>
            <a:off x="4107830" y="3481345"/>
            <a:ext cx="702756" cy="171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6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x2 &lt; 0.29 ?</a:t>
            </a: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4D6A5A8-39A1-0445-E045-4CAED4E7B8A3}"/>
              </a:ext>
            </a:extLst>
          </p:cNvPr>
          <p:cNvSpPr/>
          <p:nvPr/>
        </p:nvSpPr>
        <p:spPr>
          <a:xfrm>
            <a:off x="5540390" y="3384035"/>
            <a:ext cx="1082118" cy="270530"/>
          </a:xfrm>
          <a:prstGeom prst="rect">
            <a:avLst/>
          </a:prstGeom>
          <a:solidFill>
            <a:srgbClr val="A78BFA">
              <a:alpha val="12000"/>
            </a:srgbClr>
          </a:solidFill>
          <a:ln w="21040" cap="flat">
            <a:solidFill>
              <a:srgbClr val="A78BFA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F13AAA1-8F8C-B667-C339-0D80EB3572C0}"/>
              </a:ext>
            </a:extLst>
          </p:cNvPr>
          <p:cNvSpPr txBox="1"/>
          <p:nvPr/>
        </p:nvSpPr>
        <p:spPr>
          <a:xfrm>
            <a:off x="5870817" y="3394889"/>
            <a:ext cx="351699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6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162E9AB-88C2-2DC3-5B45-FB88F2C70A2A}"/>
              </a:ext>
            </a:extLst>
          </p:cNvPr>
          <p:cNvSpPr txBox="1"/>
          <p:nvPr/>
        </p:nvSpPr>
        <p:spPr>
          <a:xfrm>
            <a:off x="5640830" y="3481345"/>
            <a:ext cx="702756" cy="171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6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x2 &lt; 0.54 ?</a:t>
            </a:r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E2F866F-79CC-863D-58A8-D63BA497295E}"/>
              </a:ext>
            </a:extLst>
          </p:cNvPr>
          <p:cNvSpPr/>
          <p:nvPr/>
        </p:nvSpPr>
        <p:spPr>
          <a:xfrm>
            <a:off x="7073390" y="3384035"/>
            <a:ext cx="1082118" cy="270530"/>
          </a:xfrm>
          <a:prstGeom prst="rect">
            <a:avLst/>
          </a:prstGeom>
          <a:solidFill>
            <a:srgbClr val="1D2B39"/>
          </a:solidFill>
          <a:ln w="21040" cap="flat">
            <a:solidFill>
              <a:srgbClr val="64B5F6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846D5B45-E3B6-B2CE-DBE0-E9915EDCA89E}"/>
              </a:ext>
            </a:extLst>
          </p:cNvPr>
          <p:cNvSpPr txBox="1"/>
          <p:nvPr/>
        </p:nvSpPr>
        <p:spPr>
          <a:xfrm>
            <a:off x="7403818" y="3394889"/>
            <a:ext cx="351699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7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5BF76620-22C8-AFE1-C56F-51CE8985C001}"/>
              </a:ext>
            </a:extLst>
          </p:cNvPr>
          <p:cNvSpPr txBox="1"/>
          <p:nvPr/>
        </p:nvSpPr>
        <p:spPr>
          <a:xfrm>
            <a:off x="7173831" y="3481345"/>
            <a:ext cx="702756" cy="171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6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x2 &lt; 0.42 ?</a:t>
            </a:r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ACA9879F-306E-BC97-D66A-326749AE74F3}"/>
              </a:ext>
            </a:extLst>
          </p:cNvPr>
          <p:cNvSpPr/>
          <p:nvPr/>
        </p:nvSpPr>
        <p:spPr>
          <a:xfrm>
            <a:off x="963932" y="3992727"/>
            <a:ext cx="1082118" cy="270530"/>
          </a:xfrm>
          <a:prstGeom prst="rect">
            <a:avLst/>
          </a:prstGeom>
          <a:solidFill>
            <a:srgbClr val="E8C547">
              <a:alpha val="12000"/>
            </a:srgbClr>
          </a:solidFill>
          <a:ln w="21040" cap="flat">
            <a:solidFill>
              <a:srgbClr val="E8C547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F9314C44-17CA-97C4-92B2-DB2DED6F0E1F}"/>
              </a:ext>
            </a:extLst>
          </p:cNvPr>
          <p:cNvSpPr txBox="1"/>
          <p:nvPr/>
        </p:nvSpPr>
        <p:spPr>
          <a:xfrm>
            <a:off x="1294360" y="4003580"/>
            <a:ext cx="351699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8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4477E8AD-7254-3196-FFED-5548BAE5E113}"/>
              </a:ext>
            </a:extLst>
          </p:cNvPr>
          <p:cNvSpPr txBox="1"/>
          <p:nvPr/>
        </p:nvSpPr>
        <p:spPr>
          <a:xfrm>
            <a:off x="1064373" y="4090036"/>
            <a:ext cx="702756" cy="171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6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x2 &lt; 0.21 ?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FF831858-95C4-E581-34CF-D000FBC5E517}"/>
              </a:ext>
            </a:extLst>
          </p:cNvPr>
          <p:cNvSpPr/>
          <p:nvPr/>
        </p:nvSpPr>
        <p:spPr>
          <a:xfrm>
            <a:off x="2496932" y="3992727"/>
            <a:ext cx="1082118" cy="270530"/>
          </a:xfrm>
          <a:prstGeom prst="rect">
            <a:avLst/>
          </a:prstGeom>
          <a:solidFill>
            <a:srgbClr val="1C2D2E"/>
          </a:solidFill>
          <a:ln w="21040" cap="flat">
            <a:solidFill>
              <a:srgbClr val="5BC4A0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8E290512-53A3-DC09-16E1-7DCB90A55057}"/>
              </a:ext>
            </a:extLst>
          </p:cNvPr>
          <p:cNvSpPr txBox="1"/>
          <p:nvPr/>
        </p:nvSpPr>
        <p:spPr>
          <a:xfrm>
            <a:off x="2827360" y="4003580"/>
            <a:ext cx="351699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B7A99"/>
                </a:solidFill>
                <a:latin typeface="Courier New"/>
                <a:cs typeface="Courier New"/>
                <a:sym typeface="Courier New"/>
                <a:rtl val="0"/>
              </a:rPr>
              <a:t>split 9</a:t>
            </a: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01BD623C-43BA-F0DC-43E4-09251FE9ADE6}"/>
              </a:ext>
            </a:extLst>
          </p:cNvPr>
          <p:cNvSpPr txBox="1"/>
          <p:nvPr/>
        </p:nvSpPr>
        <p:spPr>
          <a:xfrm>
            <a:off x="2597374" y="4090036"/>
            <a:ext cx="702756" cy="1717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66" b="1">
                <a:ln/>
                <a:solidFill>
                  <a:srgbClr val="FFFFFF"/>
                </a:solidFill>
                <a:latin typeface="Courier New"/>
                <a:cs typeface="Courier New"/>
                <a:sym typeface="Courier New"/>
                <a:rtl val="0"/>
              </a:rPr>
              <a:t>x2 &lt; 0.39 ?</a:t>
            </a:r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03CC9A49-CEBD-D330-5FB8-A511E2EED1BF}"/>
              </a:ext>
            </a:extLst>
          </p:cNvPr>
          <p:cNvSpPr/>
          <p:nvPr/>
        </p:nvSpPr>
        <p:spPr>
          <a:xfrm>
            <a:off x="941388" y="4646507"/>
            <a:ext cx="383250" cy="293073"/>
          </a:xfrm>
          <a:prstGeom prst="rect">
            <a:avLst/>
          </a:prstGeom>
          <a:solidFill>
            <a:srgbClr val="64B5F6">
              <a:alpha val="15000"/>
            </a:srgbClr>
          </a:solidFill>
          <a:ln w="18034" cap="flat">
            <a:solidFill>
              <a:srgbClr val="64B5F6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18" name="Oval 117">
            <a:extLst>
              <a:ext uri="{FF2B5EF4-FFF2-40B4-BE49-F238E27FC236}">
                <a16:creationId xmlns:a16="http://schemas.microsoft.com/office/drawing/2014/main" id="{6D16A19B-185C-B743-F0A3-24A09154DC62}"/>
              </a:ext>
            </a:extLst>
          </p:cNvPr>
          <p:cNvSpPr/>
          <p:nvPr/>
        </p:nvSpPr>
        <p:spPr>
          <a:xfrm>
            <a:off x="1025928" y="4719775"/>
            <a:ext cx="78904" cy="78904"/>
          </a:xfrm>
          <a:prstGeom prst="ellipse">
            <a:avLst/>
          </a:prstGeom>
          <a:solidFill>
            <a:srgbClr val="64B5F6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4E4E88D1-58F0-55DB-AECF-7E869464B406}"/>
              </a:ext>
            </a:extLst>
          </p:cNvPr>
          <p:cNvSpPr txBox="1"/>
          <p:nvPr/>
        </p:nvSpPr>
        <p:spPr>
          <a:xfrm>
            <a:off x="1120793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B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1BEF4EFC-AE4A-5E55-7004-EA9EDB99BC88}"/>
              </a:ext>
            </a:extLst>
          </p:cNvPr>
          <p:cNvSpPr txBox="1"/>
          <p:nvPr/>
        </p:nvSpPr>
        <p:spPr>
          <a:xfrm>
            <a:off x="942675" y="4803896"/>
            <a:ext cx="321242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4B5F6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&gt;=0.21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7BF1771A-3F44-4874-EE47-3505542F3440}"/>
              </a:ext>
            </a:extLst>
          </p:cNvPr>
          <p:cNvSpPr/>
          <p:nvPr/>
        </p:nvSpPr>
        <p:spPr>
          <a:xfrm>
            <a:off x="1369727" y="4646507"/>
            <a:ext cx="383250" cy="293073"/>
          </a:xfrm>
          <a:prstGeom prst="rect">
            <a:avLst/>
          </a:prstGeom>
          <a:solidFill>
            <a:srgbClr val="EF9A9A">
              <a:alpha val="15000"/>
            </a:srgbClr>
          </a:solidFill>
          <a:ln w="18034" cap="flat">
            <a:solidFill>
              <a:srgbClr val="EF9A9A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22" name="Oval 121">
            <a:extLst>
              <a:ext uri="{FF2B5EF4-FFF2-40B4-BE49-F238E27FC236}">
                <a16:creationId xmlns:a16="http://schemas.microsoft.com/office/drawing/2014/main" id="{8EA10029-FA6C-267D-3D7D-73ECB8089FBF}"/>
              </a:ext>
            </a:extLst>
          </p:cNvPr>
          <p:cNvSpPr/>
          <p:nvPr/>
        </p:nvSpPr>
        <p:spPr>
          <a:xfrm>
            <a:off x="1454267" y="4719775"/>
            <a:ext cx="78904" cy="78904"/>
          </a:xfrm>
          <a:prstGeom prst="ellipse">
            <a:avLst/>
          </a:prstGeom>
          <a:solidFill>
            <a:srgbClr val="EF9A9A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CD126646-03F7-313E-8EDB-3A6BA9DAE466}"/>
              </a:ext>
            </a:extLst>
          </p:cNvPr>
          <p:cNvSpPr txBox="1"/>
          <p:nvPr/>
        </p:nvSpPr>
        <p:spPr>
          <a:xfrm>
            <a:off x="1549132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EF9A9A"/>
                </a:solidFill>
                <a:latin typeface="Courier New"/>
                <a:cs typeface="Courier New"/>
                <a:sym typeface="Courier New"/>
                <a:rtl val="0"/>
              </a:rPr>
              <a:t>A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6C9F7EAE-46C0-2D84-00DD-E0305F8FD86F}"/>
              </a:ext>
            </a:extLst>
          </p:cNvPr>
          <p:cNvSpPr txBox="1"/>
          <p:nvPr/>
        </p:nvSpPr>
        <p:spPr>
          <a:xfrm>
            <a:off x="1391306" y="4803896"/>
            <a:ext cx="290785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EF9A9A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&lt;0.21</a:t>
            </a: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11F12847-0868-9D29-E642-D282303D285C}"/>
              </a:ext>
            </a:extLst>
          </p:cNvPr>
          <p:cNvSpPr/>
          <p:nvPr/>
        </p:nvSpPr>
        <p:spPr>
          <a:xfrm>
            <a:off x="2654741" y="4646507"/>
            <a:ext cx="383250" cy="293073"/>
          </a:xfrm>
          <a:prstGeom prst="rect">
            <a:avLst/>
          </a:prstGeom>
          <a:solidFill>
            <a:srgbClr val="64B5F6">
              <a:alpha val="15000"/>
            </a:srgbClr>
          </a:solidFill>
          <a:ln w="18034" cap="flat">
            <a:solidFill>
              <a:srgbClr val="64B5F6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26" name="Oval 125">
            <a:extLst>
              <a:ext uri="{FF2B5EF4-FFF2-40B4-BE49-F238E27FC236}">
                <a16:creationId xmlns:a16="http://schemas.microsoft.com/office/drawing/2014/main" id="{BD6654BA-ACB4-0B32-61D0-D4FD43D1E464}"/>
              </a:ext>
            </a:extLst>
          </p:cNvPr>
          <p:cNvSpPr/>
          <p:nvPr/>
        </p:nvSpPr>
        <p:spPr>
          <a:xfrm>
            <a:off x="2739282" y="4719775"/>
            <a:ext cx="78904" cy="78904"/>
          </a:xfrm>
          <a:prstGeom prst="ellipse">
            <a:avLst/>
          </a:prstGeom>
          <a:solidFill>
            <a:srgbClr val="64B5F6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ECED5D6B-5BB6-4273-2E5A-39363CA840B2}"/>
              </a:ext>
            </a:extLst>
          </p:cNvPr>
          <p:cNvSpPr txBox="1"/>
          <p:nvPr/>
        </p:nvSpPr>
        <p:spPr>
          <a:xfrm>
            <a:off x="2834147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B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90D494D0-E2D1-6B22-5289-2088D9A58D90}"/>
              </a:ext>
            </a:extLst>
          </p:cNvPr>
          <p:cNvSpPr txBox="1"/>
          <p:nvPr/>
        </p:nvSpPr>
        <p:spPr>
          <a:xfrm>
            <a:off x="2656028" y="4803896"/>
            <a:ext cx="321242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4B5F6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&gt;=0.39</a:t>
            </a:r>
          </a:p>
        </p:txBody>
      </p:sp>
      <p:sp>
        <p:nvSpPr>
          <p:cNvPr id="129" name="Rectangle 128">
            <a:extLst>
              <a:ext uri="{FF2B5EF4-FFF2-40B4-BE49-F238E27FC236}">
                <a16:creationId xmlns:a16="http://schemas.microsoft.com/office/drawing/2014/main" id="{844FD0A8-4089-AFD1-73FC-395D618569AB}"/>
              </a:ext>
            </a:extLst>
          </p:cNvPr>
          <p:cNvSpPr/>
          <p:nvPr/>
        </p:nvSpPr>
        <p:spPr>
          <a:xfrm>
            <a:off x="3083080" y="4646507"/>
            <a:ext cx="383250" cy="293073"/>
          </a:xfrm>
          <a:prstGeom prst="rect">
            <a:avLst/>
          </a:prstGeom>
          <a:solidFill>
            <a:srgbClr val="EF9A9A">
              <a:alpha val="15000"/>
            </a:srgbClr>
          </a:solidFill>
          <a:ln w="18034" cap="flat">
            <a:solidFill>
              <a:srgbClr val="EF9A9A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0" name="Oval 129">
            <a:extLst>
              <a:ext uri="{FF2B5EF4-FFF2-40B4-BE49-F238E27FC236}">
                <a16:creationId xmlns:a16="http://schemas.microsoft.com/office/drawing/2014/main" id="{5FF2DA60-7448-705B-B0E0-703750D7CBAF}"/>
              </a:ext>
            </a:extLst>
          </p:cNvPr>
          <p:cNvSpPr/>
          <p:nvPr/>
        </p:nvSpPr>
        <p:spPr>
          <a:xfrm>
            <a:off x="3167621" y="4719775"/>
            <a:ext cx="78904" cy="78904"/>
          </a:xfrm>
          <a:prstGeom prst="ellipse">
            <a:avLst/>
          </a:prstGeom>
          <a:solidFill>
            <a:srgbClr val="EF9A9A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3122FC3-224A-DED5-0443-DD3CEC4699DE}"/>
              </a:ext>
            </a:extLst>
          </p:cNvPr>
          <p:cNvSpPr txBox="1"/>
          <p:nvPr/>
        </p:nvSpPr>
        <p:spPr>
          <a:xfrm>
            <a:off x="3262485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EF9A9A"/>
                </a:solidFill>
                <a:latin typeface="Courier New"/>
                <a:cs typeface="Courier New"/>
                <a:sym typeface="Courier New"/>
                <a:rtl val="0"/>
              </a:rPr>
              <a:t>A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9FB3B1B0-AE47-45F7-9A3B-BE4E3C98D2E8}"/>
              </a:ext>
            </a:extLst>
          </p:cNvPr>
          <p:cNvSpPr txBox="1"/>
          <p:nvPr/>
        </p:nvSpPr>
        <p:spPr>
          <a:xfrm>
            <a:off x="3104660" y="4803896"/>
            <a:ext cx="290785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EF9A9A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&lt;0.39</a:t>
            </a: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542EB2B1-F728-6B48-150A-5F06725F08D9}"/>
              </a:ext>
            </a:extLst>
          </p:cNvPr>
          <p:cNvSpPr/>
          <p:nvPr/>
        </p:nvSpPr>
        <p:spPr>
          <a:xfrm>
            <a:off x="4007389" y="4646507"/>
            <a:ext cx="383250" cy="293073"/>
          </a:xfrm>
          <a:prstGeom prst="rect">
            <a:avLst/>
          </a:prstGeom>
          <a:solidFill>
            <a:srgbClr val="64B5F6">
              <a:alpha val="15000"/>
            </a:srgbClr>
          </a:solidFill>
          <a:ln w="18034" cap="flat">
            <a:solidFill>
              <a:srgbClr val="64B5F6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3AB132B-54CB-EA47-FB6B-7E53804BA0DD}"/>
              </a:ext>
            </a:extLst>
          </p:cNvPr>
          <p:cNvSpPr/>
          <p:nvPr/>
        </p:nvSpPr>
        <p:spPr>
          <a:xfrm>
            <a:off x="4091930" y="4719775"/>
            <a:ext cx="78904" cy="78904"/>
          </a:xfrm>
          <a:prstGeom prst="ellipse">
            <a:avLst/>
          </a:prstGeom>
          <a:solidFill>
            <a:srgbClr val="64B5F6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58F449D-FF5C-0308-F43E-CF9F3D51C26D}"/>
              </a:ext>
            </a:extLst>
          </p:cNvPr>
          <p:cNvSpPr txBox="1"/>
          <p:nvPr/>
        </p:nvSpPr>
        <p:spPr>
          <a:xfrm>
            <a:off x="4186794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B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E97A8E14-5A23-BC8F-3FAD-94B57113C16A}"/>
              </a:ext>
            </a:extLst>
          </p:cNvPr>
          <p:cNvSpPr txBox="1"/>
          <p:nvPr/>
        </p:nvSpPr>
        <p:spPr>
          <a:xfrm>
            <a:off x="4008676" y="4803896"/>
            <a:ext cx="321242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4B5F6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&gt;=0.29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A6978750-B8AA-0679-25CB-5D98D0B1109B}"/>
              </a:ext>
            </a:extLst>
          </p:cNvPr>
          <p:cNvSpPr/>
          <p:nvPr/>
        </p:nvSpPr>
        <p:spPr>
          <a:xfrm>
            <a:off x="4435727" y="4646507"/>
            <a:ext cx="383250" cy="293073"/>
          </a:xfrm>
          <a:prstGeom prst="rect">
            <a:avLst/>
          </a:prstGeom>
          <a:solidFill>
            <a:srgbClr val="EF9A9A">
              <a:alpha val="15000"/>
            </a:srgbClr>
          </a:solidFill>
          <a:ln w="18034" cap="flat">
            <a:solidFill>
              <a:srgbClr val="EF9A9A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8" name="Oval 137">
            <a:extLst>
              <a:ext uri="{FF2B5EF4-FFF2-40B4-BE49-F238E27FC236}">
                <a16:creationId xmlns:a16="http://schemas.microsoft.com/office/drawing/2014/main" id="{381E3D71-B229-E727-F9D1-EF25F2D448BA}"/>
              </a:ext>
            </a:extLst>
          </p:cNvPr>
          <p:cNvSpPr/>
          <p:nvPr/>
        </p:nvSpPr>
        <p:spPr>
          <a:xfrm>
            <a:off x="4520268" y="4719775"/>
            <a:ext cx="78904" cy="78904"/>
          </a:xfrm>
          <a:prstGeom prst="ellipse">
            <a:avLst/>
          </a:prstGeom>
          <a:solidFill>
            <a:srgbClr val="EF9A9A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1083D20-5AFD-8F72-5F13-004C2333AA82}"/>
              </a:ext>
            </a:extLst>
          </p:cNvPr>
          <p:cNvSpPr txBox="1"/>
          <p:nvPr/>
        </p:nvSpPr>
        <p:spPr>
          <a:xfrm>
            <a:off x="4615133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EF9A9A"/>
                </a:solidFill>
                <a:latin typeface="Courier New"/>
                <a:cs typeface="Courier New"/>
                <a:sym typeface="Courier New"/>
                <a:rtl val="0"/>
              </a:rPr>
              <a:t>A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FE63D392-1396-8939-84B2-DCA24CA63803}"/>
              </a:ext>
            </a:extLst>
          </p:cNvPr>
          <p:cNvSpPr txBox="1"/>
          <p:nvPr/>
        </p:nvSpPr>
        <p:spPr>
          <a:xfrm>
            <a:off x="4457307" y="4803896"/>
            <a:ext cx="290785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EF9A9A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&lt;0.29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9E15C0A9-DD2D-D1CA-D258-5CEAD80298B9}"/>
              </a:ext>
            </a:extLst>
          </p:cNvPr>
          <p:cNvSpPr/>
          <p:nvPr/>
        </p:nvSpPr>
        <p:spPr>
          <a:xfrm>
            <a:off x="5540390" y="4646507"/>
            <a:ext cx="383250" cy="293073"/>
          </a:xfrm>
          <a:prstGeom prst="rect">
            <a:avLst/>
          </a:prstGeom>
          <a:solidFill>
            <a:srgbClr val="64B5F6">
              <a:alpha val="15000"/>
            </a:srgbClr>
          </a:solidFill>
          <a:ln w="18034" cap="flat">
            <a:solidFill>
              <a:srgbClr val="64B5F6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CA009015-BA43-3A42-524C-C6099CE45DD4}"/>
              </a:ext>
            </a:extLst>
          </p:cNvPr>
          <p:cNvSpPr/>
          <p:nvPr/>
        </p:nvSpPr>
        <p:spPr>
          <a:xfrm>
            <a:off x="5624930" y="4719775"/>
            <a:ext cx="78904" cy="78904"/>
          </a:xfrm>
          <a:prstGeom prst="ellipse">
            <a:avLst/>
          </a:prstGeom>
          <a:solidFill>
            <a:srgbClr val="64B5F6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6A65AF6-E340-28F0-915E-93ED16954F06}"/>
              </a:ext>
            </a:extLst>
          </p:cNvPr>
          <p:cNvSpPr txBox="1"/>
          <p:nvPr/>
        </p:nvSpPr>
        <p:spPr>
          <a:xfrm>
            <a:off x="5719795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B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10225FCD-AE20-887C-C0BC-B7C2CD3AB6B1}"/>
              </a:ext>
            </a:extLst>
          </p:cNvPr>
          <p:cNvSpPr txBox="1"/>
          <p:nvPr/>
        </p:nvSpPr>
        <p:spPr>
          <a:xfrm>
            <a:off x="5541677" y="4803896"/>
            <a:ext cx="321242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4B5F6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&gt;=0.54</a:t>
            </a: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349AFD5E-BF11-D70C-8651-B10AC914D690}"/>
              </a:ext>
            </a:extLst>
          </p:cNvPr>
          <p:cNvSpPr/>
          <p:nvPr/>
        </p:nvSpPr>
        <p:spPr>
          <a:xfrm>
            <a:off x="5968728" y="4646507"/>
            <a:ext cx="383250" cy="293073"/>
          </a:xfrm>
          <a:prstGeom prst="rect">
            <a:avLst/>
          </a:prstGeom>
          <a:solidFill>
            <a:srgbClr val="EF9A9A">
              <a:alpha val="15000"/>
            </a:srgbClr>
          </a:solidFill>
          <a:ln w="18034" cap="flat">
            <a:solidFill>
              <a:srgbClr val="EF9A9A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5B0DEEF5-CC5D-661B-F861-EC673B48B2A2}"/>
              </a:ext>
            </a:extLst>
          </p:cNvPr>
          <p:cNvSpPr/>
          <p:nvPr/>
        </p:nvSpPr>
        <p:spPr>
          <a:xfrm>
            <a:off x="6053268" y="4719775"/>
            <a:ext cx="78904" cy="78904"/>
          </a:xfrm>
          <a:prstGeom prst="ellipse">
            <a:avLst/>
          </a:prstGeom>
          <a:solidFill>
            <a:srgbClr val="EF9A9A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A055A22E-ACC0-926A-A46D-56248FEA3900}"/>
              </a:ext>
            </a:extLst>
          </p:cNvPr>
          <p:cNvSpPr txBox="1"/>
          <p:nvPr/>
        </p:nvSpPr>
        <p:spPr>
          <a:xfrm>
            <a:off x="6148133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EF9A9A"/>
                </a:solidFill>
                <a:latin typeface="Courier New"/>
                <a:cs typeface="Courier New"/>
                <a:sym typeface="Courier New"/>
                <a:rtl val="0"/>
              </a:rPr>
              <a:t>A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E6AD56A-C16D-C05C-CEE0-94B25C109687}"/>
              </a:ext>
            </a:extLst>
          </p:cNvPr>
          <p:cNvSpPr txBox="1"/>
          <p:nvPr/>
        </p:nvSpPr>
        <p:spPr>
          <a:xfrm>
            <a:off x="5990308" y="4803896"/>
            <a:ext cx="290785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EF9A9A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&lt;0.54</a:t>
            </a:r>
          </a:p>
        </p:txBody>
      </p:sp>
      <p:sp>
        <p:nvSpPr>
          <p:cNvPr id="149" name="Rectangle 148">
            <a:extLst>
              <a:ext uri="{FF2B5EF4-FFF2-40B4-BE49-F238E27FC236}">
                <a16:creationId xmlns:a16="http://schemas.microsoft.com/office/drawing/2014/main" id="{CBD788D4-D33B-BF86-6942-AD218A9C7732}"/>
              </a:ext>
            </a:extLst>
          </p:cNvPr>
          <p:cNvSpPr/>
          <p:nvPr/>
        </p:nvSpPr>
        <p:spPr>
          <a:xfrm>
            <a:off x="7073390" y="4646507"/>
            <a:ext cx="383250" cy="293073"/>
          </a:xfrm>
          <a:prstGeom prst="rect">
            <a:avLst/>
          </a:prstGeom>
          <a:solidFill>
            <a:srgbClr val="64B5F6">
              <a:alpha val="15000"/>
            </a:srgbClr>
          </a:solidFill>
          <a:ln w="18034" cap="flat">
            <a:solidFill>
              <a:srgbClr val="64B5F6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2BACBA74-8E03-1D31-9AA2-592027E47301}"/>
              </a:ext>
            </a:extLst>
          </p:cNvPr>
          <p:cNvSpPr/>
          <p:nvPr/>
        </p:nvSpPr>
        <p:spPr>
          <a:xfrm>
            <a:off x="7157931" y="4719775"/>
            <a:ext cx="78904" cy="78904"/>
          </a:xfrm>
          <a:prstGeom prst="ellipse">
            <a:avLst/>
          </a:prstGeom>
          <a:solidFill>
            <a:srgbClr val="64B5F6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8450CD2C-F18F-FAB3-5F7B-93D9A11E6A52}"/>
              </a:ext>
            </a:extLst>
          </p:cNvPr>
          <p:cNvSpPr txBox="1"/>
          <p:nvPr/>
        </p:nvSpPr>
        <p:spPr>
          <a:xfrm>
            <a:off x="7252796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B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E573DF89-9DC1-36CD-3847-8D0B65E2B6FF}"/>
              </a:ext>
            </a:extLst>
          </p:cNvPr>
          <p:cNvSpPr txBox="1"/>
          <p:nvPr/>
        </p:nvSpPr>
        <p:spPr>
          <a:xfrm>
            <a:off x="7074677" y="4803896"/>
            <a:ext cx="321242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64B5F6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&gt;=0.42</a:t>
            </a:r>
          </a:p>
        </p:txBody>
      </p:sp>
      <p:sp>
        <p:nvSpPr>
          <p:cNvPr id="153" name="Rectangle 152">
            <a:extLst>
              <a:ext uri="{FF2B5EF4-FFF2-40B4-BE49-F238E27FC236}">
                <a16:creationId xmlns:a16="http://schemas.microsoft.com/office/drawing/2014/main" id="{7C2C54B3-DC22-8638-2EB3-F1D0DA1F21B1}"/>
              </a:ext>
            </a:extLst>
          </p:cNvPr>
          <p:cNvSpPr/>
          <p:nvPr/>
        </p:nvSpPr>
        <p:spPr>
          <a:xfrm>
            <a:off x="7501728" y="4646507"/>
            <a:ext cx="383250" cy="293073"/>
          </a:xfrm>
          <a:prstGeom prst="rect">
            <a:avLst/>
          </a:prstGeom>
          <a:solidFill>
            <a:srgbClr val="EF9A9A">
              <a:alpha val="15000"/>
            </a:srgbClr>
          </a:solidFill>
          <a:ln w="18034" cap="flat">
            <a:solidFill>
              <a:srgbClr val="EF9A9A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A6F2D67A-5471-9348-7033-9EE393F53482}"/>
              </a:ext>
            </a:extLst>
          </p:cNvPr>
          <p:cNvSpPr/>
          <p:nvPr/>
        </p:nvSpPr>
        <p:spPr>
          <a:xfrm>
            <a:off x="7586269" y="4719775"/>
            <a:ext cx="78904" cy="78904"/>
          </a:xfrm>
          <a:prstGeom prst="ellipse">
            <a:avLst/>
          </a:prstGeom>
          <a:solidFill>
            <a:srgbClr val="EF9A9A">
              <a:alpha val="85000"/>
            </a:srgbClr>
          </a:solidFill>
          <a:ln w="15028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4DDD1F06-B6CD-5F57-0107-08A70E6EFA4A}"/>
              </a:ext>
            </a:extLst>
          </p:cNvPr>
          <p:cNvSpPr txBox="1"/>
          <p:nvPr/>
        </p:nvSpPr>
        <p:spPr>
          <a:xfrm>
            <a:off x="7681134" y="4690259"/>
            <a:ext cx="181781" cy="156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66" b="1">
                <a:ln/>
                <a:solidFill>
                  <a:srgbClr val="EF9A9A"/>
                </a:solidFill>
                <a:latin typeface="Courier New"/>
                <a:cs typeface="Courier New"/>
                <a:sym typeface="Courier New"/>
                <a:rtl val="0"/>
              </a:rPr>
              <a:t>A</a:t>
            </a:r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3285047F-7440-9B71-0A5F-87EA044856CD}"/>
              </a:ext>
            </a:extLst>
          </p:cNvPr>
          <p:cNvSpPr txBox="1"/>
          <p:nvPr/>
        </p:nvSpPr>
        <p:spPr>
          <a:xfrm>
            <a:off x="7523309" y="4803896"/>
            <a:ext cx="290785" cy="1308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400">
                <a:ln/>
                <a:solidFill>
                  <a:srgbClr val="EF9A9A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&lt;0.42</a:t>
            </a:r>
          </a:p>
        </p:txBody>
      </p:sp>
      <p:grpSp>
        <p:nvGrpSpPr>
          <p:cNvPr id="157" name="Graphic 16">
            <a:extLst>
              <a:ext uri="{FF2B5EF4-FFF2-40B4-BE49-F238E27FC236}">
                <a16:creationId xmlns:a16="http://schemas.microsoft.com/office/drawing/2014/main" id="{6A0EEBBB-3EAB-7E9C-DFE7-5367D0602AB6}"/>
              </a:ext>
            </a:extLst>
          </p:cNvPr>
          <p:cNvGrpSpPr/>
          <p:nvPr/>
        </p:nvGrpSpPr>
        <p:grpSpPr>
          <a:xfrm>
            <a:off x="1179378" y="4952323"/>
            <a:ext cx="6552630" cy="140936"/>
            <a:chOff x="1572503" y="5460095"/>
            <a:chExt cx="8736839" cy="187915"/>
          </a:xfrm>
          <a:solidFill>
            <a:srgbClr val="64B5F6">
              <a:alpha val="45000"/>
            </a:srgbClr>
          </a:solidFill>
        </p:grpSpPr>
        <p:sp>
          <p:nvSpPr>
            <p:cNvPr id="158" name="TextBox 157">
              <a:extLst>
                <a:ext uri="{FF2B5EF4-FFF2-40B4-BE49-F238E27FC236}">
                  <a16:creationId xmlns:a16="http://schemas.microsoft.com/office/drawing/2014/main" id="{7B216C1D-B4C9-ADB2-B97D-8886B7CAA296}"/>
                </a:ext>
              </a:extLst>
            </p:cNvPr>
            <p:cNvSpPr txBox="1"/>
            <p:nvPr/>
          </p:nvSpPr>
          <p:spPr>
            <a:xfrm>
              <a:off x="1572503" y="5460095"/>
              <a:ext cx="560837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64B5F6">
                      <a:alpha val="45000"/>
                    </a:srgbClr>
                  </a:solidFill>
                  <a:latin typeface="Courier New"/>
                  <a:cs typeface="Courier New"/>
                  <a:sym typeface="Courier New"/>
                  <a:rtl val="0"/>
                </a:rPr>
                <a:t>x2: 0.21</a:t>
              </a: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D0D9F6B4-8FE0-FD64-14F7-2032D24B0B0F}"/>
                </a:ext>
              </a:extLst>
            </p:cNvPr>
            <p:cNvSpPr txBox="1"/>
            <p:nvPr/>
          </p:nvSpPr>
          <p:spPr>
            <a:xfrm>
              <a:off x="3616504" y="5460095"/>
              <a:ext cx="560837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64B5F6">
                      <a:alpha val="45000"/>
                    </a:srgbClr>
                  </a:solidFill>
                  <a:latin typeface="Courier New"/>
                  <a:cs typeface="Courier New"/>
                  <a:sym typeface="Courier New"/>
                  <a:rtl val="0"/>
                </a:rPr>
                <a:t>x2: 0.39</a:t>
              </a:r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1B712517-401A-518E-93ED-03B519C97315}"/>
                </a:ext>
              </a:extLst>
            </p:cNvPr>
            <p:cNvSpPr txBox="1"/>
            <p:nvPr/>
          </p:nvSpPr>
          <p:spPr>
            <a:xfrm>
              <a:off x="5660504" y="5460095"/>
              <a:ext cx="560837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64B5F6">
                      <a:alpha val="45000"/>
                    </a:srgbClr>
                  </a:solidFill>
                  <a:latin typeface="Courier New"/>
                  <a:cs typeface="Courier New"/>
                  <a:sym typeface="Courier New"/>
                  <a:rtl val="0"/>
                </a:rPr>
                <a:t>x2: 0.29</a:t>
              </a:r>
            </a:p>
          </p:txBody>
        </p:sp>
        <p:sp>
          <p:nvSpPr>
            <p:cNvPr id="161" name="TextBox 160">
              <a:extLst>
                <a:ext uri="{FF2B5EF4-FFF2-40B4-BE49-F238E27FC236}">
                  <a16:creationId xmlns:a16="http://schemas.microsoft.com/office/drawing/2014/main" id="{459729A4-92E6-AFF5-FA95-50841724C594}"/>
                </a:ext>
              </a:extLst>
            </p:cNvPr>
            <p:cNvSpPr txBox="1"/>
            <p:nvPr/>
          </p:nvSpPr>
          <p:spPr>
            <a:xfrm>
              <a:off x="7704505" y="5460095"/>
              <a:ext cx="560837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64B5F6">
                      <a:alpha val="45000"/>
                    </a:srgbClr>
                  </a:solidFill>
                  <a:latin typeface="Courier New"/>
                  <a:cs typeface="Courier New"/>
                  <a:sym typeface="Courier New"/>
                  <a:rtl val="0"/>
                </a:rPr>
                <a:t>x2: 0.54</a:t>
              </a: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D88FD49C-0FB1-8D83-B641-CF54A4B901DA}"/>
                </a:ext>
              </a:extLst>
            </p:cNvPr>
            <p:cNvSpPr txBox="1"/>
            <p:nvPr/>
          </p:nvSpPr>
          <p:spPr>
            <a:xfrm>
              <a:off x="9748505" y="5460095"/>
              <a:ext cx="560837" cy="18791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466">
                  <a:ln/>
                  <a:solidFill>
                    <a:srgbClr val="64B5F6">
                      <a:alpha val="45000"/>
                    </a:srgbClr>
                  </a:solidFill>
                  <a:latin typeface="Courier New"/>
                  <a:cs typeface="Courier New"/>
                  <a:sym typeface="Courier New"/>
                  <a:rtl val="0"/>
                </a:rPr>
                <a:t>x2: 0.42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6E678E5-3C1A-3614-6039-1FBE0645773C}"/>
              </a:ext>
            </a:extLst>
          </p:cNvPr>
          <p:cNvSpPr txBox="1"/>
          <p:nvPr/>
        </p:nvSpPr>
        <p:spPr>
          <a:xfrm>
            <a:off x="930098" y="3979350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 dirty="0">
                <a:ln/>
                <a:solidFill>
                  <a:srgbClr val="E8C547"/>
                </a:solidFill>
                <a:latin typeface="Courier New"/>
                <a:cs typeface="Courier New"/>
                <a:sym typeface="Courier New"/>
                <a:rtl val="0"/>
              </a:rPr>
              <a:t>R1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FC93939-97BF-DAA9-AFF6-D47B4BBD0523}"/>
              </a:ext>
            </a:extLst>
          </p:cNvPr>
          <p:cNvSpPr txBox="1"/>
          <p:nvPr/>
        </p:nvSpPr>
        <p:spPr>
          <a:xfrm>
            <a:off x="2479917" y="4013874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 dirty="0">
                <a:ln/>
                <a:solidFill>
                  <a:srgbClr val="5BC4A0"/>
                </a:solidFill>
                <a:latin typeface="Courier New"/>
                <a:cs typeface="Courier New"/>
                <a:sym typeface="Courier New"/>
                <a:rtl val="0"/>
              </a:rPr>
              <a:t>R2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22BB27-745F-4B59-24CB-2FBF6F047659}"/>
              </a:ext>
            </a:extLst>
          </p:cNvPr>
          <p:cNvSpPr txBox="1"/>
          <p:nvPr/>
        </p:nvSpPr>
        <p:spPr>
          <a:xfrm>
            <a:off x="3964266" y="3370658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 dirty="0">
                <a:ln/>
                <a:solidFill>
                  <a:srgbClr val="E07B54"/>
                </a:solidFill>
                <a:latin typeface="Courier New"/>
                <a:cs typeface="Courier New"/>
                <a:sym typeface="Courier New"/>
                <a:rtl val="0"/>
              </a:rPr>
              <a:t>R3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FDE07BD-4004-2F20-E46E-67F83E5AADA1}"/>
              </a:ext>
            </a:extLst>
          </p:cNvPr>
          <p:cNvSpPr txBox="1"/>
          <p:nvPr/>
        </p:nvSpPr>
        <p:spPr>
          <a:xfrm>
            <a:off x="5511818" y="3377926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>
                <a:ln/>
                <a:solidFill>
                  <a:srgbClr val="A78BFA"/>
                </a:solidFill>
                <a:latin typeface="Courier New"/>
                <a:cs typeface="Courier New"/>
                <a:sym typeface="Courier New"/>
                <a:rtl val="0"/>
              </a:rPr>
              <a:t>R4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D65C39A-BA05-5B77-33AE-402905785907}"/>
              </a:ext>
            </a:extLst>
          </p:cNvPr>
          <p:cNvSpPr txBox="1"/>
          <p:nvPr/>
        </p:nvSpPr>
        <p:spPr>
          <a:xfrm>
            <a:off x="7035928" y="3396632"/>
            <a:ext cx="218650" cy="1501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526" b="1" dirty="0">
                <a:ln/>
                <a:solidFill>
                  <a:srgbClr val="64B5F6"/>
                </a:solidFill>
                <a:latin typeface="Courier New"/>
                <a:cs typeface="Courier New"/>
                <a:sym typeface="Courier New"/>
                <a:rtl val="0"/>
              </a:rPr>
              <a:t>R5</a:t>
            </a:r>
          </a:p>
        </p:txBody>
      </p:sp>
    </p:spTree>
    <p:extLst>
      <p:ext uri="{BB962C8B-B14F-4D97-AF65-F5344CB8AC3E}">
        <p14:creationId xmlns:p14="http://schemas.microsoft.com/office/powerpoint/2010/main" val="779844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68EB5-83F8-4057-3493-DF6DEB9D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279951-1574-BE0C-10D1-0B38E0092AE6}"/>
              </a:ext>
            </a:extLst>
          </p:cNvPr>
          <p:cNvSpPr/>
          <p:nvPr/>
        </p:nvSpPr>
        <p:spPr>
          <a:xfrm>
            <a:off x="0" y="857250"/>
            <a:ext cx="9141714" cy="617220"/>
          </a:xfrm>
          <a:prstGeom prst="rect">
            <a:avLst/>
          </a:prstGeom>
          <a:solidFill>
            <a:srgbClr val="0C0F14"/>
          </a:solidFill>
          <a:ln w="12700">
            <a:solidFill>
              <a:srgbClr val="0C0F1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D7561B-A2C4-8390-643E-1A6792ADE97C}"/>
              </a:ext>
            </a:extLst>
          </p:cNvPr>
          <p:cNvSpPr/>
          <p:nvPr/>
        </p:nvSpPr>
        <p:spPr>
          <a:xfrm>
            <a:off x="0" y="1474470"/>
            <a:ext cx="9141714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6D44E-8462-CB58-947D-5FCC6B2C5033}"/>
              </a:ext>
            </a:extLst>
          </p:cNvPr>
          <p:cNvSpPr/>
          <p:nvPr/>
        </p:nvSpPr>
        <p:spPr>
          <a:xfrm>
            <a:off x="274320" y="898398"/>
            <a:ext cx="5897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 &amp; the Staircase Problem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247132-4B20-8DB9-7C4A-732655657D63}"/>
              </a:ext>
            </a:extLst>
          </p:cNvPr>
          <p:cNvSpPr/>
          <p:nvPr/>
        </p:nvSpPr>
        <p:spPr>
          <a:xfrm>
            <a:off x="274320" y="1255014"/>
            <a:ext cx="5897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kern="0" spc="38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averaging many weak learners produces smooth, low-variance predictions</a:t>
            </a:r>
            <a:endParaRPr lang="en-US" sz="7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9AFAE4-4577-A55D-BF7B-B5B2A01D10E7}"/>
              </a:ext>
            </a:extLst>
          </p:cNvPr>
          <p:cNvGrpSpPr/>
          <p:nvPr/>
        </p:nvGrpSpPr>
        <p:grpSpPr>
          <a:xfrm>
            <a:off x="150876" y="1625346"/>
            <a:ext cx="2862072" cy="130302"/>
            <a:chOff x="201168" y="1024128"/>
            <a:chExt cx="3816096" cy="173736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6E46278C-0992-EE80-C57D-351AFCC602B7}"/>
                </a:ext>
              </a:extLst>
            </p:cNvPr>
            <p:cNvSpPr/>
            <p:nvPr/>
          </p:nvSpPr>
          <p:spPr>
            <a:xfrm>
              <a:off x="201168" y="1065276"/>
              <a:ext cx="91440" cy="91440"/>
            </a:xfrm>
            <a:prstGeom prst="ellipse">
              <a:avLst/>
            </a:prstGeom>
            <a:solidFill>
              <a:srgbClr val="EF9A9A"/>
            </a:solidFill>
            <a:ln w="12700">
              <a:solidFill>
                <a:srgbClr val="EF9A9A"/>
              </a:solidFill>
              <a:prstDash val="solid"/>
            </a:ln>
          </p:spPr>
          <p:txBody>
            <a:bodyPr/>
            <a:lstStyle/>
            <a:p>
              <a:endParaRPr lang="en-US" sz="825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128FB598-D512-CCBC-8555-B22602BC7275}"/>
                </a:ext>
              </a:extLst>
            </p:cNvPr>
            <p:cNvSpPr/>
            <p:nvPr/>
          </p:nvSpPr>
          <p:spPr>
            <a:xfrm>
              <a:off x="338328" y="1024128"/>
              <a:ext cx="367893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25" kern="0" spc="135" dirty="0">
                  <a:solidFill>
                    <a:srgbClr val="EF9A9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SINGLE CART TREE</a:t>
              </a:r>
              <a:endParaRPr lang="en-US" sz="825" dirty="0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87C2F6D9-2D19-695A-41DE-478BF7777D12}"/>
              </a:ext>
            </a:extLst>
          </p:cNvPr>
          <p:cNvSpPr/>
          <p:nvPr/>
        </p:nvSpPr>
        <p:spPr>
          <a:xfrm>
            <a:off x="1692157" y="5047700"/>
            <a:ext cx="27454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Variance, Low Bias</a:t>
            </a:r>
            <a:endParaRPr lang="en-US" sz="938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2B5C5B0-0A1D-0CA2-F7D9-D01178B04E7B}"/>
              </a:ext>
            </a:extLst>
          </p:cNvPr>
          <p:cNvSpPr/>
          <p:nvPr/>
        </p:nvSpPr>
        <p:spPr>
          <a:xfrm>
            <a:off x="887353" y="5336216"/>
            <a:ext cx="367434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tree fits its training sample perfectly, tracing a jagged </a:t>
            </a: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staircase</a:t>
            </a:r>
            <a:r>
              <a:rPr lang="en-US" sz="90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chases noise. Change the training data slightly and the entire boundary shifts. Predictions are unstable.</a:t>
            </a:r>
            <a:endParaRPr lang="en-US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1D9F01-FEFC-A909-2C56-B3B073853B34}"/>
              </a:ext>
            </a:extLst>
          </p:cNvPr>
          <p:cNvSpPr/>
          <p:nvPr/>
        </p:nvSpPr>
        <p:spPr>
          <a:xfrm>
            <a:off x="704659" y="1875848"/>
            <a:ext cx="3572753" cy="3023098"/>
          </a:xfrm>
          <a:prstGeom prst="rect">
            <a:avLst/>
          </a:prstGeom>
          <a:solidFill>
            <a:srgbClr val="1A2030"/>
          </a:solidFill>
          <a:ln w="18317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26F3D0A0-346E-9462-1714-21279A9999AB}"/>
              </a:ext>
            </a:extLst>
          </p:cNvPr>
          <p:cNvSpPr/>
          <p:nvPr/>
        </p:nvSpPr>
        <p:spPr>
          <a:xfrm>
            <a:off x="1034452" y="4555412"/>
            <a:ext cx="3078063" cy="13741"/>
          </a:xfrm>
          <a:custGeom>
            <a:avLst/>
            <a:gdLst>
              <a:gd name="csX0" fmla="*/ 0 w 4104084"/>
              <a:gd name="csY0" fmla="*/ 0 h 18321"/>
              <a:gd name="csX1" fmla="*/ 4104085 w 4104084"/>
              <a:gd name="csY1" fmla="*/ 0 h 18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04084" h="18321">
                <a:moveTo>
                  <a:pt x="0" y="0"/>
                </a:moveTo>
                <a:lnTo>
                  <a:pt x="4104085" y="0"/>
                </a:lnTo>
              </a:path>
            </a:pathLst>
          </a:custGeom>
          <a:ln w="21981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F300BA1F-570D-7B0E-B909-72FDB3D0B86E}"/>
              </a:ext>
            </a:extLst>
          </p:cNvPr>
          <p:cNvSpPr/>
          <p:nvPr/>
        </p:nvSpPr>
        <p:spPr>
          <a:xfrm>
            <a:off x="1034452" y="2040744"/>
            <a:ext cx="13741" cy="2514668"/>
          </a:xfrm>
          <a:custGeom>
            <a:avLst/>
            <a:gdLst>
              <a:gd name="csX0" fmla="*/ 0 w 18321"/>
              <a:gd name="csY0" fmla="*/ 0 h 3352891"/>
              <a:gd name="csX1" fmla="*/ 0 w 18321"/>
              <a:gd name="csY1" fmla="*/ 3352891 h 335289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321" h="3352891">
                <a:moveTo>
                  <a:pt x="0" y="0"/>
                </a:moveTo>
                <a:lnTo>
                  <a:pt x="0" y="3352891"/>
                </a:lnTo>
              </a:path>
            </a:pathLst>
          </a:custGeom>
          <a:ln w="21981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58117D-E26A-3614-D61E-78CACBC1C6E1}"/>
              </a:ext>
            </a:extLst>
          </p:cNvPr>
          <p:cNvSpPr txBox="1"/>
          <p:nvPr/>
        </p:nvSpPr>
        <p:spPr>
          <a:xfrm>
            <a:off x="2422442" y="4654067"/>
            <a:ext cx="263534" cy="194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12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A29F32-68DA-2041-CAEE-B60D7E9E9338}"/>
              </a:ext>
            </a:extLst>
          </p:cNvPr>
          <p:cNvSpPr txBox="1"/>
          <p:nvPr/>
        </p:nvSpPr>
        <p:spPr>
          <a:xfrm rot="16200000">
            <a:off x="714962" y="3207838"/>
            <a:ext cx="263534" cy="194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12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x2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BE5EC370-10B7-EDEC-044D-76DD137022FB}"/>
              </a:ext>
            </a:extLst>
          </p:cNvPr>
          <p:cNvSpPr/>
          <p:nvPr/>
        </p:nvSpPr>
        <p:spPr>
          <a:xfrm>
            <a:off x="1034452" y="3356546"/>
            <a:ext cx="3078063" cy="690435"/>
          </a:xfrm>
          <a:custGeom>
            <a:avLst/>
            <a:gdLst>
              <a:gd name="csX0" fmla="*/ 0 w 4104084"/>
              <a:gd name="csY0" fmla="*/ 920580 h 920580"/>
              <a:gd name="csX1" fmla="*/ 2052043 w 4104084"/>
              <a:gd name="csY1" fmla="*/ 4490 h 920580"/>
              <a:gd name="csX2" fmla="*/ 4104085 w 4104084"/>
              <a:gd name="csY2" fmla="*/ 224352 h 920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04084" h="920580">
                <a:moveTo>
                  <a:pt x="0" y="920580"/>
                </a:moveTo>
                <a:cubicBezTo>
                  <a:pt x="567976" y="407570"/>
                  <a:pt x="1209239" y="-50475"/>
                  <a:pt x="2052043" y="4490"/>
                </a:cubicBezTo>
                <a:cubicBezTo>
                  <a:pt x="2748271" y="59455"/>
                  <a:pt x="3371213" y="444213"/>
                  <a:pt x="4104085" y="224352"/>
                </a:cubicBezTo>
              </a:path>
            </a:pathLst>
          </a:custGeom>
          <a:noFill/>
          <a:ln w="27476" cap="flat">
            <a:solidFill>
              <a:srgbClr val="FFFF00">
                <a:alpha val="94000"/>
              </a:srgbClr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E8F59A4-0A34-0822-D023-9B836EFCE951}"/>
              </a:ext>
            </a:extLst>
          </p:cNvPr>
          <p:cNvSpPr txBox="1"/>
          <p:nvPr/>
        </p:nvSpPr>
        <p:spPr>
          <a:xfrm>
            <a:off x="3384350" y="3173419"/>
            <a:ext cx="350096" cy="17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90">
                <a:ln/>
                <a:solidFill>
                  <a:srgbClr val="FFFFFF">
                    <a:alpha val="2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true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7E64A0-4A8A-ED59-18B3-397CB9ED3F57}"/>
              </a:ext>
            </a:extLst>
          </p:cNvPr>
          <p:cNvSpPr txBox="1"/>
          <p:nvPr/>
        </p:nvSpPr>
        <p:spPr>
          <a:xfrm>
            <a:off x="1577211" y="2095873"/>
            <a:ext cx="1541128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 dirty="0">
                <a:ln/>
                <a:solidFill>
                  <a:srgbClr val="EF9A9A">
                    <a:alpha val="8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staircase ≠ true boundary</a:t>
            </a:r>
          </a:p>
        </p:txBody>
      </p:sp>
      <p:grpSp>
        <p:nvGrpSpPr>
          <p:cNvPr id="87" name="Graphic 101">
            <a:extLst>
              <a:ext uri="{FF2B5EF4-FFF2-40B4-BE49-F238E27FC236}">
                <a16:creationId xmlns:a16="http://schemas.microsoft.com/office/drawing/2014/main" id="{3E999790-5724-D0A6-C7D2-FC75C119BFE4}"/>
              </a:ext>
            </a:extLst>
          </p:cNvPr>
          <p:cNvGrpSpPr/>
          <p:nvPr/>
        </p:nvGrpSpPr>
        <p:grpSpPr>
          <a:xfrm>
            <a:off x="1199349" y="4088206"/>
            <a:ext cx="2583374" cy="261086"/>
            <a:chOff x="1599131" y="4307941"/>
            <a:chExt cx="3444499" cy="348114"/>
          </a:xfrm>
          <a:solidFill>
            <a:srgbClr val="EF9A9A">
              <a:alpha val="88000"/>
            </a:srgbClr>
          </a:solidFill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6412459-E7F2-2FC8-43F6-62C69E2337AB}"/>
                </a:ext>
              </a:extLst>
            </p:cNvPr>
            <p:cNvSpPr/>
            <p:nvPr/>
          </p:nvSpPr>
          <p:spPr>
            <a:xfrm>
              <a:off x="1599131" y="4491159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D4FF6E1-5F70-BC89-CB02-069481B72794}"/>
                </a:ext>
              </a:extLst>
            </p:cNvPr>
            <p:cNvSpPr/>
            <p:nvPr/>
          </p:nvSpPr>
          <p:spPr>
            <a:xfrm>
              <a:off x="2368647" y="4399550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20EFDC4B-0BF5-A9F4-E0B6-D7343257F407}"/>
                </a:ext>
              </a:extLst>
            </p:cNvPr>
            <p:cNvSpPr/>
            <p:nvPr/>
          </p:nvSpPr>
          <p:spPr>
            <a:xfrm>
              <a:off x="3064875" y="4509481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EBA8ED2-E551-AFCF-3931-744B0B760939}"/>
                </a:ext>
              </a:extLst>
            </p:cNvPr>
            <p:cNvSpPr/>
            <p:nvPr/>
          </p:nvSpPr>
          <p:spPr>
            <a:xfrm>
              <a:off x="3797748" y="4362906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C999125-976F-80E3-6BE3-6D9A15773B17}"/>
                </a:ext>
              </a:extLst>
            </p:cNvPr>
            <p:cNvSpPr/>
            <p:nvPr/>
          </p:nvSpPr>
          <p:spPr>
            <a:xfrm>
              <a:off x="4897056" y="4307941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93" name="Graphic 101">
            <a:extLst>
              <a:ext uri="{FF2B5EF4-FFF2-40B4-BE49-F238E27FC236}">
                <a16:creationId xmlns:a16="http://schemas.microsoft.com/office/drawing/2014/main" id="{D012A1AE-50C2-9C55-063C-7501CBB1CEAC}"/>
              </a:ext>
            </a:extLst>
          </p:cNvPr>
          <p:cNvGrpSpPr/>
          <p:nvPr/>
        </p:nvGrpSpPr>
        <p:grpSpPr>
          <a:xfrm>
            <a:off x="1309279" y="2425502"/>
            <a:ext cx="2583374" cy="329792"/>
            <a:chOff x="1745705" y="2091002"/>
            <a:chExt cx="3444499" cy="439723"/>
          </a:xfrm>
          <a:solidFill>
            <a:srgbClr val="64B5F6">
              <a:alpha val="88000"/>
            </a:srgbClr>
          </a:solidFill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6DB8F7B4-CE2E-6BD7-71F2-2D495B4D729C}"/>
                </a:ext>
              </a:extLst>
            </p:cNvPr>
            <p:cNvSpPr/>
            <p:nvPr/>
          </p:nvSpPr>
          <p:spPr>
            <a:xfrm>
              <a:off x="1745705" y="2347507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CCE2EF1-95E2-5DA7-78BE-6D714D6ABA7D}"/>
                </a:ext>
              </a:extLst>
            </p:cNvPr>
            <p:cNvSpPr/>
            <p:nvPr/>
          </p:nvSpPr>
          <p:spPr>
            <a:xfrm>
              <a:off x="2606830" y="2164289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1A9E2B6-060A-6EE0-B181-7C42AD64AA5C}"/>
                </a:ext>
              </a:extLst>
            </p:cNvPr>
            <p:cNvSpPr/>
            <p:nvPr/>
          </p:nvSpPr>
          <p:spPr>
            <a:xfrm>
              <a:off x="3394668" y="2091002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C6878AB-6A9D-58BB-4E20-6806267FB560}"/>
                </a:ext>
              </a:extLst>
            </p:cNvPr>
            <p:cNvSpPr/>
            <p:nvPr/>
          </p:nvSpPr>
          <p:spPr>
            <a:xfrm>
              <a:off x="4127540" y="2274220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7ECB8E8-DE64-0677-8146-5972B1051655}"/>
                </a:ext>
              </a:extLst>
            </p:cNvPr>
            <p:cNvSpPr/>
            <p:nvPr/>
          </p:nvSpPr>
          <p:spPr>
            <a:xfrm>
              <a:off x="5043630" y="2384151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2D257DF5-CA08-7B85-0FED-35B48BBDC78C}"/>
              </a:ext>
            </a:extLst>
          </p:cNvPr>
          <p:cNvSpPr/>
          <p:nvPr/>
        </p:nvSpPr>
        <p:spPr>
          <a:xfrm>
            <a:off x="1039214" y="3361309"/>
            <a:ext cx="3078063" cy="690435"/>
          </a:xfrm>
          <a:custGeom>
            <a:avLst/>
            <a:gdLst>
              <a:gd name="csX0" fmla="*/ 0 w 4104084"/>
              <a:gd name="csY0" fmla="*/ 920580 h 920580"/>
              <a:gd name="csX1" fmla="*/ 2052043 w 4104084"/>
              <a:gd name="csY1" fmla="*/ 4490 h 920580"/>
              <a:gd name="csX2" fmla="*/ 4104085 w 4104084"/>
              <a:gd name="csY2" fmla="*/ 224352 h 920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04084" h="920580">
                <a:moveTo>
                  <a:pt x="0" y="920580"/>
                </a:moveTo>
                <a:cubicBezTo>
                  <a:pt x="567976" y="407570"/>
                  <a:pt x="1209239" y="-50475"/>
                  <a:pt x="2052043" y="4490"/>
                </a:cubicBezTo>
                <a:cubicBezTo>
                  <a:pt x="2748271" y="59455"/>
                  <a:pt x="3371213" y="444213"/>
                  <a:pt x="4104085" y="224352"/>
                </a:cubicBezTo>
              </a:path>
            </a:pathLst>
          </a:custGeom>
          <a:noFill/>
          <a:ln w="27476" cap="flat">
            <a:solidFill>
              <a:schemeClr val="bg1">
                <a:alpha val="15000"/>
              </a:schemeClr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598BBA9-A418-B5E2-548B-39B120F29DA5}"/>
              </a:ext>
            </a:extLst>
          </p:cNvPr>
          <p:cNvSpPr/>
          <p:nvPr/>
        </p:nvSpPr>
        <p:spPr>
          <a:xfrm>
            <a:off x="1017027" y="3162307"/>
            <a:ext cx="3165532" cy="886693"/>
          </a:xfrm>
          <a:custGeom>
            <a:avLst/>
            <a:gdLst>
              <a:gd name="csX0" fmla="*/ 0 w 4252458"/>
              <a:gd name="csY0" fmla="*/ 989796 h 989796"/>
              <a:gd name="csX1" fmla="*/ 659864 w 4252458"/>
              <a:gd name="csY1" fmla="*/ 989796 h 989796"/>
              <a:gd name="csX2" fmla="*/ 659864 w 4252458"/>
              <a:gd name="csY2" fmla="*/ 439910 h 989796"/>
              <a:gd name="csX3" fmla="*/ 1319729 w 4252458"/>
              <a:gd name="csY3" fmla="*/ 439910 h 989796"/>
              <a:gd name="csX4" fmla="*/ 1319729 w 4252458"/>
              <a:gd name="csY4" fmla="*/ 733183 h 989796"/>
              <a:gd name="csX5" fmla="*/ 2016252 w 4252458"/>
              <a:gd name="csY5" fmla="*/ 733183 h 989796"/>
              <a:gd name="csX6" fmla="*/ 2016252 w 4252458"/>
              <a:gd name="csY6" fmla="*/ 0 h 989796"/>
              <a:gd name="csX7" fmla="*/ 2749435 w 4252458"/>
              <a:gd name="csY7" fmla="*/ 0 h 989796"/>
              <a:gd name="csX8" fmla="*/ 2749435 w 4252458"/>
              <a:gd name="csY8" fmla="*/ 366591 h 989796"/>
              <a:gd name="csX9" fmla="*/ 4252459 w 4252458"/>
              <a:gd name="csY9" fmla="*/ 366591 h 989796"/>
              <a:gd name="csX0" fmla="*/ 0 w 4252459"/>
              <a:gd name="csY0" fmla="*/ 989796 h 989796"/>
              <a:gd name="csX1" fmla="*/ 659864 w 4252459"/>
              <a:gd name="csY1" fmla="*/ 989796 h 989796"/>
              <a:gd name="csX2" fmla="*/ 659864 w 4252459"/>
              <a:gd name="csY2" fmla="*/ 439910 h 989796"/>
              <a:gd name="csX3" fmla="*/ 1319729 w 4252459"/>
              <a:gd name="csY3" fmla="*/ 439910 h 989796"/>
              <a:gd name="csX4" fmla="*/ 1319729 w 4252459"/>
              <a:gd name="csY4" fmla="*/ 733183 h 989796"/>
              <a:gd name="csX5" fmla="*/ 2016252 w 4252459"/>
              <a:gd name="csY5" fmla="*/ 733183 h 989796"/>
              <a:gd name="csX6" fmla="*/ 2016252 w 4252459"/>
              <a:gd name="csY6" fmla="*/ 0 h 989796"/>
              <a:gd name="csX7" fmla="*/ 2749435 w 4252459"/>
              <a:gd name="csY7" fmla="*/ 0 h 989796"/>
              <a:gd name="csX8" fmla="*/ 2749435 w 4252459"/>
              <a:gd name="csY8" fmla="*/ 690884 h 989796"/>
              <a:gd name="csX9" fmla="*/ 4252459 w 4252459"/>
              <a:gd name="csY9" fmla="*/ 366591 h 989796"/>
              <a:gd name="csX0" fmla="*/ 0 w 4265159"/>
              <a:gd name="csY0" fmla="*/ 989796 h 989796"/>
              <a:gd name="csX1" fmla="*/ 659864 w 4265159"/>
              <a:gd name="csY1" fmla="*/ 989796 h 989796"/>
              <a:gd name="csX2" fmla="*/ 659864 w 4265159"/>
              <a:gd name="csY2" fmla="*/ 439910 h 989796"/>
              <a:gd name="csX3" fmla="*/ 1319729 w 4265159"/>
              <a:gd name="csY3" fmla="*/ 439910 h 989796"/>
              <a:gd name="csX4" fmla="*/ 1319729 w 4265159"/>
              <a:gd name="csY4" fmla="*/ 733183 h 989796"/>
              <a:gd name="csX5" fmla="*/ 2016252 w 4265159"/>
              <a:gd name="csY5" fmla="*/ 733183 h 989796"/>
              <a:gd name="csX6" fmla="*/ 2016252 w 4265159"/>
              <a:gd name="csY6" fmla="*/ 0 h 989796"/>
              <a:gd name="csX7" fmla="*/ 2749435 w 4265159"/>
              <a:gd name="csY7" fmla="*/ 0 h 989796"/>
              <a:gd name="csX8" fmla="*/ 2749435 w 4265159"/>
              <a:gd name="csY8" fmla="*/ 690884 h 989796"/>
              <a:gd name="csX9" fmla="*/ 4265159 w 4265159"/>
              <a:gd name="csY9" fmla="*/ 669619 h 989796"/>
              <a:gd name="csX0" fmla="*/ 0 w 4239759"/>
              <a:gd name="csY0" fmla="*/ 989796 h 989796"/>
              <a:gd name="csX1" fmla="*/ 659864 w 4239759"/>
              <a:gd name="csY1" fmla="*/ 989796 h 989796"/>
              <a:gd name="csX2" fmla="*/ 659864 w 4239759"/>
              <a:gd name="csY2" fmla="*/ 439910 h 989796"/>
              <a:gd name="csX3" fmla="*/ 1319729 w 4239759"/>
              <a:gd name="csY3" fmla="*/ 439910 h 989796"/>
              <a:gd name="csX4" fmla="*/ 1319729 w 4239759"/>
              <a:gd name="csY4" fmla="*/ 733183 h 989796"/>
              <a:gd name="csX5" fmla="*/ 2016252 w 4239759"/>
              <a:gd name="csY5" fmla="*/ 733183 h 989796"/>
              <a:gd name="csX6" fmla="*/ 2016252 w 4239759"/>
              <a:gd name="csY6" fmla="*/ 0 h 989796"/>
              <a:gd name="csX7" fmla="*/ 2749435 w 4239759"/>
              <a:gd name="csY7" fmla="*/ 0 h 989796"/>
              <a:gd name="csX8" fmla="*/ 2749435 w 4239759"/>
              <a:gd name="csY8" fmla="*/ 690884 h 989796"/>
              <a:gd name="csX9" fmla="*/ 4239759 w 4239759"/>
              <a:gd name="csY9" fmla="*/ 685568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319729 w 4220709"/>
              <a:gd name="csY3" fmla="*/ 439910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014929 w 4220709"/>
              <a:gd name="csY4" fmla="*/ 727867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0709" h="989796">
                <a:moveTo>
                  <a:pt x="0" y="989796"/>
                </a:moveTo>
                <a:lnTo>
                  <a:pt x="659864" y="989796"/>
                </a:lnTo>
                <a:lnTo>
                  <a:pt x="659864" y="439910"/>
                </a:lnTo>
                <a:lnTo>
                  <a:pt x="1014929" y="434593"/>
                </a:lnTo>
                <a:lnTo>
                  <a:pt x="1014929" y="727867"/>
                </a:lnTo>
                <a:lnTo>
                  <a:pt x="2016252" y="733183"/>
                </a:lnTo>
                <a:lnTo>
                  <a:pt x="2016252" y="0"/>
                </a:lnTo>
                <a:lnTo>
                  <a:pt x="2749435" y="0"/>
                </a:lnTo>
                <a:lnTo>
                  <a:pt x="2749435" y="690884"/>
                </a:lnTo>
                <a:lnTo>
                  <a:pt x="4220709" y="680251"/>
                </a:lnTo>
              </a:path>
            </a:pathLst>
          </a:custGeom>
          <a:noFill/>
          <a:ln w="51292" cap="flat">
            <a:solidFill>
              <a:srgbClr val="EF9A9A"/>
            </a:solidFill>
            <a:prstDash val="solid"/>
            <a:round/>
          </a:ln>
        </p:spPr>
        <p:txBody>
          <a:bodyPr/>
          <a:lstStyle/>
          <a:p>
            <a:endParaRPr lang="en-US" sz="1350"/>
          </a:p>
        </p:txBody>
      </p:sp>
      <p:pic>
        <p:nvPicPr>
          <p:cNvPr id="6" name="Picture 2" descr="https://gamebooks.org/gallery/cyoa001o.jpg">
            <a:extLst>
              <a:ext uri="{FF2B5EF4-FFF2-40B4-BE49-F238E27FC236}">
                <a16:creationId xmlns:a16="http://schemas.microsoft.com/office/drawing/2014/main" id="{487F7C27-68B4-B9EC-02EC-B855F905C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8832" y="1570757"/>
            <a:ext cx="3006682" cy="50348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3014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6" grpId="0"/>
      <p:bldP spid="99" grpId="0" animBg="1"/>
      <p:bldP spid="2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6CF6-71D5-351F-95BF-556F09B8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04">
            <a:extLst>
              <a:ext uri="{FF2B5EF4-FFF2-40B4-BE49-F238E27FC236}">
                <a16:creationId xmlns:a16="http://schemas.microsoft.com/office/drawing/2014/main" id="{5F91AFEF-A8F3-EBCA-90C8-2F038C662079}"/>
              </a:ext>
            </a:extLst>
          </p:cNvPr>
          <p:cNvSpPr/>
          <p:nvPr/>
        </p:nvSpPr>
        <p:spPr>
          <a:xfrm>
            <a:off x="587886" y="1852208"/>
            <a:ext cx="3684242" cy="3024378"/>
          </a:xfrm>
          <a:prstGeom prst="rect">
            <a:avLst/>
          </a:prstGeom>
          <a:solidFill>
            <a:srgbClr val="1A2030"/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3A115C3-B732-E027-A09D-21617B6CFD03}"/>
              </a:ext>
            </a:extLst>
          </p:cNvPr>
          <p:cNvSpPr/>
          <p:nvPr/>
        </p:nvSpPr>
        <p:spPr>
          <a:xfrm>
            <a:off x="0" y="857250"/>
            <a:ext cx="9141714" cy="617220"/>
          </a:xfrm>
          <a:prstGeom prst="rect">
            <a:avLst/>
          </a:prstGeom>
          <a:solidFill>
            <a:srgbClr val="0C0F14"/>
          </a:solidFill>
          <a:ln w="12700">
            <a:solidFill>
              <a:srgbClr val="0C0F1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AE2B6A-98A1-A8D4-5B76-0F6EE8AAF8A3}"/>
              </a:ext>
            </a:extLst>
          </p:cNvPr>
          <p:cNvSpPr/>
          <p:nvPr/>
        </p:nvSpPr>
        <p:spPr>
          <a:xfrm>
            <a:off x="0" y="1474470"/>
            <a:ext cx="9141714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A60346-B591-1A2C-2E6A-89F12653F02B}"/>
              </a:ext>
            </a:extLst>
          </p:cNvPr>
          <p:cNvSpPr/>
          <p:nvPr/>
        </p:nvSpPr>
        <p:spPr>
          <a:xfrm>
            <a:off x="274320" y="898398"/>
            <a:ext cx="5897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 &amp; the Staircase Problem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530528-7766-C4C4-8C3D-F70430B76322}"/>
              </a:ext>
            </a:extLst>
          </p:cNvPr>
          <p:cNvSpPr/>
          <p:nvPr/>
        </p:nvSpPr>
        <p:spPr>
          <a:xfrm>
            <a:off x="274320" y="1255014"/>
            <a:ext cx="5897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kern="0" spc="38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averaging many weak learners produces smooth, low-variance predictions</a:t>
            </a:r>
            <a:endParaRPr lang="en-US" sz="7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AB6A9E-3D84-0A4B-FDEE-628BC15DDA2B}"/>
              </a:ext>
            </a:extLst>
          </p:cNvPr>
          <p:cNvSpPr/>
          <p:nvPr/>
        </p:nvSpPr>
        <p:spPr>
          <a:xfrm>
            <a:off x="6013475" y="1042416"/>
            <a:ext cx="565785" cy="219456"/>
          </a:xfrm>
          <a:prstGeom prst="rect">
            <a:avLst/>
          </a:prstGeom>
          <a:solidFill>
            <a:srgbClr val="13181F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05915A-28A2-70AC-9852-92A6B3F93F3B}"/>
              </a:ext>
            </a:extLst>
          </p:cNvPr>
          <p:cNvSpPr/>
          <p:nvPr/>
        </p:nvSpPr>
        <p:spPr>
          <a:xfrm>
            <a:off x="6013475" y="1042416"/>
            <a:ext cx="5657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kern="0" spc="113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BAGGING</a:t>
            </a:r>
            <a:endParaRPr lang="en-US" sz="488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611F71A-3D4B-927D-9E63-79BF18B614E8}"/>
              </a:ext>
            </a:extLst>
          </p:cNvPr>
          <p:cNvSpPr/>
          <p:nvPr/>
        </p:nvSpPr>
        <p:spPr>
          <a:xfrm>
            <a:off x="7762265" y="1042416"/>
            <a:ext cx="1131570" cy="219456"/>
          </a:xfrm>
          <a:prstGeom prst="rect">
            <a:avLst/>
          </a:prstGeom>
          <a:solidFill>
            <a:srgbClr val="13181F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88F697-56B3-27A7-13C8-B6E9CF781B0B}"/>
              </a:ext>
            </a:extLst>
          </p:cNvPr>
          <p:cNvSpPr/>
          <p:nvPr/>
        </p:nvSpPr>
        <p:spPr>
          <a:xfrm>
            <a:off x="7762265" y="104241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kern="0" spc="113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 REDUCTION</a:t>
            </a:r>
            <a:endParaRPr lang="en-US" sz="488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8657AA-21AA-FA28-4F38-9AC9AA8D3F7B}"/>
              </a:ext>
            </a:extLst>
          </p:cNvPr>
          <p:cNvGrpSpPr/>
          <p:nvPr/>
        </p:nvGrpSpPr>
        <p:grpSpPr>
          <a:xfrm>
            <a:off x="150876" y="1625346"/>
            <a:ext cx="2862072" cy="130302"/>
            <a:chOff x="201168" y="1024128"/>
            <a:chExt cx="3816096" cy="173736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5738023C-A8FD-2043-9627-BA10CF6D8DF5}"/>
                </a:ext>
              </a:extLst>
            </p:cNvPr>
            <p:cNvSpPr/>
            <p:nvPr/>
          </p:nvSpPr>
          <p:spPr>
            <a:xfrm>
              <a:off x="201168" y="1065276"/>
              <a:ext cx="91440" cy="91440"/>
            </a:xfrm>
            <a:prstGeom prst="ellipse">
              <a:avLst/>
            </a:prstGeom>
            <a:solidFill>
              <a:srgbClr val="EF9A9A"/>
            </a:solidFill>
            <a:ln w="12700">
              <a:solidFill>
                <a:srgbClr val="EF9A9A"/>
              </a:solidFill>
              <a:prstDash val="solid"/>
            </a:ln>
          </p:spPr>
          <p:txBody>
            <a:bodyPr/>
            <a:lstStyle/>
            <a:p>
              <a:endParaRPr lang="en-US" sz="825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E6CD38E6-0246-D53E-E327-51E5183FF9FF}"/>
                </a:ext>
              </a:extLst>
            </p:cNvPr>
            <p:cNvSpPr/>
            <p:nvPr/>
          </p:nvSpPr>
          <p:spPr>
            <a:xfrm>
              <a:off x="338328" y="1024128"/>
              <a:ext cx="367893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kern="0" spc="135" dirty="0">
                  <a:solidFill>
                    <a:srgbClr val="EF9A9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SINGLE CART TREE</a:t>
              </a:r>
              <a:endParaRPr lang="en-US" sz="1050" dirty="0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2D406340-1B41-95A3-BC8B-F0E58DD9B4DD}"/>
              </a:ext>
            </a:extLst>
          </p:cNvPr>
          <p:cNvSpPr/>
          <p:nvPr/>
        </p:nvSpPr>
        <p:spPr>
          <a:xfrm>
            <a:off x="1438015" y="5018915"/>
            <a:ext cx="27454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Variance, Low Bias</a:t>
            </a:r>
            <a:endParaRPr lang="en-US" sz="938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1C60265-69ED-050A-A0F1-53B7DDDD84E4}"/>
              </a:ext>
            </a:extLst>
          </p:cNvPr>
          <p:cNvSpPr/>
          <p:nvPr/>
        </p:nvSpPr>
        <p:spPr>
          <a:xfrm>
            <a:off x="887352" y="5336216"/>
            <a:ext cx="28345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tree fits its training sample perfectly, tracing a jagged 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staircase</a:t>
            </a:r>
            <a:r>
              <a:rPr lang="en-US" sz="105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chases noise. </a:t>
            </a:r>
            <a:endParaRPr lang="en-US" sz="10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5D142ED-4E41-26CC-27C8-A8286137837C}"/>
              </a:ext>
            </a:extLst>
          </p:cNvPr>
          <p:cNvSpPr/>
          <p:nvPr/>
        </p:nvSpPr>
        <p:spPr>
          <a:xfrm>
            <a:off x="4602608" y="1872234"/>
            <a:ext cx="3684242" cy="3024378"/>
          </a:xfrm>
          <a:prstGeom prst="rect">
            <a:avLst/>
          </a:prstGeom>
          <a:solidFill>
            <a:srgbClr val="1A2030"/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513003BB-F0AA-C217-0C0F-70EA1C0E1C1D}"/>
              </a:ext>
            </a:extLst>
          </p:cNvPr>
          <p:cNvSpPr/>
          <p:nvPr/>
        </p:nvSpPr>
        <p:spPr>
          <a:xfrm>
            <a:off x="4437642" y="1872234"/>
            <a:ext cx="13747" cy="3024378"/>
          </a:xfrm>
          <a:custGeom>
            <a:avLst/>
            <a:gdLst>
              <a:gd name="csX0" fmla="*/ 0 w 18329"/>
              <a:gd name="csY0" fmla="*/ 0 h 4032504"/>
              <a:gd name="csX1" fmla="*/ 0 w 18329"/>
              <a:gd name="csY1" fmla="*/ 4032504 h 403250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329" h="4032504">
                <a:moveTo>
                  <a:pt x="0" y="0"/>
                </a:moveTo>
                <a:lnTo>
                  <a:pt x="0" y="4032504"/>
                </a:lnTo>
              </a:path>
            </a:pathLst>
          </a:custGeom>
          <a:ln w="27478" cap="flat">
            <a:solidFill>
              <a:srgbClr val="252D3D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73CC18E-CACE-0494-67D2-FDA8039E5BA1}"/>
              </a:ext>
            </a:extLst>
          </p:cNvPr>
          <p:cNvSpPr txBox="1"/>
          <p:nvPr/>
        </p:nvSpPr>
        <p:spPr>
          <a:xfrm rot="16200000">
            <a:off x="4054943" y="3362300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same model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B7F510F-D281-DF99-86A0-143FD5FD43DA}"/>
              </a:ext>
            </a:extLst>
          </p:cNvPr>
          <p:cNvSpPr txBox="1"/>
          <p:nvPr/>
        </p:nvSpPr>
        <p:spPr>
          <a:xfrm>
            <a:off x="1879371" y="1954895"/>
            <a:ext cx="867866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 b="1">
                <a:ln/>
                <a:solidFill>
                  <a:srgbClr val="EF9A9A"/>
                </a:solidFill>
                <a:latin typeface="Courier New"/>
                <a:cs typeface="Courier New"/>
                <a:sym typeface="Courier New"/>
                <a:rtl val="0"/>
              </a:rPr>
              <a:t>TRAINING DATA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4B6B42C-457C-D09B-B093-5F6639D7B437}"/>
              </a:ext>
            </a:extLst>
          </p:cNvPr>
          <p:cNvSpPr txBox="1"/>
          <p:nvPr/>
        </p:nvSpPr>
        <p:spPr>
          <a:xfrm>
            <a:off x="1438015" y="2117559"/>
            <a:ext cx="1529906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50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staircase fit to this sample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493B5C5-ACFB-5C07-6799-7AA0C7547A9F}"/>
              </a:ext>
            </a:extLst>
          </p:cNvPr>
          <p:cNvSpPr txBox="1"/>
          <p:nvPr/>
        </p:nvSpPr>
        <p:spPr>
          <a:xfrm>
            <a:off x="5373818" y="1954895"/>
            <a:ext cx="1653338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 b="1">
                <a:ln/>
                <a:solidFill>
                  <a:srgbClr val="FFD54F"/>
                </a:solidFill>
                <a:latin typeface="Courier New"/>
                <a:cs typeface="Courier New"/>
                <a:sym typeface="Courier New"/>
                <a:rtl val="0"/>
              </a:rPr>
              <a:t>NEW DATA (different sample)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983CC5A-E468-DB2C-97C1-E14560A7644F}"/>
              </a:ext>
            </a:extLst>
          </p:cNvPr>
          <p:cNvSpPr txBox="1"/>
          <p:nvPr/>
        </p:nvSpPr>
        <p:spPr>
          <a:xfrm>
            <a:off x="5287195" y="2117559"/>
            <a:ext cx="1778372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50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same staircase applied — poor fit</a:t>
            </a: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F2B5E592-DAD0-601B-2452-AB5148DBA0DB}"/>
              </a:ext>
            </a:extLst>
          </p:cNvPr>
          <p:cNvSpPr/>
          <p:nvPr/>
        </p:nvSpPr>
        <p:spPr>
          <a:xfrm>
            <a:off x="945860" y="4552932"/>
            <a:ext cx="3189344" cy="13747"/>
          </a:xfrm>
          <a:custGeom>
            <a:avLst/>
            <a:gdLst>
              <a:gd name="csX0" fmla="*/ 0 w 4252458"/>
              <a:gd name="csY0" fmla="*/ 0 h 18329"/>
              <a:gd name="csX1" fmla="*/ 4252459 w 4252458"/>
              <a:gd name="csY1" fmla="*/ 0 h 1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52458" h="18329">
                <a:moveTo>
                  <a:pt x="0" y="0"/>
                </a:moveTo>
                <a:lnTo>
                  <a:pt x="4252459" y="0"/>
                </a:lnTo>
              </a:path>
            </a:pathLst>
          </a:custGeom>
          <a:ln w="21982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D9BA3BD6-D97C-0008-C5A5-3166B6047041}"/>
              </a:ext>
            </a:extLst>
          </p:cNvPr>
          <p:cNvSpPr/>
          <p:nvPr/>
        </p:nvSpPr>
        <p:spPr>
          <a:xfrm>
            <a:off x="945861" y="2353384"/>
            <a:ext cx="13747" cy="2199548"/>
          </a:xfrm>
          <a:custGeom>
            <a:avLst/>
            <a:gdLst>
              <a:gd name="csX0" fmla="*/ 0 w 18329"/>
              <a:gd name="csY0" fmla="*/ 0 h 2932730"/>
              <a:gd name="csX1" fmla="*/ 0 w 18329"/>
              <a:gd name="csY1" fmla="*/ 2932730 h 2932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329" h="2932730">
                <a:moveTo>
                  <a:pt x="0" y="0"/>
                </a:moveTo>
                <a:lnTo>
                  <a:pt x="0" y="2932730"/>
                </a:lnTo>
              </a:path>
            </a:pathLst>
          </a:custGeom>
          <a:ln w="21982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92BFCF7-00B7-CCB7-B607-3928A28C5C82}"/>
              </a:ext>
            </a:extLst>
          </p:cNvPr>
          <p:cNvSpPr txBox="1"/>
          <p:nvPr/>
        </p:nvSpPr>
        <p:spPr>
          <a:xfrm>
            <a:off x="2100719" y="4594352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x1 (slope)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2610F8D-5C28-E237-6DBD-B27BF9037AC5}"/>
              </a:ext>
            </a:extLst>
          </p:cNvPr>
          <p:cNvSpPr txBox="1"/>
          <p:nvPr/>
        </p:nvSpPr>
        <p:spPr>
          <a:xfrm rot="16200000">
            <a:off x="398195" y="3362300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x2 (curv.)</a:t>
            </a: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E836FFEC-4576-54D2-E320-94318DDFAF7D}"/>
              </a:ext>
            </a:extLst>
          </p:cNvPr>
          <p:cNvSpPr/>
          <p:nvPr/>
        </p:nvSpPr>
        <p:spPr>
          <a:xfrm>
            <a:off x="945860" y="3410524"/>
            <a:ext cx="3189344" cy="688751"/>
          </a:xfrm>
          <a:custGeom>
            <a:avLst/>
            <a:gdLst>
              <a:gd name="csX0" fmla="*/ 0 w 4252458"/>
              <a:gd name="csY0" fmla="*/ 918335 h 918334"/>
              <a:gd name="csX1" fmla="*/ 2126229 w 4252458"/>
              <a:gd name="csY1" fmla="*/ 1857 h 918334"/>
              <a:gd name="csX2" fmla="*/ 4252459 w 4252458"/>
              <a:gd name="csY2" fmla="*/ 185152 h 918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52458" h="918334">
                <a:moveTo>
                  <a:pt x="0" y="918335"/>
                </a:moveTo>
                <a:cubicBezTo>
                  <a:pt x="586546" y="478425"/>
                  <a:pt x="1209751" y="-34802"/>
                  <a:pt x="2126229" y="1857"/>
                </a:cubicBezTo>
                <a:cubicBezTo>
                  <a:pt x="2822753" y="38516"/>
                  <a:pt x="3409299" y="405107"/>
                  <a:pt x="4252459" y="185152"/>
                </a:cubicBezTo>
              </a:path>
            </a:pathLst>
          </a:custGeom>
          <a:noFill/>
          <a:ln w="27478" cap="flat">
            <a:solidFill>
              <a:srgbClr val="FFFFFF">
                <a:alpha val="18000"/>
              </a:srgbClr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3DD3D87-E9C7-313C-D65B-A6028D47A9E5}"/>
              </a:ext>
            </a:extLst>
          </p:cNvPr>
          <p:cNvSpPr txBox="1"/>
          <p:nvPr/>
        </p:nvSpPr>
        <p:spPr>
          <a:xfrm>
            <a:off x="3571726" y="3341057"/>
            <a:ext cx="337272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50">
                <a:ln/>
                <a:solidFill>
                  <a:srgbClr val="FFFFFF">
                    <a:alpha val="3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true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F34DD90E-5E0C-B3B7-F8C4-A527C57B6A20}"/>
              </a:ext>
            </a:extLst>
          </p:cNvPr>
          <p:cNvSpPr/>
          <p:nvPr/>
        </p:nvSpPr>
        <p:spPr>
          <a:xfrm>
            <a:off x="1131447" y="4257368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AD46E7D-6F87-6A12-FD57-32E0EBFF73F7}"/>
              </a:ext>
            </a:extLst>
          </p:cNvPr>
          <p:cNvSpPr/>
          <p:nvPr/>
        </p:nvSpPr>
        <p:spPr>
          <a:xfrm>
            <a:off x="1512202" y="3805717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7500B118-758E-D124-25EF-663902ACBE58}"/>
              </a:ext>
            </a:extLst>
          </p:cNvPr>
          <p:cNvSpPr/>
          <p:nvPr/>
        </p:nvSpPr>
        <p:spPr>
          <a:xfrm>
            <a:off x="2100622" y="4052914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3E378D4-0F61-73D2-25F9-AA24DA1C7C67}"/>
              </a:ext>
            </a:extLst>
          </p:cNvPr>
          <p:cNvSpPr/>
          <p:nvPr/>
        </p:nvSpPr>
        <p:spPr>
          <a:xfrm>
            <a:off x="2658433" y="3513599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B137CA2-DCF7-DE60-5C54-CE2BE1DE027F}"/>
              </a:ext>
            </a:extLst>
          </p:cNvPr>
          <p:cNvSpPr/>
          <p:nvPr/>
        </p:nvSpPr>
        <p:spPr>
          <a:xfrm>
            <a:off x="3161398" y="4146680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99787186-5300-10FB-EE66-09F872106F23}"/>
              </a:ext>
            </a:extLst>
          </p:cNvPr>
          <p:cNvSpPr/>
          <p:nvPr/>
        </p:nvSpPr>
        <p:spPr>
          <a:xfrm>
            <a:off x="3825892" y="4037413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4D19F8CB-253B-7574-1E36-3CE40F997745}"/>
              </a:ext>
            </a:extLst>
          </p:cNvPr>
          <p:cNvSpPr/>
          <p:nvPr/>
        </p:nvSpPr>
        <p:spPr>
          <a:xfrm>
            <a:off x="1085570" y="3481783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A2D04FA-6314-501B-7E4B-5180827F750C}"/>
              </a:ext>
            </a:extLst>
          </p:cNvPr>
          <p:cNvSpPr/>
          <p:nvPr/>
        </p:nvSpPr>
        <p:spPr>
          <a:xfrm>
            <a:off x="1531510" y="2810479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3F65707-233B-4940-7A15-CB199E3A4398}"/>
              </a:ext>
            </a:extLst>
          </p:cNvPr>
          <p:cNvSpPr/>
          <p:nvPr/>
        </p:nvSpPr>
        <p:spPr>
          <a:xfrm>
            <a:off x="2635002" y="2734057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4105759-98F6-8671-1773-4164AC4F7F7E}"/>
              </a:ext>
            </a:extLst>
          </p:cNvPr>
          <p:cNvSpPr/>
          <p:nvPr/>
        </p:nvSpPr>
        <p:spPr>
          <a:xfrm>
            <a:off x="3250279" y="2841970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0C994AE3-CE55-8685-BCCD-7A28E02E976B}"/>
              </a:ext>
            </a:extLst>
          </p:cNvPr>
          <p:cNvSpPr/>
          <p:nvPr/>
        </p:nvSpPr>
        <p:spPr>
          <a:xfrm>
            <a:off x="3840694" y="3106104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592BEC6-2216-4ADF-7D1F-E5CE1323F945}"/>
              </a:ext>
            </a:extLst>
          </p:cNvPr>
          <p:cNvSpPr/>
          <p:nvPr/>
        </p:nvSpPr>
        <p:spPr>
          <a:xfrm>
            <a:off x="2057985" y="3148966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BA3B837-6AD7-2655-4880-848B433D549E}"/>
              </a:ext>
            </a:extLst>
          </p:cNvPr>
          <p:cNvSpPr/>
          <p:nvPr/>
        </p:nvSpPr>
        <p:spPr>
          <a:xfrm>
            <a:off x="1605725" y="2380879"/>
            <a:ext cx="1869615" cy="219955"/>
          </a:xfrm>
          <a:prstGeom prst="rect">
            <a:avLst/>
          </a:prstGeom>
          <a:solidFill>
            <a:srgbClr val="81C784">
              <a:alpha val="12000"/>
            </a:srgbClr>
          </a:solidFill>
          <a:ln w="14655" cap="flat">
            <a:solidFill>
              <a:srgbClr val="81C784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9236E76-A61F-C909-5505-5E6ACCA44F8F}"/>
              </a:ext>
            </a:extLst>
          </p:cNvPr>
          <p:cNvSpPr txBox="1"/>
          <p:nvPr/>
        </p:nvSpPr>
        <p:spPr>
          <a:xfrm>
            <a:off x="1665550" y="2414275"/>
            <a:ext cx="1355179" cy="17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90">
                <a:ln/>
                <a:solidFill>
                  <a:srgbClr val="81C784"/>
                </a:solidFill>
                <a:latin typeface="Courier New"/>
                <a:cs typeface="Courier New"/>
                <a:sym typeface="Courier New"/>
                <a:rtl val="0"/>
              </a:rPr>
              <a:t>fits training perfectly</a:t>
            </a:r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3358774E-51C1-CD46-779D-E3C699D71D13}"/>
              </a:ext>
            </a:extLst>
          </p:cNvPr>
          <p:cNvSpPr/>
          <p:nvPr/>
        </p:nvSpPr>
        <p:spPr>
          <a:xfrm>
            <a:off x="4960034" y="4552932"/>
            <a:ext cx="3189344" cy="13747"/>
          </a:xfrm>
          <a:custGeom>
            <a:avLst/>
            <a:gdLst>
              <a:gd name="csX0" fmla="*/ 0 w 4252458"/>
              <a:gd name="csY0" fmla="*/ 0 h 18329"/>
              <a:gd name="csX1" fmla="*/ 4252459 w 4252458"/>
              <a:gd name="csY1" fmla="*/ 0 h 1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52458" h="18329">
                <a:moveTo>
                  <a:pt x="0" y="0"/>
                </a:moveTo>
                <a:lnTo>
                  <a:pt x="4252459" y="0"/>
                </a:lnTo>
              </a:path>
            </a:pathLst>
          </a:custGeom>
          <a:ln w="21982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6F1862EB-646D-CF02-B8F6-631CE8E2B6E0}"/>
              </a:ext>
            </a:extLst>
          </p:cNvPr>
          <p:cNvSpPr/>
          <p:nvPr/>
        </p:nvSpPr>
        <p:spPr>
          <a:xfrm>
            <a:off x="4960035" y="2353384"/>
            <a:ext cx="13747" cy="2199548"/>
          </a:xfrm>
          <a:custGeom>
            <a:avLst/>
            <a:gdLst>
              <a:gd name="csX0" fmla="*/ 0 w 18329"/>
              <a:gd name="csY0" fmla="*/ 0 h 2932730"/>
              <a:gd name="csX1" fmla="*/ 0 w 18329"/>
              <a:gd name="csY1" fmla="*/ 2932730 h 2932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329" h="2932730">
                <a:moveTo>
                  <a:pt x="0" y="0"/>
                </a:moveTo>
                <a:lnTo>
                  <a:pt x="0" y="2932730"/>
                </a:lnTo>
              </a:path>
            </a:pathLst>
          </a:custGeom>
          <a:ln w="21982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52B86EE-5726-8B71-46EB-439147848735}"/>
              </a:ext>
            </a:extLst>
          </p:cNvPr>
          <p:cNvSpPr txBox="1"/>
          <p:nvPr/>
        </p:nvSpPr>
        <p:spPr>
          <a:xfrm>
            <a:off x="6114893" y="4594352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x1 (slope)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E9AC941-8AFA-A8B2-781B-3B7194F8DDA4}"/>
              </a:ext>
            </a:extLst>
          </p:cNvPr>
          <p:cNvSpPr txBox="1"/>
          <p:nvPr/>
        </p:nvSpPr>
        <p:spPr>
          <a:xfrm rot="16200000">
            <a:off x="4412369" y="3362300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x2 (curv.)</a:t>
            </a: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54142F9E-4EFA-0CEB-02E4-317FCE8755CC}"/>
              </a:ext>
            </a:extLst>
          </p:cNvPr>
          <p:cNvSpPr/>
          <p:nvPr/>
        </p:nvSpPr>
        <p:spPr>
          <a:xfrm>
            <a:off x="4960034" y="3382931"/>
            <a:ext cx="3189344" cy="661356"/>
          </a:xfrm>
          <a:custGeom>
            <a:avLst/>
            <a:gdLst>
              <a:gd name="csX0" fmla="*/ 0 w 4252458"/>
              <a:gd name="csY0" fmla="*/ 881809 h 881808"/>
              <a:gd name="csX1" fmla="*/ 2126229 w 4252458"/>
              <a:gd name="csY1" fmla="*/ 1990 h 881808"/>
              <a:gd name="csX2" fmla="*/ 4252459 w 4252458"/>
              <a:gd name="csY2" fmla="*/ 185285 h 881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52458" h="881808">
                <a:moveTo>
                  <a:pt x="0" y="881809"/>
                </a:moveTo>
                <a:cubicBezTo>
                  <a:pt x="586546" y="441899"/>
                  <a:pt x="1209751" y="-34669"/>
                  <a:pt x="2126229" y="1990"/>
                </a:cubicBezTo>
                <a:cubicBezTo>
                  <a:pt x="2822753" y="38649"/>
                  <a:pt x="3409299" y="405240"/>
                  <a:pt x="4252459" y="185285"/>
                </a:cubicBezTo>
              </a:path>
            </a:pathLst>
          </a:custGeom>
          <a:noFill/>
          <a:ln w="32974" cap="flat">
            <a:solidFill>
              <a:srgbClr val="FFFFFF">
                <a:alpha val="25000"/>
              </a:srgbClr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45FE68C-5806-1B8E-10FD-F4BC9018E44C}"/>
              </a:ext>
            </a:extLst>
          </p:cNvPr>
          <p:cNvSpPr txBox="1"/>
          <p:nvPr/>
        </p:nvSpPr>
        <p:spPr>
          <a:xfrm>
            <a:off x="7585900" y="3313563"/>
            <a:ext cx="337272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50">
                <a:ln/>
                <a:solidFill>
                  <a:srgbClr val="FFFFFF">
                    <a:alpha val="4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true</a:t>
            </a: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52C10BB5-019E-F58B-FE2C-E659480D26BF}"/>
              </a:ext>
            </a:extLst>
          </p:cNvPr>
          <p:cNvSpPr/>
          <p:nvPr/>
        </p:nvSpPr>
        <p:spPr>
          <a:xfrm>
            <a:off x="4960035" y="3098279"/>
            <a:ext cx="3165532" cy="886693"/>
          </a:xfrm>
          <a:custGeom>
            <a:avLst/>
            <a:gdLst>
              <a:gd name="csX0" fmla="*/ 0 w 4252458"/>
              <a:gd name="csY0" fmla="*/ 989796 h 989796"/>
              <a:gd name="csX1" fmla="*/ 659864 w 4252458"/>
              <a:gd name="csY1" fmla="*/ 989796 h 989796"/>
              <a:gd name="csX2" fmla="*/ 659864 w 4252458"/>
              <a:gd name="csY2" fmla="*/ 439910 h 989796"/>
              <a:gd name="csX3" fmla="*/ 1319729 w 4252458"/>
              <a:gd name="csY3" fmla="*/ 439910 h 989796"/>
              <a:gd name="csX4" fmla="*/ 1319729 w 4252458"/>
              <a:gd name="csY4" fmla="*/ 733183 h 989796"/>
              <a:gd name="csX5" fmla="*/ 2016252 w 4252458"/>
              <a:gd name="csY5" fmla="*/ 733183 h 989796"/>
              <a:gd name="csX6" fmla="*/ 2016252 w 4252458"/>
              <a:gd name="csY6" fmla="*/ 0 h 989796"/>
              <a:gd name="csX7" fmla="*/ 2749435 w 4252458"/>
              <a:gd name="csY7" fmla="*/ 0 h 989796"/>
              <a:gd name="csX8" fmla="*/ 2749435 w 4252458"/>
              <a:gd name="csY8" fmla="*/ 366591 h 989796"/>
              <a:gd name="csX9" fmla="*/ 4252459 w 4252458"/>
              <a:gd name="csY9" fmla="*/ 366591 h 989796"/>
              <a:gd name="csX0" fmla="*/ 0 w 4252459"/>
              <a:gd name="csY0" fmla="*/ 989796 h 989796"/>
              <a:gd name="csX1" fmla="*/ 659864 w 4252459"/>
              <a:gd name="csY1" fmla="*/ 989796 h 989796"/>
              <a:gd name="csX2" fmla="*/ 659864 w 4252459"/>
              <a:gd name="csY2" fmla="*/ 439910 h 989796"/>
              <a:gd name="csX3" fmla="*/ 1319729 w 4252459"/>
              <a:gd name="csY3" fmla="*/ 439910 h 989796"/>
              <a:gd name="csX4" fmla="*/ 1319729 w 4252459"/>
              <a:gd name="csY4" fmla="*/ 733183 h 989796"/>
              <a:gd name="csX5" fmla="*/ 2016252 w 4252459"/>
              <a:gd name="csY5" fmla="*/ 733183 h 989796"/>
              <a:gd name="csX6" fmla="*/ 2016252 w 4252459"/>
              <a:gd name="csY6" fmla="*/ 0 h 989796"/>
              <a:gd name="csX7" fmla="*/ 2749435 w 4252459"/>
              <a:gd name="csY7" fmla="*/ 0 h 989796"/>
              <a:gd name="csX8" fmla="*/ 2749435 w 4252459"/>
              <a:gd name="csY8" fmla="*/ 690884 h 989796"/>
              <a:gd name="csX9" fmla="*/ 4252459 w 4252459"/>
              <a:gd name="csY9" fmla="*/ 366591 h 989796"/>
              <a:gd name="csX0" fmla="*/ 0 w 4265159"/>
              <a:gd name="csY0" fmla="*/ 989796 h 989796"/>
              <a:gd name="csX1" fmla="*/ 659864 w 4265159"/>
              <a:gd name="csY1" fmla="*/ 989796 h 989796"/>
              <a:gd name="csX2" fmla="*/ 659864 w 4265159"/>
              <a:gd name="csY2" fmla="*/ 439910 h 989796"/>
              <a:gd name="csX3" fmla="*/ 1319729 w 4265159"/>
              <a:gd name="csY3" fmla="*/ 439910 h 989796"/>
              <a:gd name="csX4" fmla="*/ 1319729 w 4265159"/>
              <a:gd name="csY4" fmla="*/ 733183 h 989796"/>
              <a:gd name="csX5" fmla="*/ 2016252 w 4265159"/>
              <a:gd name="csY5" fmla="*/ 733183 h 989796"/>
              <a:gd name="csX6" fmla="*/ 2016252 w 4265159"/>
              <a:gd name="csY6" fmla="*/ 0 h 989796"/>
              <a:gd name="csX7" fmla="*/ 2749435 w 4265159"/>
              <a:gd name="csY7" fmla="*/ 0 h 989796"/>
              <a:gd name="csX8" fmla="*/ 2749435 w 4265159"/>
              <a:gd name="csY8" fmla="*/ 690884 h 989796"/>
              <a:gd name="csX9" fmla="*/ 4265159 w 4265159"/>
              <a:gd name="csY9" fmla="*/ 669619 h 989796"/>
              <a:gd name="csX0" fmla="*/ 0 w 4239759"/>
              <a:gd name="csY0" fmla="*/ 989796 h 989796"/>
              <a:gd name="csX1" fmla="*/ 659864 w 4239759"/>
              <a:gd name="csY1" fmla="*/ 989796 h 989796"/>
              <a:gd name="csX2" fmla="*/ 659864 w 4239759"/>
              <a:gd name="csY2" fmla="*/ 439910 h 989796"/>
              <a:gd name="csX3" fmla="*/ 1319729 w 4239759"/>
              <a:gd name="csY3" fmla="*/ 439910 h 989796"/>
              <a:gd name="csX4" fmla="*/ 1319729 w 4239759"/>
              <a:gd name="csY4" fmla="*/ 733183 h 989796"/>
              <a:gd name="csX5" fmla="*/ 2016252 w 4239759"/>
              <a:gd name="csY5" fmla="*/ 733183 h 989796"/>
              <a:gd name="csX6" fmla="*/ 2016252 w 4239759"/>
              <a:gd name="csY6" fmla="*/ 0 h 989796"/>
              <a:gd name="csX7" fmla="*/ 2749435 w 4239759"/>
              <a:gd name="csY7" fmla="*/ 0 h 989796"/>
              <a:gd name="csX8" fmla="*/ 2749435 w 4239759"/>
              <a:gd name="csY8" fmla="*/ 690884 h 989796"/>
              <a:gd name="csX9" fmla="*/ 4239759 w 4239759"/>
              <a:gd name="csY9" fmla="*/ 685568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319729 w 4220709"/>
              <a:gd name="csY3" fmla="*/ 439910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014929 w 4220709"/>
              <a:gd name="csY4" fmla="*/ 727867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0709" h="989796">
                <a:moveTo>
                  <a:pt x="0" y="989796"/>
                </a:moveTo>
                <a:lnTo>
                  <a:pt x="659864" y="989796"/>
                </a:lnTo>
                <a:lnTo>
                  <a:pt x="659864" y="439910"/>
                </a:lnTo>
                <a:lnTo>
                  <a:pt x="1014929" y="434593"/>
                </a:lnTo>
                <a:lnTo>
                  <a:pt x="1014929" y="727867"/>
                </a:lnTo>
                <a:lnTo>
                  <a:pt x="2016252" y="733183"/>
                </a:lnTo>
                <a:lnTo>
                  <a:pt x="2016252" y="0"/>
                </a:lnTo>
                <a:lnTo>
                  <a:pt x="2749435" y="0"/>
                </a:lnTo>
                <a:lnTo>
                  <a:pt x="2749435" y="690884"/>
                </a:lnTo>
                <a:lnTo>
                  <a:pt x="4220709" y="680251"/>
                </a:lnTo>
              </a:path>
            </a:pathLst>
          </a:custGeom>
          <a:noFill/>
          <a:ln w="51292" cap="flat">
            <a:solidFill>
              <a:srgbClr val="EF9A9A"/>
            </a:solidFill>
            <a:prstDash val="solid"/>
            <a:round/>
          </a:ln>
        </p:spPr>
        <p:txBody>
          <a:bodyPr/>
          <a:lstStyle/>
          <a:p>
            <a:endParaRPr lang="en-US" sz="13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BEAAB5F-C975-9685-BE60-8531D7561E96}"/>
              </a:ext>
            </a:extLst>
          </p:cNvPr>
          <p:cNvSpPr txBox="1"/>
          <p:nvPr/>
        </p:nvSpPr>
        <p:spPr>
          <a:xfrm>
            <a:off x="5589058" y="3126825"/>
            <a:ext cx="742832" cy="162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9">
                <a:ln/>
                <a:solidFill>
                  <a:srgbClr val="EF9A9A">
                    <a:alpha val="4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trained on D1</a:t>
            </a:r>
          </a:p>
        </p:txBody>
      </p:sp>
      <p:grpSp>
        <p:nvGrpSpPr>
          <p:cNvPr id="165" name="Graphic 123">
            <a:extLst>
              <a:ext uri="{FF2B5EF4-FFF2-40B4-BE49-F238E27FC236}">
                <a16:creationId xmlns:a16="http://schemas.microsoft.com/office/drawing/2014/main" id="{8A2E0ED2-DB5B-B3AF-9214-200D0B1F5398}"/>
              </a:ext>
            </a:extLst>
          </p:cNvPr>
          <p:cNvGrpSpPr/>
          <p:nvPr/>
        </p:nvGrpSpPr>
        <p:grpSpPr>
          <a:xfrm>
            <a:off x="5118127" y="3941183"/>
            <a:ext cx="2928147" cy="439910"/>
            <a:chOff x="6824169" y="4111911"/>
            <a:chExt cx="3904196" cy="586546"/>
          </a:xfrm>
          <a:solidFill>
            <a:srgbClr val="EF9A9A">
              <a:alpha val="88000"/>
            </a:srgbClr>
          </a:solidFill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718A29B-BFE8-3890-2F0B-92289D142FC9}"/>
                </a:ext>
              </a:extLst>
            </p:cNvPr>
            <p:cNvSpPr/>
            <p:nvPr/>
          </p:nvSpPr>
          <p:spPr>
            <a:xfrm>
              <a:off x="6824169" y="4533491"/>
              <a:ext cx="164966" cy="164966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DB94398-EF81-25C0-D138-52B21EA73D69}"/>
                </a:ext>
              </a:extLst>
            </p:cNvPr>
            <p:cNvSpPr/>
            <p:nvPr/>
          </p:nvSpPr>
          <p:spPr>
            <a:xfrm>
              <a:off x="9316990" y="4111911"/>
              <a:ext cx="164966" cy="164966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449906F-3876-A364-99EC-A4E253BA4816}"/>
                </a:ext>
              </a:extLst>
            </p:cNvPr>
            <p:cNvSpPr/>
            <p:nvPr/>
          </p:nvSpPr>
          <p:spPr>
            <a:xfrm>
              <a:off x="10563400" y="4350195"/>
              <a:ext cx="164966" cy="164966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169" name="Graphic 123">
            <a:extLst>
              <a:ext uri="{FF2B5EF4-FFF2-40B4-BE49-F238E27FC236}">
                <a16:creationId xmlns:a16="http://schemas.microsoft.com/office/drawing/2014/main" id="{3D1029A7-C774-0E4D-D28D-AE8F729F66F4}"/>
              </a:ext>
            </a:extLst>
          </p:cNvPr>
          <p:cNvGrpSpPr/>
          <p:nvPr/>
        </p:nvGrpSpPr>
        <p:grpSpPr>
          <a:xfrm>
            <a:off x="5063138" y="2607708"/>
            <a:ext cx="3175596" cy="261196"/>
            <a:chOff x="6750851" y="2333943"/>
            <a:chExt cx="4234128" cy="348261"/>
          </a:xfrm>
          <a:solidFill>
            <a:srgbClr val="64B5F6">
              <a:alpha val="88000"/>
            </a:srgbClr>
          </a:solidFill>
        </p:grpSpPr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618324E0-B5DA-57EB-6B19-8FDB94FA767E}"/>
                </a:ext>
              </a:extLst>
            </p:cNvPr>
            <p:cNvSpPr/>
            <p:nvPr/>
          </p:nvSpPr>
          <p:spPr>
            <a:xfrm>
              <a:off x="6750851" y="2333943"/>
              <a:ext cx="164966" cy="164966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BF99EFF3-2D2E-5514-31B4-C19163BC7EB5}"/>
                </a:ext>
              </a:extLst>
            </p:cNvPr>
            <p:cNvSpPr/>
            <p:nvPr/>
          </p:nvSpPr>
          <p:spPr>
            <a:xfrm>
              <a:off x="10820014" y="2407261"/>
              <a:ext cx="164966" cy="164966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CD9C7949-C8F2-6715-DC47-69D3124EE8B0}"/>
                </a:ext>
              </a:extLst>
            </p:cNvPr>
            <p:cNvSpPr/>
            <p:nvPr/>
          </p:nvSpPr>
          <p:spPr>
            <a:xfrm>
              <a:off x="10380104" y="2517239"/>
              <a:ext cx="164966" cy="164966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175" name="Oval 174">
            <a:extLst>
              <a:ext uri="{FF2B5EF4-FFF2-40B4-BE49-F238E27FC236}">
                <a16:creationId xmlns:a16="http://schemas.microsoft.com/office/drawing/2014/main" id="{BEF63722-8828-D31E-509F-FEB759D48622}"/>
              </a:ext>
            </a:extLst>
          </p:cNvPr>
          <p:cNvSpPr/>
          <p:nvPr/>
        </p:nvSpPr>
        <p:spPr>
          <a:xfrm>
            <a:off x="5798613" y="3543646"/>
            <a:ext cx="137471" cy="137471"/>
          </a:xfrm>
          <a:prstGeom prst="ellipse">
            <a:avLst/>
          </a:prstGeom>
          <a:solidFill>
            <a:srgbClr val="EF9A9A">
              <a:alpha val="95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7326DBBF-81F8-D02D-920F-9296A476FD23}"/>
              </a:ext>
            </a:extLst>
          </p:cNvPr>
          <p:cNvSpPr/>
          <p:nvPr/>
        </p:nvSpPr>
        <p:spPr>
          <a:xfrm>
            <a:off x="6128545" y="3590631"/>
            <a:ext cx="137471" cy="137471"/>
          </a:xfrm>
          <a:prstGeom prst="ellipse">
            <a:avLst/>
          </a:prstGeom>
          <a:solidFill>
            <a:srgbClr val="EF9A9A">
              <a:alpha val="95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E9E29A0-763B-41A0-5381-D121610DCE5F}"/>
              </a:ext>
            </a:extLst>
          </p:cNvPr>
          <p:cNvGrpSpPr/>
          <p:nvPr/>
        </p:nvGrpSpPr>
        <p:grpSpPr>
          <a:xfrm>
            <a:off x="5487407" y="3506727"/>
            <a:ext cx="137471" cy="137471"/>
            <a:chOff x="7474869" y="3626177"/>
            <a:chExt cx="183295" cy="183295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4A8DCAA-4B96-6672-FB46-2EB30A3E3CED}"/>
                </a:ext>
              </a:extLst>
            </p:cNvPr>
            <p:cNvSpPr/>
            <p:nvPr/>
          </p:nvSpPr>
          <p:spPr>
            <a:xfrm>
              <a:off x="7474869" y="3626177"/>
              <a:ext cx="183295" cy="183295"/>
            </a:xfrm>
            <a:prstGeom prst="ellipse">
              <a:avLst/>
            </a:prstGeom>
            <a:solidFill>
              <a:srgbClr val="60AEEB"/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A6ED47D-CB4D-55F5-348B-F3A60BB92A40}"/>
                </a:ext>
              </a:extLst>
            </p:cNvPr>
            <p:cNvGrpSpPr/>
            <p:nvPr/>
          </p:nvGrpSpPr>
          <p:grpSpPr>
            <a:xfrm>
              <a:off x="7493198" y="3644507"/>
              <a:ext cx="146636" cy="146636"/>
              <a:chOff x="7493198" y="3644507"/>
              <a:chExt cx="146636" cy="146636"/>
            </a:xfrm>
          </p:grpSpPr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6EC7AF6E-33F9-A1B2-1C23-D0D5ECAB6BD2}"/>
                  </a:ext>
                </a:extLst>
              </p:cNvPr>
              <p:cNvSpPr/>
              <p:nvPr/>
            </p:nvSpPr>
            <p:spPr>
              <a:xfrm>
                <a:off x="7493198" y="3644507"/>
                <a:ext cx="146636" cy="146636"/>
              </a:xfrm>
              <a:custGeom>
                <a:avLst/>
                <a:gdLst>
                  <a:gd name="csX0" fmla="*/ 0 w 146636"/>
                  <a:gd name="csY0" fmla="*/ 0 h 146636"/>
                  <a:gd name="csX1" fmla="*/ 146637 w 146636"/>
                  <a:gd name="csY1" fmla="*/ 146637 h 146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6636" h="146636">
                    <a:moveTo>
                      <a:pt x="0" y="0"/>
                    </a:moveTo>
                    <a:lnTo>
                      <a:pt x="146637" y="146637"/>
                    </a:lnTo>
                  </a:path>
                </a:pathLst>
              </a:custGeom>
              <a:ln w="40301" cap="rnd">
                <a:solidFill>
                  <a:srgbClr val="FF525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5484CC5E-26D4-934A-57C8-90E91EC675F2}"/>
                  </a:ext>
                </a:extLst>
              </p:cNvPr>
              <p:cNvSpPr/>
              <p:nvPr/>
            </p:nvSpPr>
            <p:spPr>
              <a:xfrm>
                <a:off x="7493198" y="3644507"/>
                <a:ext cx="146636" cy="146636"/>
              </a:xfrm>
              <a:custGeom>
                <a:avLst/>
                <a:gdLst>
                  <a:gd name="csX0" fmla="*/ 146637 w 146636"/>
                  <a:gd name="csY0" fmla="*/ 0 h 146636"/>
                  <a:gd name="csX1" fmla="*/ 0 w 146636"/>
                  <a:gd name="csY1" fmla="*/ 146637 h 146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6636" h="146636">
                    <a:moveTo>
                      <a:pt x="146637" y="0"/>
                    </a:moveTo>
                    <a:lnTo>
                      <a:pt x="0" y="146637"/>
                    </a:lnTo>
                  </a:path>
                </a:pathLst>
              </a:custGeom>
              <a:ln w="40301" cap="rnd">
                <a:solidFill>
                  <a:srgbClr val="FF525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</p:grpSp>
      </p:grp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AB47750D-EE88-6F0C-B7DC-F877473D34E5}"/>
              </a:ext>
            </a:extLst>
          </p:cNvPr>
          <p:cNvSpPr/>
          <p:nvPr/>
        </p:nvSpPr>
        <p:spPr>
          <a:xfrm>
            <a:off x="5812359" y="3557393"/>
            <a:ext cx="109977" cy="109977"/>
          </a:xfrm>
          <a:custGeom>
            <a:avLst/>
            <a:gdLst>
              <a:gd name="csX0" fmla="*/ 0 w 146636"/>
              <a:gd name="csY0" fmla="*/ 0 h 146636"/>
              <a:gd name="csX1" fmla="*/ 146637 w 146636"/>
              <a:gd name="csY1" fmla="*/ 146637 h 146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636" h="146636">
                <a:moveTo>
                  <a:pt x="0" y="0"/>
                </a:moveTo>
                <a:lnTo>
                  <a:pt x="146637" y="146637"/>
                </a:lnTo>
              </a:path>
            </a:pathLst>
          </a:custGeom>
          <a:ln w="40301" cap="rnd">
            <a:solidFill>
              <a:srgbClr val="FF5252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F532B6D0-1555-637D-B8D6-83D807C13486}"/>
              </a:ext>
            </a:extLst>
          </p:cNvPr>
          <p:cNvSpPr/>
          <p:nvPr/>
        </p:nvSpPr>
        <p:spPr>
          <a:xfrm>
            <a:off x="5812359" y="3557393"/>
            <a:ext cx="109977" cy="109977"/>
          </a:xfrm>
          <a:custGeom>
            <a:avLst/>
            <a:gdLst>
              <a:gd name="csX0" fmla="*/ 146637 w 146636"/>
              <a:gd name="csY0" fmla="*/ 0 h 146636"/>
              <a:gd name="csX1" fmla="*/ 0 w 146636"/>
              <a:gd name="csY1" fmla="*/ 146637 h 146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636" h="146636">
                <a:moveTo>
                  <a:pt x="146637" y="0"/>
                </a:moveTo>
                <a:lnTo>
                  <a:pt x="0" y="146637"/>
                </a:lnTo>
              </a:path>
            </a:pathLst>
          </a:custGeom>
          <a:ln w="40301" cap="rnd">
            <a:solidFill>
              <a:srgbClr val="FF5252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8134DE3F-05CE-AF3E-D762-919F653D31EB}"/>
              </a:ext>
            </a:extLst>
          </p:cNvPr>
          <p:cNvSpPr/>
          <p:nvPr/>
        </p:nvSpPr>
        <p:spPr>
          <a:xfrm>
            <a:off x="6142292" y="3604378"/>
            <a:ext cx="109977" cy="109977"/>
          </a:xfrm>
          <a:custGeom>
            <a:avLst/>
            <a:gdLst>
              <a:gd name="csX0" fmla="*/ 0 w 146636"/>
              <a:gd name="csY0" fmla="*/ 0 h 146636"/>
              <a:gd name="csX1" fmla="*/ 146637 w 146636"/>
              <a:gd name="csY1" fmla="*/ 146637 h 146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636" h="146636">
                <a:moveTo>
                  <a:pt x="0" y="0"/>
                </a:moveTo>
                <a:lnTo>
                  <a:pt x="146637" y="146637"/>
                </a:lnTo>
              </a:path>
            </a:pathLst>
          </a:custGeom>
          <a:ln w="40301" cap="rnd">
            <a:solidFill>
              <a:srgbClr val="FF5252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3FEF9D71-0801-6942-BBA1-8607E47194E5}"/>
              </a:ext>
            </a:extLst>
          </p:cNvPr>
          <p:cNvSpPr/>
          <p:nvPr/>
        </p:nvSpPr>
        <p:spPr>
          <a:xfrm>
            <a:off x="6142292" y="3604378"/>
            <a:ext cx="109977" cy="109977"/>
          </a:xfrm>
          <a:custGeom>
            <a:avLst/>
            <a:gdLst>
              <a:gd name="csX0" fmla="*/ 146637 w 146636"/>
              <a:gd name="csY0" fmla="*/ 0 h 146636"/>
              <a:gd name="csX1" fmla="*/ 0 w 146636"/>
              <a:gd name="csY1" fmla="*/ 146637 h 146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636" h="146636">
                <a:moveTo>
                  <a:pt x="146637" y="0"/>
                </a:moveTo>
                <a:lnTo>
                  <a:pt x="0" y="146637"/>
                </a:lnTo>
              </a:path>
            </a:pathLst>
          </a:custGeom>
          <a:ln w="40301" cap="rnd">
            <a:solidFill>
              <a:srgbClr val="FF5252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30FA11B4-BDA2-F8F6-7E72-B99C31A1DE85}"/>
              </a:ext>
            </a:extLst>
          </p:cNvPr>
          <p:cNvGrpSpPr/>
          <p:nvPr/>
        </p:nvGrpSpPr>
        <p:grpSpPr>
          <a:xfrm>
            <a:off x="7131912" y="3511735"/>
            <a:ext cx="137471" cy="137471"/>
            <a:chOff x="9711075" y="3534530"/>
            <a:chExt cx="183295" cy="183295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D30B80C9-F9D2-0005-2D0D-113E241FA79C}"/>
                </a:ext>
              </a:extLst>
            </p:cNvPr>
            <p:cNvSpPr/>
            <p:nvPr/>
          </p:nvSpPr>
          <p:spPr>
            <a:xfrm>
              <a:off x="9711075" y="3534530"/>
              <a:ext cx="183295" cy="183295"/>
            </a:xfrm>
            <a:prstGeom prst="ellipse">
              <a:avLst/>
            </a:prstGeom>
            <a:solidFill>
              <a:srgbClr val="EF9A9A">
                <a:alpha val="95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50F976F-116B-6E95-B44D-0DAADE90C791}"/>
                </a:ext>
              </a:extLst>
            </p:cNvPr>
            <p:cNvSpPr/>
            <p:nvPr/>
          </p:nvSpPr>
          <p:spPr>
            <a:xfrm>
              <a:off x="9729405" y="3552859"/>
              <a:ext cx="146636" cy="146636"/>
            </a:xfrm>
            <a:custGeom>
              <a:avLst/>
              <a:gdLst>
                <a:gd name="csX0" fmla="*/ 0 w 146636"/>
                <a:gd name="csY0" fmla="*/ 0 h 146636"/>
                <a:gd name="csX1" fmla="*/ 146637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0" y="0"/>
                  </a:moveTo>
                  <a:lnTo>
                    <a:pt x="146637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F132967-F585-05C3-AE44-049CDB75F49D}"/>
                </a:ext>
              </a:extLst>
            </p:cNvPr>
            <p:cNvSpPr/>
            <p:nvPr/>
          </p:nvSpPr>
          <p:spPr>
            <a:xfrm>
              <a:off x="9729405" y="3552859"/>
              <a:ext cx="146636" cy="146636"/>
            </a:xfrm>
            <a:custGeom>
              <a:avLst/>
              <a:gdLst>
                <a:gd name="csX0" fmla="*/ 146637 w 146636"/>
                <a:gd name="csY0" fmla="*/ 0 h 146636"/>
                <a:gd name="csX1" fmla="*/ 0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146637" y="0"/>
                  </a:moveTo>
                  <a:lnTo>
                    <a:pt x="0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223D8D6-8B9B-02CB-ABD2-39DFC9BC2E28}"/>
              </a:ext>
            </a:extLst>
          </p:cNvPr>
          <p:cNvGrpSpPr/>
          <p:nvPr/>
        </p:nvGrpSpPr>
        <p:grpSpPr>
          <a:xfrm>
            <a:off x="6540960" y="3226926"/>
            <a:ext cx="384920" cy="151219"/>
            <a:chOff x="8721279" y="3259586"/>
            <a:chExt cx="513227" cy="201625"/>
          </a:xfrm>
        </p:grpSpPr>
        <p:grpSp>
          <p:nvGrpSpPr>
            <p:cNvPr id="178" name="Graphic 123">
              <a:extLst>
                <a:ext uri="{FF2B5EF4-FFF2-40B4-BE49-F238E27FC236}">
                  <a16:creationId xmlns:a16="http://schemas.microsoft.com/office/drawing/2014/main" id="{A85C3452-2DD1-B015-C6B2-3C043858AA98}"/>
                </a:ext>
              </a:extLst>
            </p:cNvPr>
            <p:cNvGrpSpPr/>
            <p:nvPr/>
          </p:nvGrpSpPr>
          <p:grpSpPr>
            <a:xfrm>
              <a:off x="8721279" y="3259586"/>
              <a:ext cx="513227" cy="201625"/>
              <a:chOff x="8721279" y="3259586"/>
              <a:chExt cx="513227" cy="201625"/>
            </a:xfrm>
            <a:solidFill>
              <a:srgbClr val="64B5F6">
                <a:alpha val="95000"/>
              </a:srgbClr>
            </a:solidFill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D41F0424-D0BF-5828-3CFF-F7C7EF925E80}"/>
                  </a:ext>
                </a:extLst>
              </p:cNvPr>
              <p:cNvSpPr/>
              <p:nvPr/>
            </p:nvSpPr>
            <p:spPr>
              <a:xfrm>
                <a:off x="8721279" y="3259586"/>
                <a:ext cx="183295" cy="183295"/>
              </a:xfrm>
              <a:prstGeom prst="ellipse">
                <a:avLst/>
              </a:prstGeom>
              <a:solidFill>
                <a:srgbClr val="64B5F6">
                  <a:alpha val="95000"/>
                </a:srgbClr>
              </a:solidFill>
              <a:ln w="183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206D2BC1-C730-DA54-25E0-0C7F5D12BBA5}"/>
                  </a:ext>
                </a:extLst>
              </p:cNvPr>
              <p:cNvSpPr/>
              <p:nvPr/>
            </p:nvSpPr>
            <p:spPr>
              <a:xfrm>
                <a:off x="9051211" y="3277916"/>
                <a:ext cx="183295" cy="183295"/>
              </a:xfrm>
              <a:prstGeom prst="ellipse">
                <a:avLst/>
              </a:prstGeom>
              <a:solidFill>
                <a:srgbClr val="64B5F6">
                  <a:alpha val="95000"/>
                </a:srgbClr>
              </a:solidFill>
              <a:ln w="183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F24BDB5-0631-B501-9BC1-441895C83853}"/>
                </a:ext>
              </a:extLst>
            </p:cNvPr>
            <p:cNvSpPr/>
            <p:nvPr/>
          </p:nvSpPr>
          <p:spPr>
            <a:xfrm>
              <a:off x="8739609" y="3277916"/>
              <a:ext cx="146636" cy="146636"/>
            </a:xfrm>
            <a:custGeom>
              <a:avLst/>
              <a:gdLst>
                <a:gd name="csX0" fmla="*/ 0 w 146636"/>
                <a:gd name="csY0" fmla="*/ 0 h 146636"/>
                <a:gd name="csX1" fmla="*/ 146637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0" y="0"/>
                  </a:moveTo>
                  <a:lnTo>
                    <a:pt x="146637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8B754261-64F8-49BA-AD50-991F91D84647}"/>
                </a:ext>
              </a:extLst>
            </p:cNvPr>
            <p:cNvSpPr/>
            <p:nvPr/>
          </p:nvSpPr>
          <p:spPr>
            <a:xfrm>
              <a:off x="8739609" y="3277916"/>
              <a:ext cx="146636" cy="146636"/>
            </a:xfrm>
            <a:custGeom>
              <a:avLst/>
              <a:gdLst>
                <a:gd name="csX0" fmla="*/ 146637 w 146636"/>
                <a:gd name="csY0" fmla="*/ 0 h 146636"/>
                <a:gd name="csX1" fmla="*/ 0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146637" y="0"/>
                  </a:moveTo>
                  <a:lnTo>
                    <a:pt x="0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3823CBB-7FF7-CD12-DCAF-E85548C4595C}"/>
                </a:ext>
              </a:extLst>
            </p:cNvPr>
            <p:cNvSpPr/>
            <p:nvPr/>
          </p:nvSpPr>
          <p:spPr>
            <a:xfrm>
              <a:off x="9069541" y="3296245"/>
              <a:ext cx="146636" cy="146636"/>
            </a:xfrm>
            <a:custGeom>
              <a:avLst/>
              <a:gdLst>
                <a:gd name="csX0" fmla="*/ 0 w 146636"/>
                <a:gd name="csY0" fmla="*/ 0 h 146636"/>
                <a:gd name="csX1" fmla="*/ 146637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0" y="0"/>
                  </a:moveTo>
                  <a:lnTo>
                    <a:pt x="146637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AE5F5-8568-57F7-13F2-B9809F70381F}"/>
                </a:ext>
              </a:extLst>
            </p:cNvPr>
            <p:cNvSpPr/>
            <p:nvPr/>
          </p:nvSpPr>
          <p:spPr>
            <a:xfrm>
              <a:off x="9069541" y="3296245"/>
              <a:ext cx="146636" cy="146636"/>
            </a:xfrm>
            <a:custGeom>
              <a:avLst/>
              <a:gdLst>
                <a:gd name="csX0" fmla="*/ 146637 w 146636"/>
                <a:gd name="csY0" fmla="*/ 0 h 146636"/>
                <a:gd name="csX1" fmla="*/ 0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146637" y="0"/>
                  </a:moveTo>
                  <a:lnTo>
                    <a:pt x="0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E129478-F3E3-69E3-6072-566BF006EFD6}"/>
              </a:ext>
            </a:extLst>
          </p:cNvPr>
          <p:cNvGrpSpPr/>
          <p:nvPr/>
        </p:nvGrpSpPr>
        <p:grpSpPr>
          <a:xfrm>
            <a:off x="5694112" y="2442742"/>
            <a:ext cx="1787132" cy="467404"/>
            <a:chOff x="8299699" y="2031505"/>
            <a:chExt cx="2382843" cy="623205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F8A7F2A-10F3-0679-DB23-1C5A8C2C8DB6}"/>
                </a:ext>
              </a:extLst>
            </p:cNvPr>
            <p:cNvSpPr/>
            <p:nvPr/>
          </p:nvSpPr>
          <p:spPr>
            <a:xfrm>
              <a:off x="8299699" y="2031505"/>
              <a:ext cx="2382843" cy="623205"/>
            </a:xfrm>
            <a:prstGeom prst="rect">
              <a:avLst/>
            </a:prstGeom>
            <a:solidFill>
              <a:srgbClr val="FF5252">
                <a:alpha val="10000"/>
              </a:srgbClr>
            </a:solidFill>
            <a:ln w="18319" cap="flat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2B533F49-52FE-2F4E-9847-2DAFFD14C376}"/>
                </a:ext>
              </a:extLst>
            </p:cNvPr>
            <p:cNvSpPr txBox="1"/>
            <p:nvPr/>
          </p:nvSpPr>
          <p:spPr>
            <a:xfrm>
              <a:off x="8464720" y="2112692"/>
              <a:ext cx="1595308" cy="23391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90" b="1">
                  <a:ln/>
                  <a:solidFill>
                    <a:srgbClr val="FF5252"/>
                  </a:solidFill>
                  <a:latin typeface="Courier New"/>
                  <a:cs typeface="Courier New"/>
                  <a:sym typeface="Courier New"/>
                  <a:rtl val="0"/>
                </a:rPr>
                <a:t>6 / 12 misclassified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1AF2BD9-7C7C-90EB-A57A-4582E3192C1D}"/>
                </a:ext>
              </a:extLst>
            </p:cNvPr>
            <p:cNvSpPr txBox="1"/>
            <p:nvPr/>
          </p:nvSpPr>
          <p:spPr>
            <a:xfrm>
              <a:off x="8475720" y="2358606"/>
              <a:ext cx="1576074" cy="2257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50">
                  <a:ln/>
                  <a:solidFill>
                    <a:srgbClr val="FF5252">
                      <a:alpha val="75000"/>
                    </a:srgbClr>
                  </a:solidFill>
                  <a:latin typeface="Courier New"/>
                  <a:cs typeface="Courier New"/>
                  <a:sym typeface="Courier New"/>
                  <a:rtl val="0"/>
                </a:rPr>
                <a:t>50% error on new data</a:t>
              </a:r>
            </a:p>
          </p:txBody>
        </p: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B1A9C19F-D2A7-C75F-6934-80A57D61C1D4}"/>
              </a:ext>
            </a:extLst>
          </p:cNvPr>
          <p:cNvSpPr txBox="1"/>
          <p:nvPr/>
        </p:nvSpPr>
        <p:spPr>
          <a:xfrm>
            <a:off x="5023360" y="5288420"/>
            <a:ext cx="32826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the training data slightly and the model no longer fits the data. Predictions are unstable.</a:t>
            </a:r>
            <a:endParaRPr lang="en-US" sz="1050" dirty="0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DE77F584-7274-12A7-B2DD-5D1067751FD7}"/>
              </a:ext>
            </a:extLst>
          </p:cNvPr>
          <p:cNvSpPr/>
          <p:nvPr/>
        </p:nvSpPr>
        <p:spPr>
          <a:xfrm>
            <a:off x="952734" y="3219457"/>
            <a:ext cx="3165532" cy="886693"/>
          </a:xfrm>
          <a:custGeom>
            <a:avLst/>
            <a:gdLst>
              <a:gd name="csX0" fmla="*/ 0 w 4252458"/>
              <a:gd name="csY0" fmla="*/ 989796 h 989796"/>
              <a:gd name="csX1" fmla="*/ 659864 w 4252458"/>
              <a:gd name="csY1" fmla="*/ 989796 h 989796"/>
              <a:gd name="csX2" fmla="*/ 659864 w 4252458"/>
              <a:gd name="csY2" fmla="*/ 439910 h 989796"/>
              <a:gd name="csX3" fmla="*/ 1319729 w 4252458"/>
              <a:gd name="csY3" fmla="*/ 439910 h 989796"/>
              <a:gd name="csX4" fmla="*/ 1319729 w 4252458"/>
              <a:gd name="csY4" fmla="*/ 733183 h 989796"/>
              <a:gd name="csX5" fmla="*/ 2016252 w 4252458"/>
              <a:gd name="csY5" fmla="*/ 733183 h 989796"/>
              <a:gd name="csX6" fmla="*/ 2016252 w 4252458"/>
              <a:gd name="csY6" fmla="*/ 0 h 989796"/>
              <a:gd name="csX7" fmla="*/ 2749435 w 4252458"/>
              <a:gd name="csY7" fmla="*/ 0 h 989796"/>
              <a:gd name="csX8" fmla="*/ 2749435 w 4252458"/>
              <a:gd name="csY8" fmla="*/ 366591 h 989796"/>
              <a:gd name="csX9" fmla="*/ 4252459 w 4252458"/>
              <a:gd name="csY9" fmla="*/ 366591 h 989796"/>
              <a:gd name="csX0" fmla="*/ 0 w 4252459"/>
              <a:gd name="csY0" fmla="*/ 989796 h 989796"/>
              <a:gd name="csX1" fmla="*/ 659864 w 4252459"/>
              <a:gd name="csY1" fmla="*/ 989796 h 989796"/>
              <a:gd name="csX2" fmla="*/ 659864 w 4252459"/>
              <a:gd name="csY2" fmla="*/ 439910 h 989796"/>
              <a:gd name="csX3" fmla="*/ 1319729 w 4252459"/>
              <a:gd name="csY3" fmla="*/ 439910 h 989796"/>
              <a:gd name="csX4" fmla="*/ 1319729 w 4252459"/>
              <a:gd name="csY4" fmla="*/ 733183 h 989796"/>
              <a:gd name="csX5" fmla="*/ 2016252 w 4252459"/>
              <a:gd name="csY5" fmla="*/ 733183 h 989796"/>
              <a:gd name="csX6" fmla="*/ 2016252 w 4252459"/>
              <a:gd name="csY6" fmla="*/ 0 h 989796"/>
              <a:gd name="csX7" fmla="*/ 2749435 w 4252459"/>
              <a:gd name="csY7" fmla="*/ 0 h 989796"/>
              <a:gd name="csX8" fmla="*/ 2749435 w 4252459"/>
              <a:gd name="csY8" fmla="*/ 690884 h 989796"/>
              <a:gd name="csX9" fmla="*/ 4252459 w 4252459"/>
              <a:gd name="csY9" fmla="*/ 366591 h 989796"/>
              <a:gd name="csX0" fmla="*/ 0 w 4265159"/>
              <a:gd name="csY0" fmla="*/ 989796 h 989796"/>
              <a:gd name="csX1" fmla="*/ 659864 w 4265159"/>
              <a:gd name="csY1" fmla="*/ 989796 h 989796"/>
              <a:gd name="csX2" fmla="*/ 659864 w 4265159"/>
              <a:gd name="csY2" fmla="*/ 439910 h 989796"/>
              <a:gd name="csX3" fmla="*/ 1319729 w 4265159"/>
              <a:gd name="csY3" fmla="*/ 439910 h 989796"/>
              <a:gd name="csX4" fmla="*/ 1319729 w 4265159"/>
              <a:gd name="csY4" fmla="*/ 733183 h 989796"/>
              <a:gd name="csX5" fmla="*/ 2016252 w 4265159"/>
              <a:gd name="csY5" fmla="*/ 733183 h 989796"/>
              <a:gd name="csX6" fmla="*/ 2016252 w 4265159"/>
              <a:gd name="csY6" fmla="*/ 0 h 989796"/>
              <a:gd name="csX7" fmla="*/ 2749435 w 4265159"/>
              <a:gd name="csY7" fmla="*/ 0 h 989796"/>
              <a:gd name="csX8" fmla="*/ 2749435 w 4265159"/>
              <a:gd name="csY8" fmla="*/ 690884 h 989796"/>
              <a:gd name="csX9" fmla="*/ 4265159 w 4265159"/>
              <a:gd name="csY9" fmla="*/ 669619 h 989796"/>
              <a:gd name="csX0" fmla="*/ 0 w 4239759"/>
              <a:gd name="csY0" fmla="*/ 989796 h 989796"/>
              <a:gd name="csX1" fmla="*/ 659864 w 4239759"/>
              <a:gd name="csY1" fmla="*/ 989796 h 989796"/>
              <a:gd name="csX2" fmla="*/ 659864 w 4239759"/>
              <a:gd name="csY2" fmla="*/ 439910 h 989796"/>
              <a:gd name="csX3" fmla="*/ 1319729 w 4239759"/>
              <a:gd name="csY3" fmla="*/ 439910 h 989796"/>
              <a:gd name="csX4" fmla="*/ 1319729 w 4239759"/>
              <a:gd name="csY4" fmla="*/ 733183 h 989796"/>
              <a:gd name="csX5" fmla="*/ 2016252 w 4239759"/>
              <a:gd name="csY5" fmla="*/ 733183 h 989796"/>
              <a:gd name="csX6" fmla="*/ 2016252 w 4239759"/>
              <a:gd name="csY6" fmla="*/ 0 h 989796"/>
              <a:gd name="csX7" fmla="*/ 2749435 w 4239759"/>
              <a:gd name="csY7" fmla="*/ 0 h 989796"/>
              <a:gd name="csX8" fmla="*/ 2749435 w 4239759"/>
              <a:gd name="csY8" fmla="*/ 690884 h 989796"/>
              <a:gd name="csX9" fmla="*/ 4239759 w 4239759"/>
              <a:gd name="csY9" fmla="*/ 685568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319729 w 4220709"/>
              <a:gd name="csY3" fmla="*/ 439910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014929 w 4220709"/>
              <a:gd name="csY4" fmla="*/ 727867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0709" h="989796">
                <a:moveTo>
                  <a:pt x="0" y="989796"/>
                </a:moveTo>
                <a:lnTo>
                  <a:pt x="659864" y="989796"/>
                </a:lnTo>
                <a:lnTo>
                  <a:pt x="659864" y="439910"/>
                </a:lnTo>
                <a:lnTo>
                  <a:pt x="1014929" y="434593"/>
                </a:lnTo>
                <a:lnTo>
                  <a:pt x="1014929" y="727867"/>
                </a:lnTo>
                <a:lnTo>
                  <a:pt x="2016252" y="733183"/>
                </a:lnTo>
                <a:lnTo>
                  <a:pt x="2016252" y="0"/>
                </a:lnTo>
                <a:lnTo>
                  <a:pt x="2749435" y="0"/>
                </a:lnTo>
                <a:lnTo>
                  <a:pt x="2749435" y="690884"/>
                </a:lnTo>
                <a:lnTo>
                  <a:pt x="4220709" y="680251"/>
                </a:lnTo>
              </a:path>
            </a:pathLst>
          </a:custGeom>
          <a:noFill/>
          <a:ln w="51292" cap="flat">
            <a:solidFill>
              <a:srgbClr val="EF9A9A"/>
            </a:solidFill>
            <a:prstDash val="solid"/>
            <a:round/>
          </a:ln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6783836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4E946B-F6DD-4061-9B05-CB33AEC0E3A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06"/>
          <a:stretch/>
        </p:blipFill>
        <p:spPr>
          <a:xfrm>
            <a:off x="342900" y="609440"/>
            <a:ext cx="8458200" cy="563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6570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0180A6-9358-4FF3-8BB9-BF737073ED2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500" t="19778" r="19500" b="11778"/>
          <a:stretch/>
        </p:blipFill>
        <p:spPr>
          <a:xfrm>
            <a:off x="207292" y="2161311"/>
            <a:ext cx="7002482" cy="44195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8069132C-D511-4662-A9F9-F059941FE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292" y="785266"/>
            <a:ext cx="7329581" cy="1015671"/>
          </a:xfrm>
        </p:spPr>
        <p:txBody>
          <a:bodyPr>
            <a:normAutofit/>
          </a:bodyPr>
          <a:lstStyle/>
          <a:p>
            <a:br>
              <a:rPr lang="en-US" sz="3200" dirty="0">
                <a:solidFill>
                  <a:schemeClr val="bg1"/>
                </a:solidFill>
              </a:rPr>
            </a:br>
            <a:endParaRPr lang="en-US" sz="3200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11A66D-36AB-40B4-AAFC-8C4A712AE5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2754" y="22936"/>
            <a:ext cx="2285956" cy="2733555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905BBE31-C615-45DE-94EC-57962CE62E89}"/>
              </a:ext>
            </a:extLst>
          </p:cNvPr>
          <p:cNvSpPr txBox="1">
            <a:spLocks/>
          </p:cNvSpPr>
          <p:nvPr/>
        </p:nvSpPr>
        <p:spPr>
          <a:xfrm>
            <a:off x="7255955" y="4354945"/>
            <a:ext cx="1727200" cy="17177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From </a:t>
            </a:r>
            <a:r>
              <a:rPr lang="en-US" sz="3200" dirty="0" err="1">
                <a:solidFill>
                  <a:schemeClr val="bg1"/>
                </a:solidFill>
              </a:rPr>
              <a:t>Brungard</a:t>
            </a:r>
            <a:r>
              <a:rPr lang="en-US" sz="3200" dirty="0">
                <a:solidFill>
                  <a:schemeClr val="bg1"/>
                </a:solidFill>
              </a:rPr>
              <a:t> et al., 2015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90B10A-022C-4DD5-A9E2-6AAD1FA21B3B}"/>
              </a:ext>
            </a:extLst>
          </p:cNvPr>
          <p:cNvSpPr txBox="1">
            <a:spLocks/>
          </p:cNvSpPr>
          <p:nvPr/>
        </p:nvSpPr>
        <p:spPr>
          <a:xfrm>
            <a:off x="748723" y="230910"/>
            <a:ext cx="5562600" cy="628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chemeClr val="bg1"/>
                </a:solidFill>
              </a:rPr>
              <a:t>Prediction of Soil Classes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592D3B5-1993-4BD7-B10B-679C0341922F}"/>
              </a:ext>
            </a:extLst>
          </p:cNvPr>
          <p:cNvSpPr txBox="1">
            <a:spLocks/>
          </p:cNvSpPr>
          <p:nvPr/>
        </p:nvSpPr>
        <p:spPr>
          <a:xfrm>
            <a:off x="1518856" y="1099519"/>
            <a:ext cx="5562600" cy="6285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rgbClr val="FFFF00"/>
                </a:solidFill>
              </a:rPr>
              <a:t>Are Very Accurate Predictors</a:t>
            </a:r>
          </a:p>
        </p:txBody>
      </p:sp>
    </p:spTree>
    <p:extLst>
      <p:ext uri="{BB962C8B-B14F-4D97-AF65-F5344CB8AC3E}">
        <p14:creationId xmlns:p14="http://schemas.microsoft.com/office/powerpoint/2010/main" val="1887540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FF0523A-3A9E-4C70-8EB4-B62C2ED37F0D}"/>
              </a:ext>
            </a:extLst>
          </p:cNvPr>
          <p:cNvSpPr txBox="1">
            <a:spLocks/>
          </p:cNvSpPr>
          <p:nvPr/>
        </p:nvSpPr>
        <p:spPr>
          <a:xfrm>
            <a:off x="5054346" y="638089"/>
            <a:ext cx="3614166" cy="14768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600" b="1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Rpart</a:t>
            </a: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Classification Tree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77516A-9084-4912-9919-3C66AFE1B7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" t="4517" r="5000" b="4517"/>
          <a:stretch/>
        </p:blipFill>
        <p:spPr>
          <a:xfrm>
            <a:off x="473202" y="2099613"/>
            <a:ext cx="4094226" cy="2658774"/>
          </a:xfrm>
          <a:prstGeom prst="rect">
            <a:avLst/>
          </a:prstGeom>
        </p:spPr>
      </p:pic>
      <p:sp>
        <p:nvSpPr>
          <p:cNvPr id="32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346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EA7CAFE-BD89-4918-879D-33995BA7D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346" y="2664886"/>
            <a:ext cx="3614166" cy="3550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1">
              <a:spcBef>
                <a:spcPts val="1000"/>
              </a:spcBef>
            </a:pPr>
            <a:r>
              <a:rPr lang="en-US" sz="1900"/>
              <a:t>Terminal nodes are categorical -- the </a:t>
            </a:r>
            <a:r>
              <a:rPr lang="en-US" sz="1900" i="1"/>
              <a:t>class with the majority of votes</a:t>
            </a:r>
            <a:r>
              <a:rPr lang="en-US" sz="1900"/>
              <a:t> wins.</a:t>
            </a:r>
          </a:p>
        </p:txBody>
      </p:sp>
    </p:spTree>
    <p:extLst>
      <p:ext uri="{BB962C8B-B14F-4D97-AF65-F5344CB8AC3E}">
        <p14:creationId xmlns:p14="http://schemas.microsoft.com/office/powerpoint/2010/main" val="2831762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D5E3011-C4F4-4C6A-8D4C-02B254A6E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4346" y="638089"/>
            <a:ext cx="3614166" cy="147680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300" b="1" kern="1200">
                <a:latin typeface="+mj-lt"/>
                <a:ea typeface="+mj-ea"/>
                <a:cs typeface="+mj-cs"/>
              </a:rPr>
              <a:t>Rpart Regression Tree</a:t>
            </a:r>
            <a:endParaRPr lang="en-US" sz="4300" kern="1200">
              <a:latin typeface="+mj-lt"/>
              <a:ea typeface="+mj-ea"/>
              <a:cs typeface="+mj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4FB178-3485-495D-91EB-913E8997EA9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9" t="14366" r="4767" b="12311"/>
          <a:stretch/>
        </p:blipFill>
        <p:spPr>
          <a:xfrm>
            <a:off x="473202" y="2243837"/>
            <a:ext cx="4094226" cy="2370326"/>
          </a:xfrm>
          <a:prstGeom prst="rect">
            <a:avLst/>
          </a:prstGeom>
        </p:spPr>
      </p:pic>
      <p:sp>
        <p:nvSpPr>
          <p:cNvPr id="19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54346" y="2372868"/>
            <a:ext cx="2441321" cy="18288"/>
          </a:xfrm>
          <a:custGeom>
            <a:avLst/>
            <a:gdLst>
              <a:gd name="csX0" fmla="*/ 0 w 2441321"/>
              <a:gd name="csY0" fmla="*/ 0 h 18288"/>
              <a:gd name="csX1" fmla="*/ 585917 w 2441321"/>
              <a:gd name="csY1" fmla="*/ 0 h 18288"/>
              <a:gd name="csX2" fmla="*/ 1196247 w 2441321"/>
              <a:gd name="csY2" fmla="*/ 0 h 18288"/>
              <a:gd name="csX3" fmla="*/ 1806578 w 2441321"/>
              <a:gd name="csY3" fmla="*/ 0 h 18288"/>
              <a:gd name="csX4" fmla="*/ 2441321 w 2441321"/>
              <a:gd name="csY4" fmla="*/ 0 h 18288"/>
              <a:gd name="csX5" fmla="*/ 2441321 w 2441321"/>
              <a:gd name="csY5" fmla="*/ 18288 h 18288"/>
              <a:gd name="csX6" fmla="*/ 1830991 w 2441321"/>
              <a:gd name="csY6" fmla="*/ 18288 h 18288"/>
              <a:gd name="csX7" fmla="*/ 1269487 w 2441321"/>
              <a:gd name="csY7" fmla="*/ 18288 h 18288"/>
              <a:gd name="csX8" fmla="*/ 707983 w 2441321"/>
              <a:gd name="csY8" fmla="*/ 18288 h 18288"/>
              <a:gd name="csX9" fmla="*/ 0 w 2441321"/>
              <a:gd name="csY9" fmla="*/ 18288 h 18288"/>
              <a:gd name="csX10" fmla="*/ 0 w 2441321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441321" h="18288" fill="none" extrusionOk="0">
                <a:moveTo>
                  <a:pt x="0" y="0"/>
                </a:moveTo>
                <a:cubicBezTo>
                  <a:pt x="273217" y="-17533"/>
                  <a:pt x="355785" y="-4171"/>
                  <a:pt x="585917" y="0"/>
                </a:cubicBezTo>
                <a:cubicBezTo>
                  <a:pt x="816049" y="4171"/>
                  <a:pt x="991446" y="-9419"/>
                  <a:pt x="1196247" y="0"/>
                </a:cubicBezTo>
                <a:cubicBezTo>
                  <a:pt x="1401048" y="9419"/>
                  <a:pt x="1589984" y="-731"/>
                  <a:pt x="1806578" y="0"/>
                </a:cubicBezTo>
                <a:cubicBezTo>
                  <a:pt x="2023172" y="731"/>
                  <a:pt x="2247754" y="8393"/>
                  <a:pt x="2441321" y="0"/>
                </a:cubicBezTo>
                <a:cubicBezTo>
                  <a:pt x="2441167" y="8655"/>
                  <a:pt x="2440437" y="9975"/>
                  <a:pt x="2441321" y="18288"/>
                </a:cubicBezTo>
                <a:cubicBezTo>
                  <a:pt x="2169723" y="30506"/>
                  <a:pt x="2045712" y="39140"/>
                  <a:pt x="1830991" y="18288"/>
                </a:cubicBezTo>
                <a:cubicBezTo>
                  <a:pt x="1616270" y="-2564"/>
                  <a:pt x="1505876" y="3949"/>
                  <a:pt x="1269487" y="18288"/>
                </a:cubicBezTo>
                <a:cubicBezTo>
                  <a:pt x="1033098" y="32627"/>
                  <a:pt x="908661" y="41191"/>
                  <a:pt x="707983" y="18288"/>
                </a:cubicBezTo>
                <a:cubicBezTo>
                  <a:pt x="507305" y="-4615"/>
                  <a:pt x="333592" y="20759"/>
                  <a:pt x="0" y="18288"/>
                </a:cubicBezTo>
                <a:cubicBezTo>
                  <a:pt x="-688" y="11716"/>
                  <a:pt x="875" y="6357"/>
                  <a:pt x="0" y="0"/>
                </a:cubicBezTo>
                <a:close/>
              </a:path>
              <a:path w="2441321" h="18288" stroke="0" extrusionOk="0">
                <a:moveTo>
                  <a:pt x="0" y="0"/>
                </a:moveTo>
                <a:cubicBezTo>
                  <a:pt x="207071" y="-14617"/>
                  <a:pt x="444194" y="-15606"/>
                  <a:pt x="585917" y="0"/>
                </a:cubicBezTo>
                <a:cubicBezTo>
                  <a:pt x="727640" y="15606"/>
                  <a:pt x="904326" y="-79"/>
                  <a:pt x="1123008" y="0"/>
                </a:cubicBezTo>
                <a:cubicBezTo>
                  <a:pt x="1341690" y="79"/>
                  <a:pt x="1600014" y="10401"/>
                  <a:pt x="1782164" y="0"/>
                </a:cubicBezTo>
                <a:cubicBezTo>
                  <a:pt x="1964314" y="-10401"/>
                  <a:pt x="2143537" y="-21488"/>
                  <a:pt x="2441321" y="0"/>
                </a:cubicBezTo>
                <a:cubicBezTo>
                  <a:pt x="2441735" y="5928"/>
                  <a:pt x="2441551" y="11133"/>
                  <a:pt x="2441321" y="18288"/>
                </a:cubicBezTo>
                <a:cubicBezTo>
                  <a:pt x="2166745" y="28773"/>
                  <a:pt x="2078726" y="15476"/>
                  <a:pt x="1879817" y="18288"/>
                </a:cubicBezTo>
                <a:cubicBezTo>
                  <a:pt x="1680908" y="21100"/>
                  <a:pt x="1548770" y="-4127"/>
                  <a:pt x="1318313" y="18288"/>
                </a:cubicBezTo>
                <a:cubicBezTo>
                  <a:pt x="1087856" y="40703"/>
                  <a:pt x="894613" y="3927"/>
                  <a:pt x="659157" y="18288"/>
                </a:cubicBezTo>
                <a:cubicBezTo>
                  <a:pt x="423701" y="32649"/>
                  <a:pt x="246611" y="33975"/>
                  <a:pt x="0" y="18288"/>
                </a:cubicBezTo>
                <a:cubicBezTo>
                  <a:pt x="-348" y="10388"/>
                  <a:pt x="-12" y="3969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E5A375C-D9EC-42CD-A552-2435C7044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4346" y="2664886"/>
            <a:ext cx="3614166" cy="35507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lvl="1" indent="0">
              <a:spcBef>
                <a:spcPts val="1000"/>
              </a:spcBef>
              <a:buNone/>
            </a:pPr>
            <a:r>
              <a:rPr lang="en-US" sz="1900" kern="1200">
                <a:latin typeface="+mn-lt"/>
                <a:ea typeface="+mn-ea"/>
                <a:cs typeface="+mn-cs"/>
              </a:rPr>
              <a:t>Terminal nodes represent the mean of the observations in that node. </a:t>
            </a:r>
          </a:p>
        </p:txBody>
      </p:sp>
    </p:spTree>
    <p:extLst>
      <p:ext uri="{BB962C8B-B14F-4D97-AF65-F5344CB8AC3E}">
        <p14:creationId xmlns:p14="http://schemas.microsoft.com/office/powerpoint/2010/main" val="594696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A21A7-0CA3-4C3B-AE65-91815B7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Splitting Procedure - Regression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4C2E138-2E0C-4F4F-9AAC-C1353DDB89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586" b="11111"/>
          <a:stretch/>
        </p:blipFill>
        <p:spPr>
          <a:xfrm>
            <a:off x="404477" y="1966293"/>
            <a:ext cx="8335043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21455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81D71E-3D63-4EF3-A9FB-DCFCB0702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Splitting Procedure - Regression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4ECD00-D491-4D3E-A6BA-8AC7A26005D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58" b="11111"/>
          <a:stretch/>
        </p:blipFill>
        <p:spPr>
          <a:xfrm>
            <a:off x="324168" y="2030699"/>
            <a:ext cx="8495662" cy="432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024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492"/>
            <a:ext cx="9143999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35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8" y="-3783777"/>
            <a:ext cx="1576446" cy="9144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69075" y="986"/>
            <a:ext cx="3227567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D903B3A-C716-4466-AB8F-090315AD8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5" y="353160"/>
            <a:ext cx="5318475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b="1">
                <a:solidFill>
                  <a:srgbClr val="FFFFFF"/>
                </a:solidFill>
              </a:rPr>
              <a:t>Splitting Procedure - Classification</a:t>
            </a:r>
            <a:endParaRPr lang="en-US" sz="3000">
              <a:solidFill>
                <a:srgbClr val="FFFFFF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CE0F468-5116-42D1-29AC-3CD232042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78" y="2848107"/>
            <a:ext cx="4536193" cy="23134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B97D617-AEF2-4F8A-9FAB-4D0C7BB58E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8033" t="21905" r="14424" b="6465"/>
          <a:stretch/>
        </p:blipFill>
        <p:spPr>
          <a:xfrm>
            <a:off x="4758873" y="2848108"/>
            <a:ext cx="3848316" cy="273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1541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0" name="Rectangle 1039">
            <a:extLst>
              <a:ext uri="{FF2B5EF4-FFF2-40B4-BE49-F238E27FC236}">
                <a16:creationId xmlns:a16="http://schemas.microsoft.com/office/drawing/2014/main" id="{979E27D9-03C7-44E2-9FF8-15D0C8506A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CDFDE3-45E6-B0D2-03C9-C7EDC9ABE718}"/>
              </a:ext>
            </a:extLst>
          </p:cNvPr>
          <p:cNvSpPr txBox="1"/>
          <p:nvPr/>
        </p:nvSpPr>
        <p:spPr>
          <a:xfrm>
            <a:off x="852297" y="502021"/>
            <a:ext cx="3719703" cy="164296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5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Bias-Variance Tradeoff in Trees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4E7E41-6897-092A-AD93-12FCA0C237A0}"/>
              </a:ext>
            </a:extLst>
          </p:cNvPr>
          <p:cNvSpPr txBox="1"/>
          <p:nvPr/>
        </p:nvSpPr>
        <p:spPr>
          <a:xfrm>
            <a:off x="852297" y="2418408"/>
            <a:ext cx="37197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14313"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Fully grown tree</a:t>
            </a:r>
            <a:r>
              <a:rPr lang="en-US" sz="1700" dirty="0"/>
              <a:t> (max depth) — zero training error → memorized data</a:t>
            </a:r>
          </a:p>
          <a:p>
            <a:pPr marL="557213" lvl="1"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Low bias, </a:t>
            </a:r>
            <a:r>
              <a:rPr lang="en-US" sz="1700" b="1" dirty="0"/>
              <a:t>extreme variance</a:t>
            </a:r>
            <a:r>
              <a:rPr lang="en-US" sz="1700" dirty="0"/>
              <a:t> — fails on new sites</a:t>
            </a:r>
          </a:p>
          <a:p>
            <a:pPr marL="214313"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Stump</a:t>
            </a:r>
            <a:r>
              <a:rPr lang="en-US" sz="1700" dirty="0"/>
              <a:t> (depth = 0 or 1) — single rule only</a:t>
            </a:r>
          </a:p>
          <a:p>
            <a:pPr marL="557213" lvl="1"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/>
              <a:t>High bias</a:t>
            </a:r>
            <a:r>
              <a:rPr lang="en-US" sz="1700" dirty="0"/>
              <a:t>, very low variance</a:t>
            </a:r>
          </a:p>
          <a:p>
            <a:pPr marL="214313"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Optimal complexity lies </a:t>
            </a:r>
            <a:r>
              <a:rPr lang="en-US" sz="1700" b="1" dirty="0"/>
              <a:t>between these extremes</a:t>
            </a:r>
            <a:endParaRPr lang="en-US" sz="1700" dirty="0"/>
          </a:p>
          <a:p>
            <a:pPr marL="214313" indent="-228600" defTabSz="914400" fontAlgn="base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Controlled by maximum depth, minimum samples per leaf, and the </a:t>
            </a:r>
            <a:r>
              <a:rPr lang="en-US" sz="1700" b="1" dirty="0"/>
              <a:t>complexity parameter α (cp)</a:t>
            </a:r>
            <a:endParaRPr lang="en-US" sz="17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7C16016-675A-6EAA-D5B8-B6055F4FF7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884331" y="1921238"/>
            <a:ext cx="3900767" cy="260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2" name="Rectangle 1041">
            <a:extLst>
              <a:ext uri="{FF2B5EF4-FFF2-40B4-BE49-F238E27FC236}">
                <a16:creationId xmlns:a16="http://schemas.microsoft.com/office/drawing/2014/main" id="{EEBF1590-3B36-48EE-A89D-3B6F3CB25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6400799"/>
            <a:ext cx="9144000" cy="456773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4" name="Rectangle 1043">
            <a:extLst>
              <a:ext uri="{FF2B5EF4-FFF2-40B4-BE49-F238E27FC236}">
                <a16:creationId xmlns:a16="http://schemas.microsoft.com/office/drawing/2014/main" id="{AC8F6C8C-AB5A-4548-942D-E3FD40ACBC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6400799"/>
            <a:ext cx="6115048" cy="456772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736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A232703-7396-4C1A-9D7E-A89BCDE2A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Pruning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FD6DEF-ECA1-4A23-9984-B6B3186A04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4" b="11106"/>
          <a:stretch/>
        </p:blipFill>
        <p:spPr>
          <a:xfrm>
            <a:off x="469001" y="1966293"/>
            <a:ext cx="8205995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58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0EBC32-C12C-4E2E-A570-3B8A6DB04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Pruning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C4493B-485F-47AE-9A33-4C7D04D62E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92" b="11107"/>
          <a:stretch/>
        </p:blipFill>
        <p:spPr>
          <a:xfrm>
            <a:off x="324168" y="2150196"/>
            <a:ext cx="8495662" cy="408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5298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FB9272D-A005-45D9-ABE9-6CC903C4C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Model Evaluation</a:t>
            </a:r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EF0607B-975A-400C-88EE-8BA7D84D2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u="sng"/>
              <a:t>Producer’s accuracy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The probability of a reference pixel being correctly classified. </a:t>
            </a:r>
          </a:p>
          <a:p>
            <a:pPr>
              <a:spcBef>
                <a:spcPts val="600"/>
              </a:spcBef>
            </a:pPr>
            <a:r>
              <a:rPr lang="en-US" sz="1700"/>
              <a:t>Omission error – samples are omitted from the correct class</a:t>
            </a:r>
          </a:p>
          <a:p>
            <a:pPr marL="0" indent="0">
              <a:buNone/>
            </a:pPr>
            <a:r>
              <a:rPr lang="en-US" sz="1700" b="1" u="sng"/>
              <a:t>User’s accuracy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The probability that a pixel classified on the map represents that category on the ground.</a:t>
            </a:r>
          </a:p>
          <a:p>
            <a:pPr>
              <a:spcBef>
                <a:spcPts val="600"/>
              </a:spcBef>
            </a:pPr>
            <a:r>
              <a:rPr lang="en-US" sz="1700"/>
              <a:t>Commission error – samples are added to the incorrect class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 b="1" u="sng"/>
              <a:t>Overall accuracy</a:t>
            </a:r>
            <a:endParaRPr lang="en-US" sz="1700" b="1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/>
              <a:t>Computed by dividing the total correct (i.e., the sum of the major diagonal) by the total number of pixels in the error matrix</a:t>
            </a:r>
          </a:p>
        </p:txBody>
      </p:sp>
    </p:spTree>
    <p:extLst>
      <p:ext uri="{BB962C8B-B14F-4D97-AF65-F5344CB8AC3E}">
        <p14:creationId xmlns:p14="http://schemas.microsoft.com/office/powerpoint/2010/main" val="34865827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1D06DFA0-9DA9-4F63-8708-3EB4B1B9C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Model Evaluation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4C8166-5B37-49D5-8A47-762F9A816809}"/>
              </a:ext>
            </a:extLst>
          </p:cNvPr>
          <p:cNvSpPr/>
          <p:nvPr/>
        </p:nvSpPr>
        <p:spPr>
          <a:xfrm>
            <a:off x="2286000" y="3105835"/>
            <a:ext cx="4572000" cy="723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Aft>
                <a:spcPts val="600"/>
              </a:spcAft>
            </a:pPr>
            <a:endParaRPr lang="en-US">
              <a:latin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endParaRPr lang="en-US">
              <a:latin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3077C86-3B47-F727-8724-27670EF4221B}"/>
              </a:ext>
            </a:extLst>
          </p:cNvPr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>
              <a:latin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1E97D2-3E8D-A8DB-FAEB-C2C32BA440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286000"/>
            <a:ext cx="7391400" cy="3237755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93CBEC-32A6-3F27-2974-93C714CF2D09}"/>
              </a:ext>
            </a:extLst>
          </p:cNvPr>
          <p:cNvCxnSpPr/>
          <p:nvPr/>
        </p:nvCxnSpPr>
        <p:spPr>
          <a:xfrm>
            <a:off x="7223402" y="1752600"/>
            <a:ext cx="0" cy="175260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B18ABF4-F38D-1B4B-BE5C-3C87519D3E60}"/>
              </a:ext>
            </a:extLst>
          </p:cNvPr>
          <p:cNvSpPr txBox="1"/>
          <p:nvPr/>
        </p:nvSpPr>
        <p:spPr>
          <a:xfrm>
            <a:off x="6584926" y="1632671"/>
            <a:ext cx="1276953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 err="1"/>
              <a:t>Producers’s</a:t>
            </a:r>
            <a:endParaRPr lang="en-US" b="1" dirty="0"/>
          </a:p>
          <a:p>
            <a:pPr algn="ctr"/>
            <a:r>
              <a:rPr lang="en-US" b="1" dirty="0"/>
              <a:t>Accuracy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B38AD27A-4CEA-9CF3-FA4C-FE2E1F5A39BA}"/>
              </a:ext>
            </a:extLst>
          </p:cNvPr>
          <p:cNvCxnSpPr/>
          <p:nvPr/>
        </p:nvCxnSpPr>
        <p:spPr>
          <a:xfrm>
            <a:off x="2010236" y="5200589"/>
            <a:ext cx="142546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0A4A0B4-8808-3CCD-2822-139C24340EFE}"/>
              </a:ext>
            </a:extLst>
          </p:cNvPr>
          <p:cNvSpPr txBox="1"/>
          <p:nvPr/>
        </p:nvSpPr>
        <p:spPr>
          <a:xfrm>
            <a:off x="754016" y="4877424"/>
            <a:ext cx="10356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User’s</a:t>
            </a:r>
          </a:p>
          <a:p>
            <a:pPr algn="ctr"/>
            <a:r>
              <a:rPr lang="en-US" b="1" dirty="0"/>
              <a:t>Accuracy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05B9E5-E444-57EF-5B75-A50882B5B07D}"/>
              </a:ext>
            </a:extLst>
          </p:cNvPr>
          <p:cNvSpPr txBox="1"/>
          <p:nvPr/>
        </p:nvSpPr>
        <p:spPr>
          <a:xfrm>
            <a:off x="6619635" y="6057155"/>
            <a:ext cx="1305165" cy="64633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Overall</a:t>
            </a:r>
          </a:p>
          <a:p>
            <a:pPr algn="ctr"/>
            <a:r>
              <a:rPr lang="en-US" b="1" dirty="0"/>
              <a:t>Accuracy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93BC591-B4D4-C844-C4CB-22935B921805}"/>
              </a:ext>
            </a:extLst>
          </p:cNvPr>
          <p:cNvSpPr/>
          <p:nvPr/>
        </p:nvSpPr>
        <p:spPr>
          <a:xfrm>
            <a:off x="6858000" y="4953000"/>
            <a:ext cx="685800" cy="4572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5643690-5E30-288A-5FF6-95B97E740672}"/>
              </a:ext>
            </a:extLst>
          </p:cNvPr>
          <p:cNvSpPr txBox="1"/>
          <p:nvPr/>
        </p:nvSpPr>
        <p:spPr>
          <a:xfrm>
            <a:off x="3468065" y="5353398"/>
            <a:ext cx="644728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i="1" dirty="0"/>
              <a:t>49/71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34C6CC-1064-6CB2-3F32-61922BC48655}"/>
              </a:ext>
            </a:extLst>
          </p:cNvPr>
          <p:cNvSpPr txBox="1"/>
          <p:nvPr/>
        </p:nvSpPr>
        <p:spPr>
          <a:xfrm>
            <a:off x="5255294" y="5353398"/>
            <a:ext cx="84991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sz="1400" b="1" i="1" dirty="0"/>
              <a:t>194/251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3C932B1-B054-0035-E748-22EB2EED8AD7}"/>
              </a:ext>
            </a:extLst>
          </p:cNvPr>
          <p:cNvSpPr txBox="1"/>
          <p:nvPr/>
        </p:nvSpPr>
        <p:spPr>
          <a:xfrm>
            <a:off x="7506737" y="3643836"/>
            <a:ext cx="881986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49/106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613107-2DBF-072A-3EED-2085EE43C732}"/>
              </a:ext>
            </a:extLst>
          </p:cNvPr>
          <p:cNvSpPr txBox="1"/>
          <p:nvPr/>
        </p:nvSpPr>
        <p:spPr>
          <a:xfrm>
            <a:off x="7506738" y="4332427"/>
            <a:ext cx="881985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400" b="1" i="1" dirty="0"/>
              <a:t>194/216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C69A620-5D90-EC04-24AD-DB0ADC562F31}"/>
                  </a:ext>
                </a:extLst>
              </p:cNvPr>
              <p:cNvSpPr txBox="1"/>
              <p:nvPr/>
            </p:nvSpPr>
            <p:spPr>
              <a:xfrm>
                <a:off x="6729709" y="5469881"/>
                <a:ext cx="987385" cy="4956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𝟏𝟗𝟒</m:t>
                          </m:r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𝟒𝟗</m:t>
                          </m:r>
                        </m:num>
                        <m:den>
                          <m:r>
                            <a:rPr lang="en-US" sz="14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𝟑𝟐𝟐</m:t>
                          </m:r>
                        </m:den>
                      </m:f>
                    </m:oMath>
                  </m:oMathPara>
                </a14:m>
                <a:endParaRPr lang="en-US" sz="14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C69A620-5D90-EC04-24AD-DB0ADC562F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9709" y="5469881"/>
                <a:ext cx="987385" cy="49564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ectangle 36">
            <a:extLst>
              <a:ext uri="{FF2B5EF4-FFF2-40B4-BE49-F238E27FC236}">
                <a16:creationId xmlns:a16="http://schemas.microsoft.com/office/drawing/2014/main" id="{6A2C3975-69D1-E718-F2D0-304EFDD7D2D2}"/>
              </a:ext>
            </a:extLst>
          </p:cNvPr>
          <p:cNvSpPr/>
          <p:nvPr/>
        </p:nvSpPr>
        <p:spPr>
          <a:xfrm>
            <a:off x="5301325" y="4260710"/>
            <a:ext cx="805527" cy="4572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5DE16D-F277-9EC9-CE02-12CB03C82EB8}"/>
              </a:ext>
            </a:extLst>
          </p:cNvPr>
          <p:cNvSpPr/>
          <p:nvPr/>
        </p:nvSpPr>
        <p:spPr>
          <a:xfrm>
            <a:off x="3435702" y="3524934"/>
            <a:ext cx="685800" cy="4572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8C594E8-688B-807E-B057-6895C3194C1C}"/>
              </a:ext>
            </a:extLst>
          </p:cNvPr>
          <p:cNvSpPr/>
          <p:nvPr/>
        </p:nvSpPr>
        <p:spPr>
          <a:xfrm>
            <a:off x="3447529" y="4247777"/>
            <a:ext cx="685800" cy="4572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5A5BA3-F069-FBA3-F7D3-C36595348F8E}"/>
              </a:ext>
            </a:extLst>
          </p:cNvPr>
          <p:cNvSpPr/>
          <p:nvPr/>
        </p:nvSpPr>
        <p:spPr>
          <a:xfrm>
            <a:off x="5337351" y="3528669"/>
            <a:ext cx="685800" cy="45720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89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6" grpId="0" animBg="1"/>
      <p:bldP spid="28" grpId="0" animBg="1"/>
      <p:bldP spid="30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0F1B3B-C2BD-4DE8-A27E-A88FC7A1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Exercise: Rpart</a:t>
            </a:r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C6680B-EF0E-4387-895E-2A5A3C5F2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u="sng"/>
              <a:t>Part 1: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Exploratory Data Analysis</a:t>
            </a:r>
          </a:p>
          <a:p>
            <a:pPr marL="0" indent="0">
              <a:spcBef>
                <a:spcPts val="600"/>
              </a:spcBef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b="1" u="sng"/>
              <a:t>Part 2: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Regression trees with rpart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Pruning and cost complexity parameter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Eval with RMSE</a:t>
            </a:r>
          </a:p>
          <a:p>
            <a:pPr marL="0" indent="0">
              <a:spcBef>
                <a:spcPts val="600"/>
              </a:spcBef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b="1" u="sng"/>
              <a:t>Part 3: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/>
              <a:t>Classification tree with GINI and Information Gain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/>
              <a:t>Eval with confusion matrices, overall accuracy and kappa</a:t>
            </a:r>
          </a:p>
        </p:txBody>
      </p:sp>
    </p:spTree>
    <p:extLst>
      <p:ext uri="{BB962C8B-B14F-4D97-AF65-F5344CB8AC3E}">
        <p14:creationId xmlns:p14="http://schemas.microsoft.com/office/powerpoint/2010/main" val="16925664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142713" y="-1142284"/>
            <a:ext cx="6858000" cy="9143425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1733" y="0"/>
            <a:ext cx="6803134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125298" y="-161647"/>
            <a:ext cx="4894564" cy="9145160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A69DB8-8966-913D-12BA-2516E25699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901" t="4432" r="6901" b="7404"/>
          <a:stretch>
            <a:fillRect/>
          </a:stretch>
        </p:blipFill>
        <p:spPr>
          <a:xfrm>
            <a:off x="577758" y="99832"/>
            <a:ext cx="7765946" cy="4150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6F0985-FD5E-F73B-E418-F0378C15D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20" y="4422362"/>
            <a:ext cx="5615940" cy="2187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705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4D4381-6879-28ED-3BB6-6EDF0945EB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86" y="1464469"/>
            <a:ext cx="2127796" cy="37290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0E6742C-9981-A4E5-A3BA-89D90CDCA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446" y="1460186"/>
            <a:ext cx="5890469" cy="3733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3113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55949F-12BC-4084-93BB-0C6C9EBA8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30" y="2767106"/>
            <a:ext cx="2160621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Prediction of Soil Properties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4F2197C-7366-41AA-8A15-99FB37513154}"/>
              </a:ext>
            </a:extLst>
          </p:cNvPr>
          <p:cNvSpPr txBox="1">
            <a:spLocks/>
          </p:cNvSpPr>
          <p:nvPr/>
        </p:nvSpPr>
        <p:spPr>
          <a:xfrm>
            <a:off x="495031" y="806824"/>
            <a:ext cx="2189804" cy="149411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000"/>
              </a:spcBef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From Nauman et al., 2015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281224-FA3C-4D01-8C1E-1510395906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568" t="13203" r="22565" b="8875"/>
          <a:stretch/>
        </p:blipFill>
        <p:spPr>
          <a:xfrm>
            <a:off x="3376821" y="1139158"/>
            <a:ext cx="5419311" cy="457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8295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089B3-912F-487F-B719-8A78ADFD9C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8003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4A1A5DF-001A-4C7C-8F81-4F47A8C5E905}"/>
              </a:ext>
            </a:extLst>
          </p:cNvPr>
          <p:cNvSpPr txBox="1">
            <a:spLocks/>
          </p:cNvSpPr>
          <p:nvPr/>
        </p:nvSpPr>
        <p:spPr>
          <a:xfrm>
            <a:off x="1028699" y="294538"/>
            <a:ext cx="7421963" cy="10336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Exercise: </a:t>
            </a:r>
            <a:endParaRPr lang="en-US" sz="35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14F97-2C43-4B3D-BD92-081F5C2CC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700" b="1" u="sng" dirty="0"/>
              <a:t>Part 1:</a:t>
            </a:r>
            <a:endParaRPr lang="en-US" sz="1700" b="1" u="sng"/>
          </a:p>
          <a:p>
            <a:pPr marL="0">
              <a:spcBef>
                <a:spcPts val="600"/>
              </a:spcBef>
            </a:pPr>
            <a:r>
              <a:rPr lang="en-US" sz="1700" dirty="0"/>
              <a:t>Correlation Plot:</a:t>
            </a:r>
          </a:p>
          <a:p>
            <a:pPr marL="0">
              <a:spcBef>
                <a:spcPts val="600"/>
              </a:spcBef>
            </a:pPr>
            <a:endParaRPr lang="en-US" sz="1700" dirty="0"/>
          </a:p>
          <a:p>
            <a:pPr marL="0"/>
            <a:r>
              <a:rPr lang="en-US" sz="1700" b="1" u="sng" dirty="0"/>
              <a:t>Part 2:</a:t>
            </a:r>
            <a:endParaRPr lang="en-US" sz="1700" b="1" u="sng"/>
          </a:p>
          <a:p>
            <a:pPr marL="0">
              <a:spcBef>
                <a:spcPts val="600"/>
              </a:spcBef>
            </a:pPr>
            <a:r>
              <a:rPr lang="en-US" sz="1700" dirty="0"/>
              <a:t>Evaluate results from regression trees</a:t>
            </a:r>
          </a:p>
          <a:p>
            <a:pPr marL="0">
              <a:spcBef>
                <a:spcPts val="600"/>
              </a:spcBef>
            </a:pPr>
            <a:endParaRPr lang="en-US" sz="1700" dirty="0"/>
          </a:p>
          <a:p>
            <a:pPr marL="0"/>
            <a:r>
              <a:rPr lang="en-US" sz="1700" b="1" u="sng" dirty="0"/>
              <a:t>Part 3:</a:t>
            </a:r>
            <a:endParaRPr lang="en-US" sz="1700" b="1" u="sng"/>
          </a:p>
          <a:p>
            <a:pPr marL="0">
              <a:spcBef>
                <a:spcPts val="600"/>
              </a:spcBef>
              <a:spcAft>
                <a:spcPts val="600"/>
              </a:spcAft>
            </a:pPr>
            <a:r>
              <a:rPr lang="en-US" sz="1700" dirty="0"/>
              <a:t>Compare splitting criteria for classification trees</a:t>
            </a:r>
          </a:p>
        </p:txBody>
      </p:sp>
    </p:spTree>
    <p:extLst>
      <p:ext uri="{BB962C8B-B14F-4D97-AF65-F5344CB8AC3E}">
        <p14:creationId xmlns:p14="http://schemas.microsoft.com/office/powerpoint/2010/main" val="1897584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53782574-86AE-43E3-B5B5-7178E8FD4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Summary - </a:t>
            </a:r>
            <a:r>
              <a:rPr lang="en-US" b="1" dirty="0" err="1">
                <a:solidFill>
                  <a:schemeClr val="bg1"/>
                </a:solidFill>
              </a:rPr>
              <a:t>rpart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BB2634-8008-4BB5-88DE-35FA6444A6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6404" y="1828801"/>
            <a:ext cx="7435596" cy="435133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rpart</a:t>
            </a:r>
            <a:r>
              <a:rPr lang="en-US" sz="24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(formula, data, method, control)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formula 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    response~predictor1+predictor2+predictorx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data=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	       specifies the dataset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method=    “class” 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for classification tree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                   “</a:t>
            </a:r>
            <a:r>
              <a:rPr lang="en-US" sz="20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anova</a:t>
            </a: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” 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for regression tree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control=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    optional parameters for controlling tree growth	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200" dirty="0">
                <a:solidFill>
                  <a:schemeClr val="bg1"/>
                </a:solidFill>
                <a:cs typeface="Times New Roman" panose="02020603050405020304" pitchFamily="18" charset="0"/>
              </a:rPr>
              <a:t>	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26194B2-B83E-4ECC-8FEC-5520F4E084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2768693"/>
              </p:ext>
            </p:extLst>
          </p:nvPr>
        </p:nvGraphicFramePr>
        <p:xfrm>
          <a:off x="899651" y="2438400"/>
          <a:ext cx="7316233" cy="242106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33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3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169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printcp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+mn-lt"/>
                        </a:rPr>
                        <a:t>( 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tx1"/>
                          </a:solidFill>
                          <a:latin typeface="+mn-lt"/>
                        </a:rPr>
                        <a:t>displays complexity</a:t>
                      </a:r>
                      <a:r>
                        <a:rPr lang="en-US" sz="19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parameter (cp) table</a:t>
                      </a:r>
                      <a:endParaRPr lang="en-US" sz="1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1690">
                <a:tc>
                  <a:txBody>
                    <a:bodyPr/>
                    <a:lstStyle/>
                    <a:p>
                      <a:r>
                        <a:rPr lang="en-US" sz="1900" b="1" dirty="0" err="1">
                          <a:solidFill>
                            <a:schemeClr val="tx1"/>
                          </a:solidFill>
                          <a:latin typeface="+mn-lt"/>
                        </a:rPr>
                        <a:t>plotcp</a:t>
                      </a:r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+mn-lt"/>
                        </a:rPr>
                        <a:t> ( 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tx1"/>
                          </a:solidFill>
                          <a:latin typeface="+mn-lt"/>
                        </a:rPr>
                        <a:t>plots cross-validation</a:t>
                      </a:r>
                      <a:r>
                        <a:rPr lang="en-US" sz="19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results</a:t>
                      </a:r>
                      <a:endParaRPr lang="en-US" sz="1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6067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+mn-lt"/>
                        </a:rPr>
                        <a:t>summary ( 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tx1"/>
                          </a:solidFill>
                          <a:latin typeface="+mn-lt"/>
                        </a:rPr>
                        <a:t>detailed results including</a:t>
                      </a:r>
                      <a:r>
                        <a:rPr lang="en-US" sz="19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surrogate splits</a:t>
                      </a:r>
                      <a:endParaRPr lang="en-US" sz="1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690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+mn-lt"/>
                        </a:rPr>
                        <a:t>plot ( 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tx1"/>
                          </a:solidFill>
                          <a:latin typeface="+mn-lt"/>
                        </a:rPr>
                        <a:t>plots the</a:t>
                      </a:r>
                      <a:r>
                        <a:rPr lang="en-US" sz="1900" baseline="0" dirty="0">
                          <a:solidFill>
                            <a:schemeClr val="tx1"/>
                          </a:solidFill>
                          <a:latin typeface="+mn-lt"/>
                        </a:rPr>
                        <a:t> decision tree</a:t>
                      </a:r>
                      <a:endParaRPr lang="en-US" sz="1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690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+mn-lt"/>
                        </a:rPr>
                        <a:t>text ( 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labels the decision tree plot</a:t>
                      </a:r>
                      <a:endParaRPr lang="en-US" sz="19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690">
                <a:tc>
                  <a:txBody>
                    <a:bodyPr/>
                    <a:lstStyle/>
                    <a:p>
                      <a:r>
                        <a:rPr lang="en-US" sz="1900" b="1" dirty="0">
                          <a:solidFill>
                            <a:schemeClr val="tx1"/>
                          </a:solidFill>
                          <a:latin typeface="+mn-lt"/>
                        </a:rPr>
                        <a:t>prune</a:t>
                      </a:r>
                      <a:r>
                        <a:rPr lang="en-US" sz="1900" b="1" baseline="0" dirty="0">
                          <a:solidFill>
                            <a:schemeClr val="tx1"/>
                          </a:solidFill>
                          <a:latin typeface="+mn-lt"/>
                        </a:rPr>
                        <a:t> ( )</a:t>
                      </a:r>
                      <a:endParaRPr lang="en-US" sz="19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solidFill>
                            <a:schemeClr val="tx1"/>
                          </a:solidFill>
                          <a:latin typeface="+mn-lt"/>
                        </a:rPr>
                        <a:t>snips off the least important splits using cp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3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7E50B5F-049C-44A8-9F96-463F90CE1B4A}"/>
              </a:ext>
            </a:extLst>
          </p:cNvPr>
          <p:cNvSpPr txBox="1">
            <a:spLocks/>
          </p:cNvSpPr>
          <p:nvPr/>
        </p:nvSpPr>
        <p:spPr>
          <a:xfrm>
            <a:off x="524784" y="248038"/>
            <a:ext cx="52977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Outline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E4237E-87DB-7F78-D53D-B5A6B0562B50}"/>
              </a:ext>
            </a:extLst>
          </p:cNvPr>
          <p:cNvSpPr txBox="1"/>
          <p:nvPr/>
        </p:nvSpPr>
        <p:spPr>
          <a:xfrm>
            <a:off x="6429374" y="390832"/>
            <a:ext cx="2425189" cy="8736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defTabSz="91440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defRPr b="1"/>
            </a:pPr>
            <a:r>
              <a:rPr lang="en-US" sz="17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Part 2 – Random Forest models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DFC82D-30ED-9F50-F5F8-09EDB30B287E}"/>
              </a:ext>
            </a:extLst>
          </p:cNvPr>
          <p:cNvSpPr txBox="1"/>
          <p:nvPr/>
        </p:nvSpPr>
        <p:spPr>
          <a:xfrm>
            <a:off x="1961084" y="1822348"/>
            <a:ext cx="4405426" cy="42927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Random Forest Methods</a:t>
            </a:r>
          </a:p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latin typeface="+mn-lt"/>
                <a:ea typeface="+mn-ea"/>
                <a:cs typeface="+mn-cs"/>
              </a:rPr>
              <a:t>Bootstrap Aggregation and Bagging</a:t>
            </a:r>
          </a:p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400" kern="1200" dirty="0">
                <a:latin typeface="+mn-lt"/>
                <a:ea typeface="+mn-ea"/>
                <a:cs typeface="+mn-cs"/>
              </a:rPr>
              <a:t>Variable Importance and OOB</a:t>
            </a:r>
          </a:p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b="0" kern="1200" dirty="0">
                <a:latin typeface="+mn-lt"/>
                <a:ea typeface="+mn-ea"/>
                <a:cs typeface="+mn-cs"/>
              </a:rPr>
              <a:t>Interpretation — PDPs and SHAP</a:t>
            </a:r>
          </a:p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b="0" kern="1200" dirty="0">
                <a:latin typeface="+mn-lt"/>
                <a:ea typeface="+mn-ea"/>
                <a:cs typeface="+mn-cs"/>
              </a:rPr>
              <a:t>Uncertainty — QRF, </a:t>
            </a:r>
            <a:r>
              <a:rPr lang="en-US" altLang="en-US" sz="2400" b="0" kern="1200" dirty="0" err="1">
                <a:latin typeface="+mn-lt"/>
                <a:ea typeface="+mn-ea"/>
                <a:cs typeface="+mn-cs"/>
              </a:rPr>
              <a:t>Shanon</a:t>
            </a:r>
            <a:r>
              <a:rPr lang="en-US" altLang="en-US" sz="2400" b="0" kern="1200" dirty="0">
                <a:latin typeface="+mn-lt"/>
                <a:ea typeface="+mn-ea"/>
                <a:cs typeface="+mn-cs"/>
              </a:rPr>
              <a:t> Entropy, </a:t>
            </a:r>
            <a:r>
              <a:rPr lang="en-US" altLang="en-US" sz="2400" b="0" kern="1200" dirty="0" err="1">
                <a:latin typeface="+mn-lt"/>
                <a:ea typeface="+mn-ea"/>
                <a:cs typeface="+mn-cs"/>
              </a:rPr>
              <a:t>etc</a:t>
            </a:r>
            <a:endParaRPr lang="en-US" altLang="en-US" sz="2400" b="0" kern="1200" dirty="0">
              <a:latin typeface="+mn-lt"/>
              <a:ea typeface="+mn-ea"/>
              <a:cs typeface="+mn-cs"/>
            </a:endParaRPr>
          </a:p>
          <a:p>
            <a:pPr marL="342900" lvl="0" indent="-342900" defTabSz="9144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en-US" sz="2400" b="0" kern="1200" dirty="0">
                <a:latin typeface="+mn-lt"/>
                <a:ea typeface="+mn-ea"/>
                <a:cs typeface="+mn-cs"/>
              </a:rPr>
              <a:t>Spatial Validity — </a:t>
            </a:r>
            <a:r>
              <a:rPr lang="en-US" altLang="en-US" sz="2400" b="0" kern="1200" dirty="0" err="1">
                <a:latin typeface="+mn-lt"/>
                <a:ea typeface="+mn-ea"/>
                <a:cs typeface="+mn-cs"/>
              </a:rPr>
              <a:t>kNNDM</a:t>
            </a:r>
            <a:r>
              <a:rPr lang="en-US" altLang="en-US" sz="2400" b="0" kern="1200" dirty="0">
                <a:latin typeface="+mn-lt"/>
                <a:ea typeface="+mn-ea"/>
                <a:cs typeface="+mn-cs"/>
              </a:rPr>
              <a:t> CV and AOA</a:t>
            </a:r>
            <a:endParaRPr lang="en-US" sz="2400" kern="1200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20189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68EB5-83F8-4057-3493-DF6DEB9D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6279951-1574-BE0C-10D1-0B38E0092AE6}"/>
              </a:ext>
            </a:extLst>
          </p:cNvPr>
          <p:cNvSpPr/>
          <p:nvPr/>
        </p:nvSpPr>
        <p:spPr>
          <a:xfrm>
            <a:off x="0" y="857250"/>
            <a:ext cx="9141714" cy="617220"/>
          </a:xfrm>
          <a:prstGeom prst="rect">
            <a:avLst/>
          </a:prstGeom>
          <a:solidFill>
            <a:srgbClr val="0C0F14"/>
          </a:solidFill>
          <a:ln w="12700">
            <a:solidFill>
              <a:srgbClr val="0C0F1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DD7561B-A2C4-8390-643E-1A6792ADE97C}"/>
              </a:ext>
            </a:extLst>
          </p:cNvPr>
          <p:cNvSpPr/>
          <p:nvPr/>
        </p:nvSpPr>
        <p:spPr>
          <a:xfrm>
            <a:off x="0" y="1474470"/>
            <a:ext cx="9141714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7E6D44E-8462-CB58-947D-5FCC6B2C5033}"/>
              </a:ext>
            </a:extLst>
          </p:cNvPr>
          <p:cNvSpPr/>
          <p:nvPr/>
        </p:nvSpPr>
        <p:spPr>
          <a:xfrm>
            <a:off x="274320" y="898398"/>
            <a:ext cx="5897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 &amp; the Staircase Problem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247132-4B20-8DB9-7C4A-732655657D63}"/>
              </a:ext>
            </a:extLst>
          </p:cNvPr>
          <p:cNvSpPr/>
          <p:nvPr/>
        </p:nvSpPr>
        <p:spPr>
          <a:xfrm>
            <a:off x="274320" y="1255014"/>
            <a:ext cx="5897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kern="0" spc="38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averaging many weak learners produces smooth, low-variance predictions</a:t>
            </a:r>
            <a:endParaRPr lang="en-US" sz="750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9AFAE4-4577-A55D-BF7B-B5B2A01D10E7}"/>
              </a:ext>
            </a:extLst>
          </p:cNvPr>
          <p:cNvGrpSpPr/>
          <p:nvPr/>
        </p:nvGrpSpPr>
        <p:grpSpPr>
          <a:xfrm>
            <a:off x="150876" y="1625346"/>
            <a:ext cx="2862072" cy="130302"/>
            <a:chOff x="201168" y="1024128"/>
            <a:chExt cx="3816096" cy="173736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6E46278C-0992-EE80-C57D-351AFCC602B7}"/>
                </a:ext>
              </a:extLst>
            </p:cNvPr>
            <p:cNvSpPr/>
            <p:nvPr/>
          </p:nvSpPr>
          <p:spPr>
            <a:xfrm>
              <a:off x="201168" y="1065276"/>
              <a:ext cx="91440" cy="91440"/>
            </a:xfrm>
            <a:prstGeom prst="ellipse">
              <a:avLst/>
            </a:prstGeom>
            <a:solidFill>
              <a:srgbClr val="EF9A9A"/>
            </a:solidFill>
            <a:ln w="12700">
              <a:solidFill>
                <a:srgbClr val="EF9A9A"/>
              </a:solidFill>
              <a:prstDash val="solid"/>
            </a:ln>
          </p:spPr>
          <p:txBody>
            <a:bodyPr/>
            <a:lstStyle/>
            <a:p>
              <a:endParaRPr lang="en-US" sz="825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128FB598-D512-CCBC-8555-B22602BC7275}"/>
                </a:ext>
              </a:extLst>
            </p:cNvPr>
            <p:cNvSpPr/>
            <p:nvPr/>
          </p:nvSpPr>
          <p:spPr>
            <a:xfrm>
              <a:off x="338328" y="1024128"/>
              <a:ext cx="367893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825" kern="0" spc="135" dirty="0">
                  <a:solidFill>
                    <a:srgbClr val="EF9A9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SINGLE CART TREE</a:t>
              </a:r>
              <a:endParaRPr lang="en-US" sz="825" dirty="0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87C2F6D9-2D19-695A-41DE-478BF7777D12}"/>
              </a:ext>
            </a:extLst>
          </p:cNvPr>
          <p:cNvSpPr/>
          <p:nvPr/>
        </p:nvSpPr>
        <p:spPr>
          <a:xfrm>
            <a:off x="1692157" y="5047700"/>
            <a:ext cx="27454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Variance, Low Bias</a:t>
            </a:r>
            <a:endParaRPr lang="en-US" sz="938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B2B5C5B0-0A1D-0CA2-F7D9-D01178B04E7B}"/>
              </a:ext>
            </a:extLst>
          </p:cNvPr>
          <p:cNvSpPr/>
          <p:nvPr/>
        </p:nvSpPr>
        <p:spPr>
          <a:xfrm>
            <a:off x="887353" y="5336216"/>
            <a:ext cx="3674345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tree fits its training sample perfectly, tracing a jagged </a:t>
            </a: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staircase</a:t>
            </a:r>
            <a:r>
              <a:rPr lang="en-US" sz="90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chases noise. Change the training data slightly and the entire boundary shifts. Predictions are unstable.</a:t>
            </a:r>
            <a:endParaRPr lang="en-US" sz="9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1D9F01-FEFC-A909-2C56-B3B073853B34}"/>
              </a:ext>
            </a:extLst>
          </p:cNvPr>
          <p:cNvSpPr/>
          <p:nvPr/>
        </p:nvSpPr>
        <p:spPr>
          <a:xfrm>
            <a:off x="704659" y="1875848"/>
            <a:ext cx="3572753" cy="3023098"/>
          </a:xfrm>
          <a:prstGeom prst="rect">
            <a:avLst/>
          </a:prstGeom>
          <a:solidFill>
            <a:srgbClr val="1A2030"/>
          </a:solidFill>
          <a:ln w="18317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26F3D0A0-346E-9462-1714-21279A9999AB}"/>
              </a:ext>
            </a:extLst>
          </p:cNvPr>
          <p:cNvSpPr/>
          <p:nvPr/>
        </p:nvSpPr>
        <p:spPr>
          <a:xfrm>
            <a:off x="1034452" y="4555412"/>
            <a:ext cx="3078063" cy="13741"/>
          </a:xfrm>
          <a:custGeom>
            <a:avLst/>
            <a:gdLst>
              <a:gd name="csX0" fmla="*/ 0 w 4104084"/>
              <a:gd name="csY0" fmla="*/ 0 h 18321"/>
              <a:gd name="csX1" fmla="*/ 4104085 w 4104084"/>
              <a:gd name="csY1" fmla="*/ 0 h 18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04084" h="18321">
                <a:moveTo>
                  <a:pt x="0" y="0"/>
                </a:moveTo>
                <a:lnTo>
                  <a:pt x="4104085" y="0"/>
                </a:lnTo>
              </a:path>
            </a:pathLst>
          </a:custGeom>
          <a:ln w="21981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80" name="Freeform: Shape 79">
            <a:extLst>
              <a:ext uri="{FF2B5EF4-FFF2-40B4-BE49-F238E27FC236}">
                <a16:creationId xmlns:a16="http://schemas.microsoft.com/office/drawing/2014/main" id="{F300BA1F-570D-7B0E-B909-72FDB3D0B86E}"/>
              </a:ext>
            </a:extLst>
          </p:cNvPr>
          <p:cNvSpPr/>
          <p:nvPr/>
        </p:nvSpPr>
        <p:spPr>
          <a:xfrm>
            <a:off x="1034452" y="2040744"/>
            <a:ext cx="13741" cy="2514668"/>
          </a:xfrm>
          <a:custGeom>
            <a:avLst/>
            <a:gdLst>
              <a:gd name="csX0" fmla="*/ 0 w 18321"/>
              <a:gd name="csY0" fmla="*/ 0 h 3352891"/>
              <a:gd name="csX1" fmla="*/ 0 w 18321"/>
              <a:gd name="csY1" fmla="*/ 3352891 h 3352891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321" h="3352891">
                <a:moveTo>
                  <a:pt x="0" y="0"/>
                </a:moveTo>
                <a:lnTo>
                  <a:pt x="0" y="3352891"/>
                </a:lnTo>
              </a:path>
            </a:pathLst>
          </a:custGeom>
          <a:ln w="21981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58117D-E26A-3614-D61E-78CACBC1C6E1}"/>
              </a:ext>
            </a:extLst>
          </p:cNvPr>
          <p:cNvSpPr txBox="1"/>
          <p:nvPr/>
        </p:nvSpPr>
        <p:spPr>
          <a:xfrm>
            <a:off x="2422442" y="4654067"/>
            <a:ext cx="263534" cy="194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12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x1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3A29F32-68DA-2041-CAEE-B60D7E9E9338}"/>
              </a:ext>
            </a:extLst>
          </p:cNvPr>
          <p:cNvSpPr txBox="1"/>
          <p:nvPr/>
        </p:nvSpPr>
        <p:spPr>
          <a:xfrm rot="16200000">
            <a:off x="714962" y="3207838"/>
            <a:ext cx="263534" cy="194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12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x2</a:t>
            </a:r>
          </a:p>
        </p:txBody>
      </p:sp>
      <p:sp>
        <p:nvSpPr>
          <p:cNvPr id="83" name="Freeform: Shape 82">
            <a:extLst>
              <a:ext uri="{FF2B5EF4-FFF2-40B4-BE49-F238E27FC236}">
                <a16:creationId xmlns:a16="http://schemas.microsoft.com/office/drawing/2014/main" id="{BE5EC370-10B7-EDEC-044D-76DD137022FB}"/>
              </a:ext>
            </a:extLst>
          </p:cNvPr>
          <p:cNvSpPr/>
          <p:nvPr/>
        </p:nvSpPr>
        <p:spPr>
          <a:xfrm>
            <a:off x="1034452" y="3356546"/>
            <a:ext cx="3078063" cy="690435"/>
          </a:xfrm>
          <a:custGeom>
            <a:avLst/>
            <a:gdLst>
              <a:gd name="csX0" fmla="*/ 0 w 4104084"/>
              <a:gd name="csY0" fmla="*/ 920580 h 920580"/>
              <a:gd name="csX1" fmla="*/ 2052043 w 4104084"/>
              <a:gd name="csY1" fmla="*/ 4490 h 920580"/>
              <a:gd name="csX2" fmla="*/ 4104085 w 4104084"/>
              <a:gd name="csY2" fmla="*/ 224352 h 920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04084" h="920580">
                <a:moveTo>
                  <a:pt x="0" y="920580"/>
                </a:moveTo>
                <a:cubicBezTo>
                  <a:pt x="567976" y="407570"/>
                  <a:pt x="1209239" y="-50475"/>
                  <a:pt x="2052043" y="4490"/>
                </a:cubicBezTo>
                <a:cubicBezTo>
                  <a:pt x="2748271" y="59455"/>
                  <a:pt x="3371213" y="444213"/>
                  <a:pt x="4104085" y="224352"/>
                </a:cubicBezTo>
              </a:path>
            </a:pathLst>
          </a:custGeom>
          <a:noFill/>
          <a:ln w="27476" cap="flat">
            <a:solidFill>
              <a:srgbClr val="FFFF00">
                <a:alpha val="94000"/>
              </a:srgbClr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E8F59A4-0A34-0822-D023-9B836EFCE951}"/>
              </a:ext>
            </a:extLst>
          </p:cNvPr>
          <p:cNvSpPr txBox="1"/>
          <p:nvPr/>
        </p:nvSpPr>
        <p:spPr>
          <a:xfrm>
            <a:off x="3384350" y="3173419"/>
            <a:ext cx="350096" cy="17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90">
                <a:ln/>
                <a:solidFill>
                  <a:srgbClr val="FFFFFF">
                    <a:alpha val="2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true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E7E64A0-4A8A-ED59-18B3-397CB9ED3F57}"/>
              </a:ext>
            </a:extLst>
          </p:cNvPr>
          <p:cNvSpPr txBox="1"/>
          <p:nvPr/>
        </p:nvSpPr>
        <p:spPr>
          <a:xfrm>
            <a:off x="1577211" y="2095873"/>
            <a:ext cx="1541128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 dirty="0">
                <a:ln/>
                <a:solidFill>
                  <a:srgbClr val="EF9A9A">
                    <a:alpha val="8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staircase ≠ true boundary</a:t>
            </a:r>
          </a:p>
        </p:txBody>
      </p:sp>
      <p:grpSp>
        <p:nvGrpSpPr>
          <p:cNvPr id="87" name="Graphic 101">
            <a:extLst>
              <a:ext uri="{FF2B5EF4-FFF2-40B4-BE49-F238E27FC236}">
                <a16:creationId xmlns:a16="http://schemas.microsoft.com/office/drawing/2014/main" id="{3E999790-5724-D0A6-C7D2-FC75C119BFE4}"/>
              </a:ext>
            </a:extLst>
          </p:cNvPr>
          <p:cNvGrpSpPr/>
          <p:nvPr/>
        </p:nvGrpSpPr>
        <p:grpSpPr>
          <a:xfrm>
            <a:off x="1199349" y="4088206"/>
            <a:ext cx="2583374" cy="261086"/>
            <a:chOff x="1599131" y="4307941"/>
            <a:chExt cx="3444499" cy="348114"/>
          </a:xfrm>
          <a:solidFill>
            <a:srgbClr val="EF9A9A">
              <a:alpha val="88000"/>
            </a:srgbClr>
          </a:solidFill>
        </p:grpSpPr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6412459-E7F2-2FC8-43F6-62C69E2337AB}"/>
                </a:ext>
              </a:extLst>
            </p:cNvPr>
            <p:cNvSpPr/>
            <p:nvPr/>
          </p:nvSpPr>
          <p:spPr>
            <a:xfrm>
              <a:off x="1599131" y="4491159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D4FF6E1-5F70-BC89-CB02-069481B72794}"/>
                </a:ext>
              </a:extLst>
            </p:cNvPr>
            <p:cNvSpPr/>
            <p:nvPr/>
          </p:nvSpPr>
          <p:spPr>
            <a:xfrm>
              <a:off x="2368647" y="4399550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20EFDC4B-0BF5-A9F4-E0B6-D7343257F407}"/>
                </a:ext>
              </a:extLst>
            </p:cNvPr>
            <p:cNvSpPr/>
            <p:nvPr/>
          </p:nvSpPr>
          <p:spPr>
            <a:xfrm>
              <a:off x="3064875" y="4509481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EBA8ED2-E551-AFCF-3931-744B0B760939}"/>
                </a:ext>
              </a:extLst>
            </p:cNvPr>
            <p:cNvSpPr/>
            <p:nvPr/>
          </p:nvSpPr>
          <p:spPr>
            <a:xfrm>
              <a:off x="3797748" y="4362906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9C999125-976F-80E3-6BE3-6D9A15773B17}"/>
                </a:ext>
              </a:extLst>
            </p:cNvPr>
            <p:cNvSpPr/>
            <p:nvPr/>
          </p:nvSpPr>
          <p:spPr>
            <a:xfrm>
              <a:off x="4897056" y="4307941"/>
              <a:ext cx="146574" cy="146574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93" name="Graphic 101">
            <a:extLst>
              <a:ext uri="{FF2B5EF4-FFF2-40B4-BE49-F238E27FC236}">
                <a16:creationId xmlns:a16="http://schemas.microsoft.com/office/drawing/2014/main" id="{D012A1AE-50C2-9C55-063C-7501CBB1CEAC}"/>
              </a:ext>
            </a:extLst>
          </p:cNvPr>
          <p:cNvGrpSpPr/>
          <p:nvPr/>
        </p:nvGrpSpPr>
        <p:grpSpPr>
          <a:xfrm>
            <a:off x="1309279" y="2425502"/>
            <a:ext cx="2583374" cy="329792"/>
            <a:chOff x="1745705" y="2091002"/>
            <a:chExt cx="3444499" cy="439723"/>
          </a:xfrm>
          <a:solidFill>
            <a:srgbClr val="64B5F6">
              <a:alpha val="88000"/>
            </a:srgbClr>
          </a:solidFill>
        </p:grpSpPr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6DB8F7B4-CE2E-6BD7-71F2-2D495B4D729C}"/>
                </a:ext>
              </a:extLst>
            </p:cNvPr>
            <p:cNvSpPr/>
            <p:nvPr/>
          </p:nvSpPr>
          <p:spPr>
            <a:xfrm>
              <a:off x="1745705" y="2347507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CCE2EF1-95E2-5DA7-78BE-6D714D6ABA7D}"/>
                </a:ext>
              </a:extLst>
            </p:cNvPr>
            <p:cNvSpPr/>
            <p:nvPr/>
          </p:nvSpPr>
          <p:spPr>
            <a:xfrm>
              <a:off x="2606830" y="2164289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11A9E2B6-060A-6EE0-B181-7C42AD64AA5C}"/>
                </a:ext>
              </a:extLst>
            </p:cNvPr>
            <p:cNvSpPr/>
            <p:nvPr/>
          </p:nvSpPr>
          <p:spPr>
            <a:xfrm>
              <a:off x="3394668" y="2091002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6C6878AB-6A9D-58BB-4E20-6806267FB560}"/>
                </a:ext>
              </a:extLst>
            </p:cNvPr>
            <p:cNvSpPr/>
            <p:nvPr/>
          </p:nvSpPr>
          <p:spPr>
            <a:xfrm>
              <a:off x="4127540" y="2274220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17ECB8E8-DE64-0677-8146-5972B1051655}"/>
                </a:ext>
              </a:extLst>
            </p:cNvPr>
            <p:cNvSpPr/>
            <p:nvPr/>
          </p:nvSpPr>
          <p:spPr>
            <a:xfrm>
              <a:off x="5043630" y="2384151"/>
              <a:ext cx="146574" cy="146574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7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99" name="Freeform: Shape 98">
            <a:extLst>
              <a:ext uri="{FF2B5EF4-FFF2-40B4-BE49-F238E27FC236}">
                <a16:creationId xmlns:a16="http://schemas.microsoft.com/office/drawing/2014/main" id="{2D257DF5-CA08-7B85-0FED-35B48BBDC78C}"/>
              </a:ext>
            </a:extLst>
          </p:cNvPr>
          <p:cNvSpPr/>
          <p:nvPr/>
        </p:nvSpPr>
        <p:spPr>
          <a:xfrm>
            <a:off x="1039214" y="3361309"/>
            <a:ext cx="3078063" cy="690435"/>
          </a:xfrm>
          <a:custGeom>
            <a:avLst/>
            <a:gdLst>
              <a:gd name="csX0" fmla="*/ 0 w 4104084"/>
              <a:gd name="csY0" fmla="*/ 920580 h 920580"/>
              <a:gd name="csX1" fmla="*/ 2052043 w 4104084"/>
              <a:gd name="csY1" fmla="*/ 4490 h 920580"/>
              <a:gd name="csX2" fmla="*/ 4104085 w 4104084"/>
              <a:gd name="csY2" fmla="*/ 224352 h 9205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04084" h="920580">
                <a:moveTo>
                  <a:pt x="0" y="920580"/>
                </a:moveTo>
                <a:cubicBezTo>
                  <a:pt x="567976" y="407570"/>
                  <a:pt x="1209239" y="-50475"/>
                  <a:pt x="2052043" y="4490"/>
                </a:cubicBezTo>
                <a:cubicBezTo>
                  <a:pt x="2748271" y="59455"/>
                  <a:pt x="3371213" y="444213"/>
                  <a:pt x="4104085" y="224352"/>
                </a:cubicBezTo>
              </a:path>
            </a:pathLst>
          </a:custGeom>
          <a:noFill/>
          <a:ln w="27476" cap="flat">
            <a:solidFill>
              <a:schemeClr val="bg1">
                <a:alpha val="15000"/>
              </a:schemeClr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598BBA9-A418-B5E2-548B-39B120F29DA5}"/>
              </a:ext>
            </a:extLst>
          </p:cNvPr>
          <p:cNvSpPr/>
          <p:nvPr/>
        </p:nvSpPr>
        <p:spPr>
          <a:xfrm>
            <a:off x="1017027" y="3162307"/>
            <a:ext cx="3165532" cy="886693"/>
          </a:xfrm>
          <a:custGeom>
            <a:avLst/>
            <a:gdLst>
              <a:gd name="csX0" fmla="*/ 0 w 4252458"/>
              <a:gd name="csY0" fmla="*/ 989796 h 989796"/>
              <a:gd name="csX1" fmla="*/ 659864 w 4252458"/>
              <a:gd name="csY1" fmla="*/ 989796 h 989796"/>
              <a:gd name="csX2" fmla="*/ 659864 w 4252458"/>
              <a:gd name="csY2" fmla="*/ 439910 h 989796"/>
              <a:gd name="csX3" fmla="*/ 1319729 w 4252458"/>
              <a:gd name="csY3" fmla="*/ 439910 h 989796"/>
              <a:gd name="csX4" fmla="*/ 1319729 w 4252458"/>
              <a:gd name="csY4" fmla="*/ 733183 h 989796"/>
              <a:gd name="csX5" fmla="*/ 2016252 w 4252458"/>
              <a:gd name="csY5" fmla="*/ 733183 h 989796"/>
              <a:gd name="csX6" fmla="*/ 2016252 w 4252458"/>
              <a:gd name="csY6" fmla="*/ 0 h 989796"/>
              <a:gd name="csX7" fmla="*/ 2749435 w 4252458"/>
              <a:gd name="csY7" fmla="*/ 0 h 989796"/>
              <a:gd name="csX8" fmla="*/ 2749435 w 4252458"/>
              <a:gd name="csY8" fmla="*/ 366591 h 989796"/>
              <a:gd name="csX9" fmla="*/ 4252459 w 4252458"/>
              <a:gd name="csY9" fmla="*/ 366591 h 989796"/>
              <a:gd name="csX0" fmla="*/ 0 w 4252459"/>
              <a:gd name="csY0" fmla="*/ 989796 h 989796"/>
              <a:gd name="csX1" fmla="*/ 659864 w 4252459"/>
              <a:gd name="csY1" fmla="*/ 989796 h 989796"/>
              <a:gd name="csX2" fmla="*/ 659864 w 4252459"/>
              <a:gd name="csY2" fmla="*/ 439910 h 989796"/>
              <a:gd name="csX3" fmla="*/ 1319729 w 4252459"/>
              <a:gd name="csY3" fmla="*/ 439910 h 989796"/>
              <a:gd name="csX4" fmla="*/ 1319729 w 4252459"/>
              <a:gd name="csY4" fmla="*/ 733183 h 989796"/>
              <a:gd name="csX5" fmla="*/ 2016252 w 4252459"/>
              <a:gd name="csY5" fmla="*/ 733183 h 989796"/>
              <a:gd name="csX6" fmla="*/ 2016252 w 4252459"/>
              <a:gd name="csY6" fmla="*/ 0 h 989796"/>
              <a:gd name="csX7" fmla="*/ 2749435 w 4252459"/>
              <a:gd name="csY7" fmla="*/ 0 h 989796"/>
              <a:gd name="csX8" fmla="*/ 2749435 w 4252459"/>
              <a:gd name="csY8" fmla="*/ 690884 h 989796"/>
              <a:gd name="csX9" fmla="*/ 4252459 w 4252459"/>
              <a:gd name="csY9" fmla="*/ 366591 h 989796"/>
              <a:gd name="csX0" fmla="*/ 0 w 4265159"/>
              <a:gd name="csY0" fmla="*/ 989796 h 989796"/>
              <a:gd name="csX1" fmla="*/ 659864 w 4265159"/>
              <a:gd name="csY1" fmla="*/ 989796 h 989796"/>
              <a:gd name="csX2" fmla="*/ 659864 w 4265159"/>
              <a:gd name="csY2" fmla="*/ 439910 h 989796"/>
              <a:gd name="csX3" fmla="*/ 1319729 w 4265159"/>
              <a:gd name="csY3" fmla="*/ 439910 h 989796"/>
              <a:gd name="csX4" fmla="*/ 1319729 w 4265159"/>
              <a:gd name="csY4" fmla="*/ 733183 h 989796"/>
              <a:gd name="csX5" fmla="*/ 2016252 w 4265159"/>
              <a:gd name="csY5" fmla="*/ 733183 h 989796"/>
              <a:gd name="csX6" fmla="*/ 2016252 w 4265159"/>
              <a:gd name="csY6" fmla="*/ 0 h 989796"/>
              <a:gd name="csX7" fmla="*/ 2749435 w 4265159"/>
              <a:gd name="csY7" fmla="*/ 0 h 989796"/>
              <a:gd name="csX8" fmla="*/ 2749435 w 4265159"/>
              <a:gd name="csY8" fmla="*/ 690884 h 989796"/>
              <a:gd name="csX9" fmla="*/ 4265159 w 4265159"/>
              <a:gd name="csY9" fmla="*/ 669619 h 989796"/>
              <a:gd name="csX0" fmla="*/ 0 w 4239759"/>
              <a:gd name="csY0" fmla="*/ 989796 h 989796"/>
              <a:gd name="csX1" fmla="*/ 659864 w 4239759"/>
              <a:gd name="csY1" fmla="*/ 989796 h 989796"/>
              <a:gd name="csX2" fmla="*/ 659864 w 4239759"/>
              <a:gd name="csY2" fmla="*/ 439910 h 989796"/>
              <a:gd name="csX3" fmla="*/ 1319729 w 4239759"/>
              <a:gd name="csY3" fmla="*/ 439910 h 989796"/>
              <a:gd name="csX4" fmla="*/ 1319729 w 4239759"/>
              <a:gd name="csY4" fmla="*/ 733183 h 989796"/>
              <a:gd name="csX5" fmla="*/ 2016252 w 4239759"/>
              <a:gd name="csY5" fmla="*/ 733183 h 989796"/>
              <a:gd name="csX6" fmla="*/ 2016252 w 4239759"/>
              <a:gd name="csY6" fmla="*/ 0 h 989796"/>
              <a:gd name="csX7" fmla="*/ 2749435 w 4239759"/>
              <a:gd name="csY7" fmla="*/ 0 h 989796"/>
              <a:gd name="csX8" fmla="*/ 2749435 w 4239759"/>
              <a:gd name="csY8" fmla="*/ 690884 h 989796"/>
              <a:gd name="csX9" fmla="*/ 4239759 w 4239759"/>
              <a:gd name="csY9" fmla="*/ 685568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319729 w 4220709"/>
              <a:gd name="csY3" fmla="*/ 439910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014929 w 4220709"/>
              <a:gd name="csY4" fmla="*/ 727867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0709" h="989796">
                <a:moveTo>
                  <a:pt x="0" y="989796"/>
                </a:moveTo>
                <a:lnTo>
                  <a:pt x="659864" y="989796"/>
                </a:lnTo>
                <a:lnTo>
                  <a:pt x="659864" y="439910"/>
                </a:lnTo>
                <a:lnTo>
                  <a:pt x="1014929" y="434593"/>
                </a:lnTo>
                <a:lnTo>
                  <a:pt x="1014929" y="727867"/>
                </a:lnTo>
                <a:lnTo>
                  <a:pt x="2016252" y="733183"/>
                </a:lnTo>
                <a:lnTo>
                  <a:pt x="2016252" y="0"/>
                </a:lnTo>
                <a:lnTo>
                  <a:pt x="2749435" y="0"/>
                </a:lnTo>
                <a:lnTo>
                  <a:pt x="2749435" y="690884"/>
                </a:lnTo>
                <a:lnTo>
                  <a:pt x="4220709" y="680251"/>
                </a:lnTo>
              </a:path>
            </a:pathLst>
          </a:custGeom>
          <a:noFill/>
          <a:ln w="51292" cap="flat">
            <a:solidFill>
              <a:srgbClr val="EF9A9A"/>
            </a:solidFill>
            <a:prstDash val="solid"/>
            <a:round/>
          </a:ln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817441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6" grpId="0"/>
      <p:bldP spid="99" grpId="0" animBg="1"/>
      <p:bldP spid="24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C6CF6-71D5-351F-95BF-556F09B80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Rectangle 204">
            <a:extLst>
              <a:ext uri="{FF2B5EF4-FFF2-40B4-BE49-F238E27FC236}">
                <a16:creationId xmlns:a16="http://schemas.microsoft.com/office/drawing/2014/main" id="{5F91AFEF-A8F3-EBCA-90C8-2F038C662079}"/>
              </a:ext>
            </a:extLst>
          </p:cNvPr>
          <p:cNvSpPr/>
          <p:nvPr/>
        </p:nvSpPr>
        <p:spPr>
          <a:xfrm>
            <a:off x="587886" y="1852208"/>
            <a:ext cx="3684242" cy="3024378"/>
          </a:xfrm>
          <a:prstGeom prst="rect">
            <a:avLst/>
          </a:prstGeom>
          <a:solidFill>
            <a:srgbClr val="1A2030"/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D3A115C3-B732-E027-A09D-21617B6CFD03}"/>
              </a:ext>
            </a:extLst>
          </p:cNvPr>
          <p:cNvSpPr/>
          <p:nvPr/>
        </p:nvSpPr>
        <p:spPr>
          <a:xfrm>
            <a:off x="0" y="857250"/>
            <a:ext cx="9141714" cy="617220"/>
          </a:xfrm>
          <a:prstGeom prst="rect">
            <a:avLst/>
          </a:prstGeom>
          <a:solidFill>
            <a:srgbClr val="0C0F14"/>
          </a:solidFill>
          <a:ln w="12700">
            <a:solidFill>
              <a:srgbClr val="0C0F1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8AE2B6A-98A1-A8D4-5B76-0F6EE8AAF8A3}"/>
              </a:ext>
            </a:extLst>
          </p:cNvPr>
          <p:cNvSpPr/>
          <p:nvPr/>
        </p:nvSpPr>
        <p:spPr>
          <a:xfrm>
            <a:off x="0" y="1474470"/>
            <a:ext cx="9141714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7A60346-B591-1A2C-2E6A-89F12653F02B}"/>
              </a:ext>
            </a:extLst>
          </p:cNvPr>
          <p:cNvSpPr/>
          <p:nvPr/>
        </p:nvSpPr>
        <p:spPr>
          <a:xfrm>
            <a:off x="274320" y="898398"/>
            <a:ext cx="5897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 &amp; the Staircase Problem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530528-7766-C4C4-8C3D-F70430B76322}"/>
              </a:ext>
            </a:extLst>
          </p:cNvPr>
          <p:cNvSpPr/>
          <p:nvPr/>
        </p:nvSpPr>
        <p:spPr>
          <a:xfrm>
            <a:off x="274320" y="1255014"/>
            <a:ext cx="5897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750" kern="0" spc="38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averaging many weak learners produces smooth, low-variance predictions</a:t>
            </a:r>
            <a:endParaRPr lang="en-US" sz="75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DAB6A9E-3D84-0A4B-FDEE-628BC15DDA2B}"/>
              </a:ext>
            </a:extLst>
          </p:cNvPr>
          <p:cNvSpPr/>
          <p:nvPr/>
        </p:nvSpPr>
        <p:spPr>
          <a:xfrm>
            <a:off x="6013475" y="1042416"/>
            <a:ext cx="565785" cy="219456"/>
          </a:xfrm>
          <a:prstGeom prst="rect">
            <a:avLst/>
          </a:prstGeom>
          <a:solidFill>
            <a:srgbClr val="13181F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505915A-28A2-70AC-9852-92A6B3F93F3B}"/>
              </a:ext>
            </a:extLst>
          </p:cNvPr>
          <p:cNvSpPr/>
          <p:nvPr/>
        </p:nvSpPr>
        <p:spPr>
          <a:xfrm>
            <a:off x="6013475" y="1042416"/>
            <a:ext cx="5657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kern="0" spc="113" dirty="0">
                <a:solidFill>
                  <a:srgbClr val="64B5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BAGGING</a:t>
            </a:r>
            <a:endParaRPr lang="en-US" sz="488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5611F71A-3D4B-927D-9E63-79BF18B614E8}"/>
              </a:ext>
            </a:extLst>
          </p:cNvPr>
          <p:cNvSpPr/>
          <p:nvPr/>
        </p:nvSpPr>
        <p:spPr>
          <a:xfrm>
            <a:off x="7762265" y="1042416"/>
            <a:ext cx="1131570" cy="219456"/>
          </a:xfrm>
          <a:prstGeom prst="rect">
            <a:avLst/>
          </a:prstGeom>
          <a:solidFill>
            <a:srgbClr val="13181F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F88F697-56B3-27A7-13C8-B6E9CF781B0B}"/>
              </a:ext>
            </a:extLst>
          </p:cNvPr>
          <p:cNvSpPr/>
          <p:nvPr/>
        </p:nvSpPr>
        <p:spPr>
          <a:xfrm>
            <a:off x="7762265" y="104241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kern="0" spc="113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 REDUCTION</a:t>
            </a:r>
            <a:endParaRPr lang="en-US" sz="488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8657AA-21AA-FA28-4F38-9AC9AA8D3F7B}"/>
              </a:ext>
            </a:extLst>
          </p:cNvPr>
          <p:cNvGrpSpPr/>
          <p:nvPr/>
        </p:nvGrpSpPr>
        <p:grpSpPr>
          <a:xfrm>
            <a:off x="150876" y="1625346"/>
            <a:ext cx="2862072" cy="130302"/>
            <a:chOff x="201168" y="1024128"/>
            <a:chExt cx="3816096" cy="173736"/>
          </a:xfrm>
        </p:grpSpPr>
        <p:sp>
          <p:nvSpPr>
            <p:cNvPr id="14" name="Shape 12">
              <a:extLst>
                <a:ext uri="{FF2B5EF4-FFF2-40B4-BE49-F238E27FC236}">
                  <a16:creationId xmlns:a16="http://schemas.microsoft.com/office/drawing/2014/main" id="{5738023C-A8FD-2043-9627-BA10CF6D8DF5}"/>
                </a:ext>
              </a:extLst>
            </p:cNvPr>
            <p:cNvSpPr/>
            <p:nvPr/>
          </p:nvSpPr>
          <p:spPr>
            <a:xfrm>
              <a:off x="201168" y="1065276"/>
              <a:ext cx="91440" cy="91440"/>
            </a:xfrm>
            <a:prstGeom prst="ellipse">
              <a:avLst/>
            </a:prstGeom>
            <a:solidFill>
              <a:srgbClr val="EF9A9A"/>
            </a:solidFill>
            <a:ln w="12700">
              <a:solidFill>
                <a:srgbClr val="EF9A9A"/>
              </a:solidFill>
              <a:prstDash val="solid"/>
            </a:ln>
          </p:spPr>
          <p:txBody>
            <a:bodyPr/>
            <a:lstStyle/>
            <a:p>
              <a:endParaRPr lang="en-US" sz="825"/>
            </a:p>
          </p:txBody>
        </p:sp>
        <p:sp>
          <p:nvSpPr>
            <p:cNvPr id="15" name="Text 13">
              <a:extLst>
                <a:ext uri="{FF2B5EF4-FFF2-40B4-BE49-F238E27FC236}">
                  <a16:creationId xmlns:a16="http://schemas.microsoft.com/office/drawing/2014/main" id="{E6CD38E6-0246-D53E-E327-51E5183FF9FF}"/>
                </a:ext>
              </a:extLst>
            </p:cNvPr>
            <p:cNvSpPr/>
            <p:nvPr/>
          </p:nvSpPr>
          <p:spPr>
            <a:xfrm>
              <a:off x="338328" y="1024128"/>
              <a:ext cx="367893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kern="0" spc="135" dirty="0">
                  <a:solidFill>
                    <a:srgbClr val="EF9A9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SINGLE CART TREE</a:t>
              </a:r>
              <a:endParaRPr lang="en-US" sz="1050" dirty="0"/>
            </a:p>
          </p:txBody>
        </p:sp>
      </p:grpSp>
      <p:sp>
        <p:nvSpPr>
          <p:cNvPr id="18" name="Text 15">
            <a:extLst>
              <a:ext uri="{FF2B5EF4-FFF2-40B4-BE49-F238E27FC236}">
                <a16:creationId xmlns:a16="http://schemas.microsoft.com/office/drawing/2014/main" id="{2D406340-1B41-95A3-BC8B-F0E58DD9B4DD}"/>
              </a:ext>
            </a:extLst>
          </p:cNvPr>
          <p:cNvSpPr/>
          <p:nvPr/>
        </p:nvSpPr>
        <p:spPr>
          <a:xfrm>
            <a:off x="1438015" y="5018915"/>
            <a:ext cx="27454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EF9A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 Variance, Low Bias</a:t>
            </a:r>
            <a:endParaRPr lang="en-US" sz="938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D1C60265-69ED-050A-A0F1-53B7DDDD84E4}"/>
              </a:ext>
            </a:extLst>
          </p:cNvPr>
          <p:cNvSpPr/>
          <p:nvPr/>
        </p:nvSpPr>
        <p:spPr>
          <a:xfrm>
            <a:off x="887352" y="5336216"/>
            <a:ext cx="283454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05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tree fits its training sample perfectly, tracing a jagged </a:t>
            </a:r>
            <a:r>
              <a:rPr lang="en-US" sz="10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staircase</a:t>
            </a:r>
            <a:r>
              <a:rPr lang="en-US" sz="105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that chases noise. </a:t>
            </a:r>
            <a:endParaRPr lang="en-US" sz="1050" dirty="0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45D142ED-4E41-26CC-27C8-A8286137837C}"/>
              </a:ext>
            </a:extLst>
          </p:cNvPr>
          <p:cNvSpPr/>
          <p:nvPr/>
        </p:nvSpPr>
        <p:spPr>
          <a:xfrm>
            <a:off x="4602608" y="1872234"/>
            <a:ext cx="3684242" cy="3024378"/>
          </a:xfrm>
          <a:prstGeom prst="rect">
            <a:avLst/>
          </a:prstGeom>
          <a:solidFill>
            <a:srgbClr val="1A2030"/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28" name="Freeform: Shape 127">
            <a:extLst>
              <a:ext uri="{FF2B5EF4-FFF2-40B4-BE49-F238E27FC236}">
                <a16:creationId xmlns:a16="http://schemas.microsoft.com/office/drawing/2014/main" id="{513003BB-F0AA-C217-0C0F-70EA1C0E1C1D}"/>
              </a:ext>
            </a:extLst>
          </p:cNvPr>
          <p:cNvSpPr/>
          <p:nvPr/>
        </p:nvSpPr>
        <p:spPr>
          <a:xfrm>
            <a:off x="4437642" y="1872234"/>
            <a:ext cx="13747" cy="3024378"/>
          </a:xfrm>
          <a:custGeom>
            <a:avLst/>
            <a:gdLst>
              <a:gd name="csX0" fmla="*/ 0 w 18329"/>
              <a:gd name="csY0" fmla="*/ 0 h 4032504"/>
              <a:gd name="csX1" fmla="*/ 0 w 18329"/>
              <a:gd name="csY1" fmla="*/ 4032504 h 4032504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329" h="4032504">
                <a:moveTo>
                  <a:pt x="0" y="0"/>
                </a:moveTo>
                <a:lnTo>
                  <a:pt x="0" y="4032504"/>
                </a:lnTo>
              </a:path>
            </a:pathLst>
          </a:custGeom>
          <a:ln w="27478" cap="flat">
            <a:solidFill>
              <a:srgbClr val="252D3D"/>
            </a:solidFill>
            <a:custDash>
              <a:ds d="300000" sp="225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73CC18E-CACE-0494-67D2-FDA8039E5BA1}"/>
              </a:ext>
            </a:extLst>
          </p:cNvPr>
          <p:cNvSpPr txBox="1"/>
          <p:nvPr/>
        </p:nvSpPr>
        <p:spPr>
          <a:xfrm rot="16200000">
            <a:off x="4054943" y="3362300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same model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B7F510F-D281-DF99-86A0-143FD5FD43DA}"/>
              </a:ext>
            </a:extLst>
          </p:cNvPr>
          <p:cNvSpPr txBox="1"/>
          <p:nvPr/>
        </p:nvSpPr>
        <p:spPr>
          <a:xfrm>
            <a:off x="1879371" y="1954895"/>
            <a:ext cx="867866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 b="1">
                <a:ln/>
                <a:solidFill>
                  <a:srgbClr val="EF9A9A"/>
                </a:solidFill>
                <a:latin typeface="Courier New"/>
                <a:cs typeface="Courier New"/>
                <a:sym typeface="Courier New"/>
                <a:rtl val="0"/>
              </a:rPr>
              <a:t>TRAINING DATA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D4B6B42C-457C-D09B-B093-5F6639D7B437}"/>
              </a:ext>
            </a:extLst>
          </p:cNvPr>
          <p:cNvSpPr txBox="1"/>
          <p:nvPr/>
        </p:nvSpPr>
        <p:spPr>
          <a:xfrm>
            <a:off x="1438015" y="2117559"/>
            <a:ext cx="1529906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50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staircase fit to this sample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493B5C5-ACFB-5C07-6799-7AA0C7547A9F}"/>
              </a:ext>
            </a:extLst>
          </p:cNvPr>
          <p:cNvSpPr txBox="1"/>
          <p:nvPr/>
        </p:nvSpPr>
        <p:spPr>
          <a:xfrm>
            <a:off x="5373818" y="1954895"/>
            <a:ext cx="1653338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 b="1">
                <a:ln/>
                <a:solidFill>
                  <a:srgbClr val="FFD54F"/>
                </a:solidFill>
                <a:latin typeface="Courier New"/>
                <a:cs typeface="Courier New"/>
                <a:sym typeface="Courier New"/>
                <a:rtl val="0"/>
              </a:rPr>
              <a:t>NEW DATA (different sample)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983CC5A-E468-DB2C-97C1-E14560A7644F}"/>
              </a:ext>
            </a:extLst>
          </p:cNvPr>
          <p:cNvSpPr txBox="1"/>
          <p:nvPr/>
        </p:nvSpPr>
        <p:spPr>
          <a:xfrm>
            <a:off x="5287195" y="2117559"/>
            <a:ext cx="1778372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50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same staircase applied — poor fit</a:t>
            </a:r>
          </a:p>
        </p:txBody>
      </p:sp>
      <p:sp>
        <p:nvSpPr>
          <p:cNvPr id="134" name="Freeform: Shape 133">
            <a:extLst>
              <a:ext uri="{FF2B5EF4-FFF2-40B4-BE49-F238E27FC236}">
                <a16:creationId xmlns:a16="http://schemas.microsoft.com/office/drawing/2014/main" id="{F2B5E592-DAD0-601B-2452-AB5148DBA0DB}"/>
              </a:ext>
            </a:extLst>
          </p:cNvPr>
          <p:cNvSpPr/>
          <p:nvPr/>
        </p:nvSpPr>
        <p:spPr>
          <a:xfrm>
            <a:off x="945860" y="4552932"/>
            <a:ext cx="3189344" cy="13747"/>
          </a:xfrm>
          <a:custGeom>
            <a:avLst/>
            <a:gdLst>
              <a:gd name="csX0" fmla="*/ 0 w 4252458"/>
              <a:gd name="csY0" fmla="*/ 0 h 18329"/>
              <a:gd name="csX1" fmla="*/ 4252459 w 4252458"/>
              <a:gd name="csY1" fmla="*/ 0 h 1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52458" h="18329">
                <a:moveTo>
                  <a:pt x="0" y="0"/>
                </a:moveTo>
                <a:lnTo>
                  <a:pt x="4252459" y="0"/>
                </a:lnTo>
              </a:path>
            </a:pathLst>
          </a:custGeom>
          <a:ln w="21982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5" name="Freeform: Shape 134">
            <a:extLst>
              <a:ext uri="{FF2B5EF4-FFF2-40B4-BE49-F238E27FC236}">
                <a16:creationId xmlns:a16="http://schemas.microsoft.com/office/drawing/2014/main" id="{D9BA3BD6-D97C-0008-C5A5-3166B6047041}"/>
              </a:ext>
            </a:extLst>
          </p:cNvPr>
          <p:cNvSpPr/>
          <p:nvPr/>
        </p:nvSpPr>
        <p:spPr>
          <a:xfrm>
            <a:off x="945861" y="2353384"/>
            <a:ext cx="13747" cy="2199548"/>
          </a:xfrm>
          <a:custGeom>
            <a:avLst/>
            <a:gdLst>
              <a:gd name="csX0" fmla="*/ 0 w 18329"/>
              <a:gd name="csY0" fmla="*/ 0 h 2932730"/>
              <a:gd name="csX1" fmla="*/ 0 w 18329"/>
              <a:gd name="csY1" fmla="*/ 2932730 h 2932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329" h="2932730">
                <a:moveTo>
                  <a:pt x="0" y="0"/>
                </a:moveTo>
                <a:lnTo>
                  <a:pt x="0" y="2932730"/>
                </a:lnTo>
              </a:path>
            </a:pathLst>
          </a:custGeom>
          <a:ln w="21982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192BFCF7-00B7-CCB7-B607-3928A28C5C82}"/>
              </a:ext>
            </a:extLst>
          </p:cNvPr>
          <p:cNvSpPr txBox="1"/>
          <p:nvPr/>
        </p:nvSpPr>
        <p:spPr>
          <a:xfrm>
            <a:off x="2100719" y="4594352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x1 (slope)</a:t>
            </a: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92610F8D-5C28-E237-6DBD-B27BF9037AC5}"/>
              </a:ext>
            </a:extLst>
          </p:cNvPr>
          <p:cNvSpPr txBox="1"/>
          <p:nvPr/>
        </p:nvSpPr>
        <p:spPr>
          <a:xfrm rot="16200000">
            <a:off x="398195" y="3362300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x2 (curv.)</a:t>
            </a:r>
          </a:p>
        </p:txBody>
      </p:sp>
      <p:sp>
        <p:nvSpPr>
          <p:cNvPr id="138" name="Freeform: Shape 137">
            <a:extLst>
              <a:ext uri="{FF2B5EF4-FFF2-40B4-BE49-F238E27FC236}">
                <a16:creationId xmlns:a16="http://schemas.microsoft.com/office/drawing/2014/main" id="{E836FFEC-4576-54D2-E320-94318DDFAF7D}"/>
              </a:ext>
            </a:extLst>
          </p:cNvPr>
          <p:cNvSpPr/>
          <p:nvPr/>
        </p:nvSpPr>
        <p:spPr>
          <a:xfrm>
            <a:off x="945860" y="3410524"/>
            <a:ext cx="3189344" cy="688751"/>
          </a:xfrm>
          <a:custGeom>
            <a:avLst/>
            <a:gdLst>
              <a:gd name="csX0" fmla="*/ 0 w 4252458"/>
              <a:gd name="csY0" fmla="*/ 918335 h 918334"/>
              <a:gd name="csX1" fmla="*/ 2126229 w 4252458"/>
              <a:gd name="csY1" fmla="*/ 1857 h 918334"/>
              <a:gd name="csX2" fmla="*/ 4252459 w 4252458"/>
              <a:gd name="csY2" fmla="*/ 185152 h 9183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52458" h="918334">
                <a:moveTo>
                  <a:pt x="0" y="918335"/>
                </a:moveTo>
                <a:cubicBezTo>
                  <a:pt x="586546" y="478425"/>
                  <a:pt x="1209751" y="-34802"/>
                  <a:pt x="2126229" y="1857"/>
                </a:cubicBezTo>
                <a:cubicBezTo>
                  <a:pt x="2822753" y="38516"/>
                  <a:pt x="3409299" y="405107"/>
                  <a:pt x="4252459" y="185152"/>
                </a:cubicBezTo>
              </a:path>
            </a:pathLst>
          </a:custGeom>
          <a:noFill/>
          <a:ln w="27478" cap="flat">
            <a:solidFill>
              <a:srgbClr val="FFFFFF">
                <a:alpha val="18000"/>
              </a:srgbClr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B3DD3D87-E9C7-313C-D65B-A6028D47A9E5}"/>
              </a:ext>
            </a:extLst>
          </p:cNvPr>
          <p:cNvSpPr txBox="1"/>
          <p:nvPr/>
        </p:nvSpPr>
        <p:spPr>
          <a:xfrm>
            <a:off x="3571726" y="3341057"/>
            <a:ext cx="337272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50">
                <a:ln/>
                <a:solidFill>
                  <a:srgbClr val="FFFFFF">
                    <a:alpha val="3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true</a:t>
            </a:r>
          </a:p>
        </p:txBody>
      </p:sp>
      <p:sp>
        <p:nvSpPr>
          <p:cNvPr id="142" name="Oval 141">
            <a:extLst>
              <a:ext uri="{FF2B5EF4-FFF2-40B4-BE49-F238E27FC236}">
                <a16:creationId xmlns:a16="http://schemas.microsoft.com/office/drawing/2014/main" id="{F34DD90E-5E0C-B3B7-F8C4-A527C57B6A20}"/>
              </a:ext>
            </a:extLst>
          </p:cNvPr>
          <p:cNvSpPr/>
          <p:nvPr/>
        </p:nvSpPr>
        <p:spPr>
          <a:xfrm>
            <a:off x="1131447" y="4257368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3" name="Oval 142">
            <a:extLst>
              <a:ext uri="{FF2B5EF4-FFF2-40B4-BE49-F238E27FC236}">
                <a16:creationId xmlns:a16="http://schemas.microsoft.com/office/drawing/2014/main" id="{7AD46E7D-6F87-6A12-FD57-32E0EBFF73F7}"/>
              </a:ext>
            </a:extLst>
          </p:cNvPr>
          <p:cNvSpPr/>
          <p:nvPr/>
        </p:nvSpPr>
        <p:spPr>
          <a:xfrm>
            <a:off x="1512202" y="3805717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4" name="Oval 143">
            <a:extLst>
              <a:ext uri="{FF2B5EF4-FFF2-40B4-BE49-F238E27FC236}">
                <a16:creationId xmlns:a16="http://schemas.microsoft.com/office/drawing/2014/main" id="{7500B118-758E-D124-25EF-663902ACBE58}"/>
              </a:ext>
            </a:extLst>
          </p:cNvPr>
          <p:cNvSpPr/>
          <p:nvPr/>
        </p:nvSpPr>
        <p:spPr>
          <a:xfrm>
            <a:off x="2100622" y="4052914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5" name="Oval 144">
            <a:extLst>
              <a:ext uri="{FF2B5EF4-FFF2-40B4-BE49-F238E27FC236}">
                <a16:creationId xmlns:a16="http://schemas.microsoft.com/office/drawing/2014/main" id="{83E378D4-0F61-73D2-25F9-AA24DA1C7C67}"/>
              </a:ext>
            </a:extLst>
          </p:cNvPr>
          <p:cNvSpPr/>
          <p:nvPr/>
        </p:nvSpPr>
        <p:spPr>
          <a:xfrm>
            <a:off x="2658433" y="3513599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6" name="Oval 145">
            <a:extLst>
              <a:ext uri="{FF2B5EF4-FFF2-40B4-BE49-F238E27FC236}">
                <a16:creationId xmlns:a16="http://schemas.microsoft.com/office/drawing/2014/main" id="{EB137CA2-DCF7-DE60-5C54-CE2BE1DE027F}"/>
              </a:ext>
            </a:extLst>
          </p:cNvPr>
          <p:cNvSpPr/>
          <p:nvPr/>
        </p:nvSpPr>
        <p:spPr>
          <a:xfrm>
            <a:off x="3161398" y="4146680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99787186-5300-10FB-EE66-09F872106F23}"/>
              </a:ext>
            </a:extLst>
          </p:cNvPr>
          <p:cNvSpPr/>
          <p:nvPr/>
        </p:nvSpPr>
        <p:spPr>
          <a:xfrm>
            <a:off x="3825892" y="4037413"/>
            <a:ext cx="123725" cy="123725"/>
          </a:xfrm>
          <a:prstGeom prst="ellipse">
            <a:avLst/>
          </a:prstGeom>
          <a:solidFill>
            <a:srgbClr val="EF9A9A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4D19F8CB-253B-7574-1E36-3CE40F997745}"/>
              </a:ext>
            </a:extLst>
          </p:cNvPr>
          <p:cNvSpPr/>
          <p:nvPr/>
        </p:nvSpPr>
        <p:spPr>
          <a:xfrm>
            <a:off x="1085570" y="3481783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0" name="Oval 149">
            <a:extLst>
              <a:ext uri="{FF2B5EF4-FFF2-40B4-BE49-F238E27FC236}">
                <a16:creationId xmlns:a16="http://schemas.microsoft.com/office/drawing/2014/main" id="{3A2D04FA-6314-501B-7E4B-5180827F750C}"/>
              </a:ext>
            </a:extLst>
          </p:cNvPr>
          <p:cNvSpPr/>
          <p:nvPr/>
        </p:nvSpPr>
        <p:spPr>
          <a:xfrm>
            <a:off x="1531510" y="2810479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1" name="Oval 150">
            <a:extLst>
              <a:ext uri="{FF2B5EF4-FFF2-40B4-BE49-F238E27FC236}">
                <a16:creationId xmlns:a16="http://schemas.microsoft.com/office/drawing/2014/main" id="{A3F65707-233B-4940-7A15-CB199E3A4398}"/>
              </a:ext>
            </a:extLst>
          </p:cNvPr>
          <p:cNvSpPr/>
          <p:nvPr/>
        </p:nvSpPr>
        <p:spPr>
          <a:xfrm>
            <a:off x="2635002" y="2734057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2" name="Oval 151">
            <a:extLst>
              <a:ext uri="{FF2B5EF4-FFF2-40B4-BE49-F238E27FC236}">
                <a16:creationId xmlns:a16="http://schemas.microsoft.com/office/drawing/2014/main" id="{E4105759-98F6-8671-1773-4164AC4F7F7E}"/>
              </a:ext>
            </a:extLst>
          </p:cNvPr>
          <p:cNvSpPr/>
          <p:nvPr/>
        </p:nvSpPr>
        <p:spPr>
          <a:xfrm>
            <a:off x="3250279" y="2841970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0C994AE3-CE55-8685-BCCD-7A28E02E976B}"/>
              </a:ext>
            </a:extLst>
          </p:cNvPr>
          <p:cNvSpPr/>
          <p:nvPr/>
        </p:nvSpPr>
        <p:spPr>
          <a:xfrm>
            <a:off x="3840694" y="3106104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4" name="Oval 153">
            <a:extLst>
              <a:ext uri="{FF2B5EF4-FFF2-40B4-BE49-F238E27FC236}">
                <a16:creationId xmlns:a16="http://schemas.microsoft.com/office/drawing/2014/main" id="{E592BEC6-2216-4ADF-7D1F-E5CE1323F945}"/>
              </a:ext>
            </a:extLst>
          </p:cNvPr>
          <p:cNvSpPr/>
          <p:nvPr/>
        </p:nvSpPr>
        <p:spPr>
          <a:xfrm>
            <a:off x="2057985" y="3148966"/>
            <a:ext cx="123725" cy="123725"/>
          </a:xfrm>
          <a:prstGeom prst="ellipse">
            <a:avLst/>
          </a:prstGeom>
          <a:solidFill>
            <a:srgbClr val="64B5F6">
              <a:alpha val="90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7BA3B837-6AD7-2655-4880-848B433D549E}"/>
              </a:ext>
            </a:extLst>
          </p:cNvPr>
          <p:cNvSpPr/>
          <p:nvPr/>
        </p:nvSpPr>
        <p:spPr>
          <a:xfrm>
            <a:off x="1605725" y="2380879"/>
            <a:ext cx="1869615" cy="219955"/>
          </a:xfrm>
          <a:prstGeom prst="rect">
            <a:avLst/>
          </a:prstGeom>
          <a:solidFill>
            <a:srgbClr val="81C784">
              <a:alpha val="12000"/>
            </a:srgbClr>
          </a:solidFill>
          <a:ln w="14655" cap="flat">
            <a:solidFill>
              <a:srgbClr val="81C784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69236E76-A61F-C909-5505-5E6ACCA44F8F}"/>
              </a:ext>
            </a:extLst>
          </p:cNvPr>
          <p:cNvSpPr txBox="1"/>
          <p:nvPr/>
        </p:nvSpPr>
        <p:spPr>
          <a:xfrm>
            <a:off x="1665550" y="2414275"/>
            <a:ext cx="1355179" cy="17543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90">
                <a:ln/>
                <a:solidFill>
                  <a:srgbClr val="81C784"/>
                </a:solidFill>
                <a:latin typeface="Courier New"/>
                <a:cs typeface="Courier New"/>
                <a:sym typeface="Courier New"/>
                <a:rtl val="0"/>
              </a:rPr>
              <a:t>fits training perfectly</a:t>
            </a:r>
          </a:p>
        </p:txBody>
      </p:sp>
      <p:sp>
        <p:nvSpPr>
          <p:cNvPr id="157" name="Freeform: Shape 156">
            <a:extLst>
              <a:ext uri="{FF2B5EF4-FFF2-40B4-BE49-F238E27FC236}">
                <a16:creationId xmlns:a16="http://schemas.microsoft.com/office/drawing/2014/main" id="{3358774E-51C1-CD46-779D-E3C699D71D13}"/>
              </a:ext>
            </a:extLst>
          </p:cNvPr>
          <p:cNvSpPr/>
          <p:nvPr/>
        </p:nvSpPr>
        <p:spPr>
          <a:xfrm>
            <a:off x="4960034" y="4552932"/>
            <a:ext cx="3189344" cy="13747"/>
          </a:xfrm>
          <a:custGeom>
            <a:avLst/>
            <a:gdLst>
              <a:gd name="csX0" fmla="*/ 0 w 4252458"/>
              <a:gd name="csY0" fmla="*/ 0 h 18329"/>
              <a:gd name="csX1" fmla="*/ 4252459 w 4252458"/>
              <a:gd name="csY1" fmla="*/ 0 h 18329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252458" h="18329">
                <a:moveTo>
                  <a:pt x="0" y="0"/>
                </a:moveTo>
                <a:lnTo>
                  <a:pt x="4252459" y="0"/>
                </a:lnTo>
              </a:path>
            </a:pathLst>
          </a:custGeom>
          <a:ln w="21982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8" name="Freeform: Shape 157">
            <a:extLst>
              <a:ext uri="{FF2B5EF4-FFF2-40B4-BE49-F238E27FC236}">
                <a16:creationId xmlns:a16="http://schemas.microsoft.com/office/drawing/2014/main" id="{6F1862EB-646D-CF02-B8F6-631CE8E2B6E0}"/>
              </a:ext>
            </a:extLst>
          </p:cNvPr>
          <p:cNvSpPr/>
          <p:nvPr/>
        </p:nvSpPr>
        <p:spPr>
          <a:xfrm>
            <a:off x="4960035" y="2353384"/>
            <a:ext cx="13747" cy="2199548"/>
          </a:xfrm>
          <a:custGeom>
            <a:avLst/>
            <a:gdLst>
              <a:gd name="csX0" fmla="*/ 0 w 18329"/>
              <a:gd name="csY0" fmla="*/ 0 h 2932730"/>
              <a:gd name="csX1" fmla="*/ 0 w 18329"/>
              <a:gd name="csY1" fmla="*/ 2932730 h 293273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329" h="2932730">
                <a:moveTo>
                  <a:pt x="0" y="0"/>
                </a:moveTo>
                <a:lnTo>
                  <a:pt x="0" y="2932730"/>
                </a:lnTo>
              </a:path>
            </a:pathLst>
          </a:custGeom>
          <a:ln w="21982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452B86EE-5726-8B71-46EB-439147848735}"/>
              </a:ext>
            </a:extLst>
          </p:cNvPr>
          <p:cNvSpPr txBox="1"/>
          <p:nvPr/>
        </p:nvSpPr>
        <p:spPr>
          <a:xfrm>
            <a:off x="6114893" y="4594352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x1 (slope)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BE9AC941-8AFA-A8B2-781B-3B7194F8DDA4}"/>
              </a:ext>
            </a:extLst>
          </p:cNvPr>
          <p:cNvSpPr txBox="1"/>
          <p:nvPr/>
        </p:nvSpPr>
        <p:spPr>
          <a:xfrm rot="16200000">
            <a:off x="4412369" y="3362300"/>
            <a:ext cx="699550" cy="1817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x2 (curv.)</a:t>
            </a:r>
          </a:p>
        </p:txBody>
      </p:sp>
      <p:sp>
        <p:nvSpPr>
          <p:cNvPr id="161" name="Freeform: Shape 160">
            <a:extLst>
              <a:ext uri="{FF2B5EF4-FFF2-40B4-BE49-F238E27FC236}">
                <a16:creationId xmlns:a16="http://schemas.microsoft.com/office/drawing/2014/main" id="{54142F9E-4EFA-0CEB-02E4-317FCE8755CC}"/>
              </a:ext>
            </a:extLst>
          </p:cNvPr>
          <p:cNvSpPr/>
          <p:nvPr/>
        </p:nvSpPr>
        <p:spPr>
          <a:xfrm>
            <a:off x="4960034" y="3382931"/>
            <a:ext cx="3189344" cy="661356"/>
          </a:xfrm>
          <a:custGeom>
            <a:avLst/>
            <a:gdLst>
              <a:gd name="csX0" fmla="*/ 0 w 4252458"/>
              <a:gd name="csY0" fmla="*/ 881809 h 881808"/>
              <a:gd name="csX1" fmla="*/ 2126229 w 4252458"/>
              <a:gd name="csY1" fmla="*/ 1990 h 881808"/>
              <a:gd name="csX2" fmla="*/ 4252459 w 4252458"/>
              <a:gd name="csY2" fmla="*/ 185285 h 881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252458" h="881808">
                <a:moveTo>
                  <a:pt x="0" y="881809"/>
                </a:moveTo>
                <a:cubicBezTo>
                  <a:pt x="586546" y="441899"/>
                  <a:pt x="1209751" y="-34669"/>
                  <a:pt x="2126229" y="1990"/>
                </a:cubicBezTo>
                <a:cubicBezTo>
                  <a:pt x="2822753" y="38649"/>
                  <a:pt x="3409299" y="405240"/>
                  <a:pt x="4252459" y="185285"/>
                </a:cubicBezTo>
              </a:path>
            </a:pathLst>
          </a:custGeom>
          <a:noFill/>
          <a:ln w="32974" cap="flat">
            <a:solidFill>
              <a:srgbClr val="FFFFFF">
                <a:alpha val="25000"/>
              </a:srgbClr>
            </a:solidFill>
            <a:custDash>
              <a:ds d="375000" sp="300000"/>
            </a:custDash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045FE68C-5806-1B8E-10FD-F4BC9018E44C}"/>
              </a:ext>
            </a:extLst>
          </p:cNvPr>
          <p:cNvSpPr txBox="1"/>
          <p:nvPr/>
        </p:nvSpPr>
        <p:spPr>
          <a:xfrm>
            <a:off x="7585900" y="3313563"/>
            <a:ext cx="337272" cy="1692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50">
                <a:ln/>
                <a:solidFill>
                  <a:srgbClr val="FFFFFF">
                    <a:alpha val="4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true</a:t>
            </a:r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52C10BB5-019E-F58B-FE2C-E659480D26BF}"/>
              </a:ext>
            </a:extLst>
          </p:cNvPr>
          <p:cNvSpPr/>
          <p:nvPr/>
        </p:nvSpPr>
        <p:spPr>
          <a:xfrm>
            <a:off x="4960035" y="3098279"/>
            <a:ext cx="3165532" cy="886693"/>
          </a:xfrm>
          <a:custGeom>
            <a:avLst/>
            <a:gdLst>
              <a:gd name="csX0" fmla="*/ 0 w 4252458"/>
              <a:gd name="csY0" fmla="*/ 989796 h 989796"/>
              <a:gd name="csX1" fmla="*/ 659864 w 4252458"/>
              <a:gd name="csY1" fmla="*/ 989796 h 989796"/>
              <a:gd name="csX2" fmla="*/ 659864 w 4252458"/>
              <a:gd name="csY2" fmla="*/ 439910 h 989796"/>
              <a:gd name="csX3" fmla="*/ 1319729 w 4252458"/>
              <a:gd name="csY3" fmla="*/ 439910 h 989796"/>
              <a:gd name="csX4" fmla="*/ 1319729 w 4252458"/>
              <a:gd name="csY4" fmla="*/ 733183 h 989796"/>
              <a:gd name="csX5" fmla="*/ 2016252 w 4252458"/>
              <a:gd name="csY5" fmla="*/ 733183 h 989796"/>
              <a:gd name="csX6" fmla="*/ 2016252 w 4252458"/>
              <a:gd name="csY6" fmla="*/ 0 h 989796"/>
              <a:gd name="csX7" fmla="*/ 2749435 w 4252458"/>
              <a:gd name="csY7" fmla="*/ 0 h 989796"/>
              <a:gd name="csX8" fmla="*/ 2749435 w 4252458"/>
              <a:gd name="csY8" fmla="*/ 366591 h 989796"/>
              <a:gd name="csX9" fmla="*/ 4252459 w 4252458"/>
              <a:gd name="csY9" fmla="*/ 366591 h 989796"/>
              <a:gd name="csX0" fmla="*/ 0 w 4252459"/>
              <a:gd name="csY0" fmla="*/ 989796 h 989796"/>
              <a:gd name="csX1" fmla="*/ 659864 w 4252459"/>
              <a:gd name="csY1" fmla="*/ 989796 h 989796"/>
              <a:gd name="csX2" fmla="*/ 659864 w 4252459"/>
              <a:gd name="csY2" fmla="*/ 439910 h 989796"/>
              <a:gd name="csX3" fmla="*/ 1319729 w 4252459"/>
              <a:gd name="csY3" fmla="*/ 439910 h 989796"/>
              <a:gd name="csX4" fmla="*/ 1319729 w 4252459"/>
              <a:gd name="csY4" fmla="*/ 733183 h 989796"/>
              <a:gd name="csX5" fmla="*/ 2016252 w 4252459"/>
              <a:gd name="csY5" fmla="*/ 733183 h 989796"/>
              <a:gd name="csX6" fmla="*/ 2016252 w 4252459"/>
              <a:gd name="csY6" fmla="*/ 0 h 989796"/>
              <a:gd name="csX7" fmla="*/ 2749435 w 4252459"/>
              <a:gd name="csY7" fmla="*/ 0 h 989796"/>
              <a:gd name="csX8" fmla="*/ 2749435 w 4252459"/>
              <a:gd name="csY8" fmla="*/ 690884 h 989796"/>
              <a:gd name="csX9" fmla="*/ 4252459 w 4252459"/>
              <a:gd name="csY9" fmla="*/ 366591 h 989796"/>
              <a:gd name="csX0" fmla="*/ 0 w 4265159"/>
              <a:gd name="csY0" fmla="*/ 989796 h 989796"/>
              <a:gd name="csX1" fmla="*/ 659864 w 4265159"/>
              <a:gd name="csY1" fmla="*/ 989796 h 989796"/>
              <a:gd name="csX2" fmla="*/ 659864 w 4265159"/>
              <a:gd name="csY2" fmla="*/ 439910 h 989796"/>
              <a:gd name="csX3" fmla="*/ 1319729 w 4265159"/>
              <a:gd name="csY3" fmla="*/ 439910 h 989796"/>
              <a:gd name="csX4" fmla="*/ 1319729 w 4265159"/>
              <a:gd name="csY4" fmla="*/ 733183 h 989796"/>
              <a:gd name="csX5" fmla="*/ 2016252 w 4265159"/>
              <a:gd name="csY5" fmla="*/ 733183 h 989796"/>
              <a:gd name="csX6" fmla="*/ 2016252 w 4265159"/>
              <a:gd name="csY6" fmla="*/ 0 h 989796"/>
              <a:gd name="csX7" fmla="*/ 2749435 w 4265159"/>
              <a:gd name="csY7" fmla="*/ 0 h 989796"/>
              <a:gd name="csX8" fmla="*/ 2749435 w 4265159"/>
              <a:gd name="csY8" fmla="*/ 690884 h 989796"/>
              <a:gd name="csX9" fmla="*/ 4265159 w 4265159"/>
              <a:gd name="csY9" fmla="*/ 669619 h 989796"/>
              <a:gd name="csX0" fmla="*/ 0 w 4239759"/>
              <a:gd name="csY0" fmla="*/ 989796 h 989796"/>
              <a:gd name="csX1" fmla="*/ 659864 w 4239759"/>
              <a:gd name="csY1" fmla="*/ 989796 h 989796"/>
              <a:gd name="csX2" fmla="*/ 659864 w 4239759"/>
              <a:gd name="csY2" fmla="*/ 439910 h 989796"/>
              <a:gd name="csX3" fmla="*/ 1319729 w 4239759"/>
              <a:gd name="csY3" fmla="*/ 439910 h 989796"/>
              <a:gd name="csX4" fmla="*/ 1319729 w 4239759"/>
              <a:gd name="csY4" fmla="*/ 733183 h 989796"/>
              <a:gd name="csX5" fmla="*/ 2016252 w 4239759"/>
              <a:gd name="csY5" fmla="*/ 733183 h 989796"/>
              <a:gd name="csX6" fmla="*/ 2016252 w 4239759"/>
              <a:gd name="csY6" fmla="*/ 0 h 989796"/>
              <a:gd name="csX7" fmla="*/ 2749435 w 4239759"/>
              <a:gd name="csY7" fmla="*/ 0 h 989796"/>
              <a:gd name="csX8" fmla="*/ 2749435 w 4239759"/>
              <a:gd name="csY8" fmla="*/ 690884 h 989796"/>
              <a:gd name="csX9" fmla="*/ 4239759 w 4239759"/>
              <a:gd name="csY9" fmla="*/ 685568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319729 w 4220709"/>
              <a:gd name="csY3" fmla="*/ 439910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014929 w 4220709"/>
              <a:gd name="csY4" fmla="*/ 727867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0709" h="989796">
                <a:moveTo>
                  <a:pt x="0" y="989796"/>
                </a:moveTo>
                <a:lnTo>
                  <a:pt x="659864" y="989796"/>
                </a:lnTo>
                <a:lnTo>
                  <a:pt x="659864" y="439910"/>
                </a:lnTo>
                <a:lnTo>
                  <a:pt x="1014929" y="434593"/>
                </a:lnTo>
                <a:lnTo>
                  <a:pt x="1014929" y="727867"/>
                </a:lnTo>
                <a:lnTo>
                  <a:pt x="2016252" y="733183"/>
                </a:lnTo>
                <a:lnTo>
                  <a:pt x="2016252" y="0"/>
                </a:lnTo>
                <a:lnTo>
                  <a:pt x="2749435" y="0"/>
                </a:lnTo>
                <a:lnTo>
                  <a:pt x="2749435" y="690884"/>
                </a:lnTo>
                <a:lnTo>
                  <a:pt x="4220709" y="680251"/>
                </a:lnTo>
              </a:path>
            </a:pathLst>
          </a:custGeom>
          <a:noFill/>
          <a:ln w="51292" cap="flat">
            <a:solidFill>
              <a:srgbClr val="EF9A9A"/>
            </a:solidFill>
            <a:prstDash val="solid"/>
            <a:round/>
          </a:ln>
        </p:spPr>
        <p:txBody>
          <a:bodyPr/>
          <a:lstStyle/>
          <a:p>
            <a:endParaRPr lang="en-US" sz="13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CBEAAB5F-C975-9685-BE60-8531D7561E96}"/>
              </a:ext>
            </a:extLst>
          </p:cNvPr>
          <p:cNvSpPr txBox="1"/>
          <p:nvPr/>
        </p:nvSpPr>
        <p:spPr>
          <a:xfrm>
            <a:off x="5589058" y="3126825"/>
            <a:ext cx="742832" cy="162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609">
                <a:ln/>
                <a:solidFill>
                  <a:srgbClr val="EF9A9A">
                    <a:alpha val="4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trained on D1</a:t>
            </a:r>
          </a:p>
        </p:txBody>
      </p:sp>
      <p:grpSp>
        <p:nvGrpSpPr>
          <p:cNvPr id="165" name="Graphic 123">
            <a:extLst>
              <a:ext uri="{FF2B5EF4-FFF2-40B4-BE49-F238E27FC236}">
                <a16:creationId xmlns:a16="http://schemas.microsoft.com/office/drawing/2014/main" id="{8A2E0ED2-DB5B-B3AF-9214-200D0B1F5398}"/>
              </a:ext>
            </a:extLst>
          </p:cNvPr>
          <p:cNvGrpSpPr/>
          <p:nvPr/>
        </p:nvGrpSpPr>
        <p:grpSpPr>
          <a:xfrm>
            <a:off x="5118127" y="3941183"/>
            <a:ext cx="2928147" cy="439910"/>
            <a:chOff x="6824169" y="4111911"/>
            <a:chExt cx="3904196" cy="586546"/>
          </a:xfrm>
          <a:solidFill>
            <a:srgbClr val="EF9A9A">
              <a:alpha val="88000"/>
            </a:srgbClr>
          </a:solidFill>
        </p:grpSpPr>
        <p:sp>
          <p:nvSpPr>
            <p:cNvPr id="166" name="Oval 165">
              <a:extLst>
                <a:ext uri="{FF2B5EF4-FFF2-40B4-BE49-F238E27FC236}">
                  <a16:creationId xmlns:a16="http://schemas.microsoft.com/office/drawing/2014/main" id="{F718A29B-BFE8-3890-2F0B-92289D142FC9}"/>
                </a:ext>
              </a:extLst>
            </p:cNvPr>
            <p:cNvSpPr/>
            <p:nvPr/>
          </p:nvSpPr>
          <p:spPr>
            <a:xfrm>
              <a:off x="6824169" y="4533491"/>
              <a:ext cx="164966" cy="164966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ADB94398-EF81-25C0-D138-52B21EA73D69}"/>
                </a:ext>
              </a:extLst>
            </p:cNvPr>
            <p:cNvSpPr/>
            <p:nvPr/>
          </p:nvSpPr>
          <p:spPr>
            <a:xfrm>
              <a:off x="9316990" y="4111911"/>
              <a:ext cx="164966" cy="164966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E449906F-3876-A364-99EC-A4E253BA4816}"/>
                </a:ext>
              </a:extLst>
            </p:cNvPr>
            <p:cNvSpPr/>
            <p:nvPr/>
          </p:nvSpPr>
          <p:spPr>
            <a:xfrm>
              <a:off x="10563400" y="4350195"/>
              <a:ext cx="164966" cy="164966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169" name="Graphic 123">
            <a:extLst>
              <a:ext uri="{FF2B5EF4-FFF2-40B4-BE49-F238E27FC236}">
                <a16:creationId xmlns:a16="http://schemas.microsoft.com/office/drawing/2014/main" id="{3D1029A7-C774-0E4D-D28D-AE8F729F66F4}"/>
              </a:ext>
            </a:extLst>
          </p:cNvPr>
          <p:cNvGrpSpPr/>
          <p:nvPr/>
        </p:nvGrpSpPr>
        <p:grpSpPr>
          <a:xfrm>
            <a:off x="5063138" y="2607708"/>
            <a:ext cx="3175596" cy="261196"/>
            <a:chOff x="6750851" y="2333943"/>
            <a:chExt cx="4234128" cy="348261"/>
          </a:xfrm>
          <a:solidFill>
            <a:srgbClr val="64B5F6">
              <a:alpha val="88000"/>
            </a:srgbClr>
          </a:solidFill>
        </p:grpSpPr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618324E0-B5DA-57EB-6B19-8FDB94FA767E}"/>
                </a:ext>
              </a:extLst>
            </p:cNvPr>
            <p:cNvSpPr/>
            <p:nvPr/>
          </p:nvSpPr>
          <p:spPr>
            <a:xfrm>
              <a:off x="6750851" y="2333943"/>
              <a:ext cx="164966" cy="164966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BF99EFF3-2D2E-5514-31B4-C19163BC7EB5}"/>
                </a:ext>
              </a:extLst>
            </p:cNvPr>
            <p:cNvSpPr/>
            <p:nvPr/>
          </p:nvSpPr>
          <p:spPr>
            <a:xfrm>
              <a:off x="10820014" y="2407261"/>
              <a:ext cx="164966" cy="164966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CD9C7949-C8F2-6715-DC47-69D3124EE8B0}"/>
                </a:ext>
              </a:extLst>
            </p:cNvPr>
            <p:cNvSpPr/>
            <p:nvPr/>
          </p:nvSpPr>
          <p:spPr>
            <a:xfrm>
              <a:off x="10380104" y="2517239"/>
              <a:ext cx="164966" cy="164966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175" name="Oval 174">
            <a:extLst>
              <a:ext uri="{FF2B5EF4-FFF2-40B4-BE49-F238E27FC236}">
                <a16:creationId xmlns:a16="http://schemas.microsoft.com/office/drawing/2014/main" id="{BEF63722-8828-D31E-509F-FEB759D48622}"/>
              </a:ext>
            </a:extLst>
          </p:cNvPr>
          <p:cNvSpPr/>
          <p:nvPr/>
        </p:nvSpPr>
        <p:spPr>
          <a:xfrm>
            <a:off x="5798613" y="3543646"/>
            <a:ext cx="137471" cy="137471"/>
          </a:xfrm>
          <a:prstGeom prst="ellipse">
            <a:avLst/>
          </a:prstGeom>
          <a:solidFill>
            <a:srgbClr val="EF9A9A">
              <a:alpha val="95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76" name="Oval 175">
            <a:extLst>
              <a:ext uri="{FF2B5EF4-FFF2-40B4-BE49-F238E27FC236}">
                <a16:creationId xmlns:a16="http://schemas.microsoft.com/office/drawing/2014/main" id="{7326DBBF-81F8-D02D-920F-9296A476FD23}"/>
              </a:ext>
            </a:extLst>
          </p:cNvPr>
          <p:cNvSpPr/>
          <p:nvPr/>
        </p:nvSpPr>
        <p:spPr>
          <a:xfrm>
            <a:off x="6128545" y="3590631"/>
            <a:ext cx="137471" cy="137471"/>
          </a:xfrm>
          <a:prstGeom prst="ellipse">
            <a:avLst/>
          </a:prstGeom>
          <a:solidFill>
            <a:srgbClr val="EF9A9A">
              <a:alpha val="95000"/>
            </a:srgbClr>
          </a:solidFill>
          <a:ln w="18319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7E9E29A0-763B-41A0-5381-D121610DCE5F}"/>
              </a:ext>
            </a:extLst>
          </p:cNvPr>
          <p:cNvGrpSpPr/>
          <p:nvPr/>
        </p:nvGrpSpPr>
        <p:grpSpPr>
          <a:xfrm>
            <a:off x="5487407" y="3506727"/>
            <a:ext cx="137471" cy="137471"/>
            <a:chOff x="7474869" y="3626177"/>
            <a:chExt cx="183295" cy="183295"/>
          </a:xfrm>
        </p:grpSpPr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34A8DCAA-4B96-6672-FB46-2EB30A3E3CED}"/>
                </a:ext>
              </a:extLst>
            </p:cNvPr>
            <p:cNvSpPr/>
            <p:nvPr/>
          </p:nvSpPr>
          <p:spPr>
            <a:xfrm>
              <a:off x="7474869" y="3626177"/>
              <a:ext cx="183295" cy="183295"/>
            </a:xfrm>
            <a:prstGeom prst="ellipse">
              <a:avLst/>
            </a:prstGeom>
            <a:solidFill>
              <a:srgbClr val="60AEEB"/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A6ED47D-CB4D-55F5-348B-F3A60BB92A40}"/>
                </a:ext>
              </a:extLst>
            </p:cNvPr>
            <p:cNvGrpSpPr/>
            <p:nvPr/>
          </p:nvGrpSpPr>
          <p:grpSpPr>
            <a:xfrm>
              <a:off x="7493198" y="3644507"/>
              <a:ext cx="146636" cy="146636"/>
              <a:chOff x="7493198" y="3644507"/>
              <a:chExt cx="146636" cy="146636"/>
            </a:xfrm>
          </p:grpSpPr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6EC7AF6E-33F9-A1B2-1C23-D0D5ECAB6BD2}"/>
                  </a:ext>
                </a:extLst>
              </p:cNvPr>
              <p:cNvSpPr/>
              <p:nvPr/>
            </p:nvSpPr>
            <p:spPr>
              <a:xfrm>
                <a:off x="7493198" y="3644507"/>
                <a:ext cx="146636" cy="146636"/>
              </a:xfrm>
              <a:custGeom>
                <a:avLst/>
                <a:gdLst>
                  <a:gd name="csX0" fmla="*/ 0 w 146636"/>
                  <a:gd name="csY0" fmla="*/ 0 h 146636"/>
                  <a:gd name="csX1" fmla="*/ 146637 w 146636"/>
                  <a:gd name="csY1" fmla="*/ 146637 h 146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6636" h="146636">
                    <a:moveTo>
                      <a:pt x="0" y="0"/>
                    </a:moveTo>
                    <a:lnTo>
                      <a:pt x="146637" y="146637"/>
                    </a:lnTo>
                  </a:path>
                </a:pathLst>
              </a:custGeom>
              <a:ln w="40301" cap="rnd">
                <a:solidFill>
                  <a:srgbClr val="FF525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5484CC5E-26D4-934A-57C8-90E91EC675F2}"/>
                  </a:ext>
                </a:extLst>
              </p:cNvPr>
              <p:cNvSpPr/>
              <p:nvPr/>
            </p:nvSpPr>
            <p:spPr>
              <a:xfrm>
                <a:off x="7493198" y="3644507"/>
                <a:ext cx="146636" cy="146636"/>
              </a:xfrm>
              <a:custGeom>
                <a:avLst/>
                <a:gdLst>
                  <a:gd name="csX0" fmla="*/ 146637 w 146636"/>
                  <a:gd name="csY0" fmla="*/ 0 h 146636"/>
                  <a:gd name="csX1" fmla="*/ 0 w 146636"/>
                  <a:gd name="csY1" fmla="*/ 146637 h 14663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46636" h="146636">
                    <a:moveTo>
                      <a:pt x="146637" y="0"/>
                    </a:moveTo>
                    <a:lnTo>
                      <a:pt x="0" y="146637"/>
                    </a:lnTo>
                  </a:path>
                </a:pathLst>
              </a:custGeom>
              <a:ln w="40301" cap="rnd">
                <a:solidFill>
                  <a:srgbClr val="FF5252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</p:grpSp>
      </p:grpSp>
      <p:sp>
        <p:nvSpPr>
          <p:cNvPr id="184" name="Freeform: Shape 183">
            <a:extLst>
              <a:ext uri="{FF2B5EF4-FFF2-40B4-BE49-F238E27FC236}">
                <a16:creationId xmlns:a16="http://schemas.microsoft.com/office/drawing/2014/main" id="{AB47750D-EE88-6F0C-B7DC-F877473D34E5}"/>
              </a:ext>
            </a:extLst>
          </p:cNvPr>
          <p:cNvSpPr/>
          <p:nvPr/>
        </p:nvSpPr>
        <p:spPr>
          <a:xfrm>
            <a:off x="5812359" y="3557393"/>
            <a:ext cx="109977" cy="109977"/>
          </a:xfrm>
          <a:custGeom>
            <a:avLst/>
            <a:gdLst>
              <a:gd name="csX0" fmla="*/ 0 w 146636"/>
              <a:gd name="csY0" fmla="*/ 0 h 146636"/>
              <a:gd name="csX1" fmla="*/ 146637 w 146636"/>
              <a:gd name="csY1" fmla="*/ 146637 h 146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636" h="146636">
                <a:moveTo>
                  <a:pt x="0" y="0"/>
                </a:moveTo>
                <a:lnTo>
                  <a:pt x="146637" y="146637"/>
                </a:lnTo>
              </a:path>
            </a:pathLst>
          </a:custGeom>
          <a:ln w="40301" cap="rnd">
            <a:solidFill>
              <a:srgbClr val="FF5252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85" name="Freeform: Shape 184">
            <a:extLst>
              <a:ext uri="{FF2B5EF4-FFF2-40B4-BE49-F238E27FC236}">
                <a16:creationId xmlns:a16="http://schemas.microsoft.com/office/drawing/2014/main" id="{F532B6D0-1555-637D-B8D6-83D807C13486}"/>
              </a:ext>
            </a:extLst>
          </p:cNvPr>
          <p:cNvSpPr/>
          <p:nvPr/>
        </p:nvSpPr>
        <p:spPr>
          <a:xfrm>
            <a:off x="5812359" y="3557393"/>
            <a:ext cx="109977" cy="109977"/>
          </a:xfrm>
          <a:custGeom>
            <a:avLst/>
            <a:gdLst>
              <a:gd name="csX0" fmla="*/ 146637 w 146636"/>
              <a:gd name="csY0" fmla="*/ 0 h 146636"/>
              <a:gd name="csX1" fmla="*/ 0 w 146636"/>
              <a:gd name="csY1" fmla="*/ 146637 h 146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636" h="146636">
                <a:moveTo>
                  <a:pt x="146637" y="0"/>
                </a:moveTo>
                <a:lnTo>
                  <a:pt x="0" y="146637"/>
                </a:lnTo>
              </a:path>
            </a:pathLst>
          </a:custGeom>
          <a:ln w="40301" cap="rnd">
            <a:solidFill>
              <a:srgbClr val="FF5252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86" name="Freeform: Shape 185">
            <a:extLst>
              <a:ext uri="{FF2B5EF4-FFF2-40B4-BE49-F238E27FC236}">
                <a16:creationId xmlns:a16="http://schemas.microsoft.com/office/drawing/2014/main" id="{8134DE3F-05CE-AF3E-D762-919F653D31EB}"/>
              </a:ext>
            </a:extLst>
          </p:cNvPr>
          <p:cNvSpPr/>
          <p:nvPr/>
        </p:nvSpPr>
        <p:spPr>
          <a:xfrm>
            <a:off x="6142292" y="3604378"/>
            <a:ext cx="109977" cy="109977"/>
          </a:xfrm>
          <a:custGeom>
            <a:avLst/>
            <a:gdLst>
              <a:gd name="csX0" fmla="*/ 0 w 146636"/>
              <a:gd name="csY0" fmla="*/ 0 h 146636"/>
              <a:gd name="csX1" fmla="*/ 146637 w 146636"/>
              <a:gd name="csY1" fmla="*/ 146637 h 146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636" h="146636">
                <a:moveTo>
                  <a:pt x="0" y="0"/>
                </a:moveTo>
                <a:lnTo>
                  <a:pt x="146637" y="146637"/>
                </a:lnTo>
              </a:path>
            </a:pathLst>
          </a:custGeom>
          <a:ln w="40301" cap="rnd">
            <a:solidFill>
              <a:srgbClr val="FF5252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87" name="Freeform: Shape 186">
            <a:extLst>
              <a:ext uri="{FF2B5EF4-FFF2-40B4-BE49-F238E27FC236}">
                <a16:creationId xmlns:a16="http://schemas.microsoft.com/office/drawing/2014/main" id="{3FEF9D71-0801-6942-BBA1-8607E47194E5}"/>
              </a:ext>
            </a:extLst>
          </p:cNvPr>
          <p:cNvSpPr/>
          <p:nvPr/>
        </p:nvSpPr>
        <p:spPr>
          <a:xfrm>
            <a:off x="6142292" y="3604378"/>
            <a:ext cx="109977" cy="109977"/>
          </a:xfrm>
          <a:custGeom>
            <a:avLst/>
            <a:gdLst>
              <a:gd name="csX0" fmla="*/ 146637 w 146636"/>
              <a:gd name="csY0" fmla="*/ 0 h 146636"/>
              <a:gd name="csX1" fmla="*/ 0 w 146636"/>
              <a:gd name="csY1" fmla="*/ 146637 h 146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46636" h="146636">
                <a:moveTo>
                  <a:pt x="146637" y="0"/>
                </a:moveTo>
                <a:lnTo>
                  <a:pt x="0" y="146637"/>
                </a:lnTo>
              </a:path>
            </a:pathLst>
          </a:custGeom>
          <a:ln w="40301" cap="rnd">
            <a:solidFill>
              <a:srgbClr val="FF5252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30FA11B4-BDA2-F8F6-7E72-B99C31A1DE85}"/>
              </a:ext>
            </a:extLst>
          </p:cNvPr>
          <p:cNvGrpSpPr/>
          <p:nvPr/>
        </p:nvGrpSpPr>
        <p:grpSpPr>
          <a:xfrm>
            <a:off x="7131912" y="3511735"/>
            <a:ext cx="137471" cy="137471"/>
            <a:chOff x="9711075" y="3534530"/>
            <a:chExt cx="183295" cy="183295"/>
          </a:xfrm>
        </p:grpSpPr>
        <p:sp>
          <p:nvSpPr>
            <p:cNvPr id="177" name="Oval 176">
              <a:extLst>
                <a:ext uri="{FF2B5EF4-FFF2-40B4-BE49-F238E27FC236}">
                  <a16:creationId xmlns:a16="http://schemas.microsoft.com/office/drawing/2014/main" id="{D30B80C9-F9D2-0005-2D0D-113E241FA79C}"/>
                </a:ext>
              </a:extLst>
            </p:cNvPr>
            <p:cNvSpPr/>
            <p:nvPr/>
          </p:nvSpPr>
          <p:spPr>
            <a:xfrm>
              <a:off x="9711075" y="3534530"/>
              <a:ext cx="183295" cy="183295"/>
            </a:xfrm>
            <a:prstGeom prst="ellipse">
              <a:avLst/>
            </a:prstGeom>
            <a:solidFill>
              <a:srgbClr val="EF9A9A">
                <a:alpha val="95000"/>
              </a:srgbClr>
            </a:solidFill>
            <a:ln w="18319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150F976F-116B-6E95-B44D-0DAADE90C791}"/>
                </a:ext>
              </a:extLst>
            </p:cNvPr>
            <p:cNvSpPr/>
            <p:nvPr/>
          </p:nvSpPr>
          <p:spPr>
            <a:xfrm>
              <a:off x="9729405" y="3552859"/>
              <a:ext cx="146636" cy="146636"/>
            </a:xfrm>
            <a:custGeom>
              <a:avLst/>
              <a:gdLst>
                <a:gd name="csX0" fmla="*/ 0 w 146636"/>
                <a:gd name="csY0" fmla="*/ 0 h 146636"/>
                <a:gd name="csX1" fmla="*/ 146637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0" y="0"/>
                  </a:moveTo>
                  <a:lnTo>
                    <a:pt x="146637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6F132967-F585-05C3-AE44-049CDB75F49D}"/>
                </a:ext>
              </a:extLst>
            </p:cNvPr>
            <p:cNvSpPr/>
            <p:nvPr/>
          </p:nvSpPr>
          <p:spPr>
            <a:xfrm>
              <a:off x="9729405" y="3552859"/>
              <a:ext cx="146636" cy="146636"/>
            </a:xfrm>
            <a:custGeom>
              <a:avLst/>
              <a:gdLst>
                <a:gd name="csX0" fmla="*/ 146637 w 146636"/>
                <a:gd name="csY0" fmla="*/ 0 h 146636"/>
                <a:gd name="csX1" fmla="*/ 0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146637" y="0"/>
                  </a:moveTo>
                  <a:lnTo>
                    <a:pt x="0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0223D8D6-8B9B-02CB-ABD2-39DFC9BC2E28}"/>
              </a:ext>
            </a:extLst>
          </p:cNvPr>
          <p:cNvGrpSpPr/>
          <p:nvPr/>
        </p:nvGrpSpPr>
        <p:grpSpPr>
          <a:xfrm>
            <a:off x="6540960" y="3226926"/>
            <a:ext cx="384920" cy="151219"/>
            <a:chOff x="8721279" y="3259586"/>
            <a:chExt cx="513227" cy="201625"/>
          </a:xfrm>
        </p:grpSpPr>
        <p:grpSp>
          <p:nvGrpSpPr>
            <p:cNvPr id="178" name="Graphic 123">
              <a:extLst>
                <a:ext uri="{FF2B5EF4-FFF2-40B4-BE49-F238E27FC236}">
                  <a16:creationId xmlns:a16="http://schemas.microsoft.com/office/drawing/2014/main" id="{A85C3452-2DD1-B015-C6B2-3C043858AA98}"/>
                </a:ext>
              </a:extLst>
            </p:cNvPr>
            <p:cNvGrpSpPr/>
            <p:nvPr/>
          </p:nvGrpSpPr>
          <p:grpSpPr>
            <a:xfrm>
              <a:off x="8721279" y="3259586"/>
              <a:ext cx="513227" cy="201625"/>
              <a:chOff x="8721279" y="3259586"/>
              <a:chExt cx="513227" cy="201625"/>
            </a:xfrm>
            <a:solidFill>
              <a:srgbClr val="64B5F6">
                <a:alpha val="95000"/>
              </a:srgbClr>
            </a:solidFill>
          </p:grpSpPr>
          <p:sp>
            <p:nvSpPr>
              <p:cNvPr id="179" name="Oval 178">
                <a:extLst>
                  <a:ext uri="{FF2B5EF4-FFF2-40B4-BE49-F238E27FC236}">
                    <a16:creationId xmlns:a16="http://schemas.microsoft.com/office/drawing/2014/main" id="{D41F0424-D0BF-5828-3CFF-F7C7EF925E80}"/>
                  </a:ext>
                </a:extLst>
              </p:cNvPr>
              <p:cNvSpPr/>
              <p:nvPr/>
            </p:nvSpPr>
            <p:spPr>
              <a:xfrm>
                <a:off x="8721279" y="3259586"/>
                <a:ext cx="183295" cy="183295"/>
              </a:xfrm>
              <a:prstGeom prst="ellipse">
                <a:avLst/>
              </a:prstGeom>
              <a:solidFill>
                <a:srgbClr val="64B5F6">
                  <a:alpha val="95000"/>
                </a:srgbClr>
              </a:solidFill>
              <a:ln w="183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80" name="Oval 179">
                <a:extLst>
                  <a:ext uri="{FF2B5EF4-FFF2-40B4-BE49-F238E27FC236}">
                    <a16:creationId xmlns:a16="http://schemas.microsoft.com/office/drawing/2014/main" id="{206D2BC1-C730-DA54-25E0-0C7F5D12BBA5}"/>
                  </a:ext>
                </a:extLst>
              </p:cNvPr>
              <p:cNvSpPr/>
              <p:nvPr/>
            </p:nvSpPr>
            <p:spPr>
              <a:xfrm>
                <a:off x="9051211" y="3277916"/>
                <a:ext cx="183295" cy="183295"/>
              </a:xfrm>
              <a:prstGeom prst="ellipse">
                <a:avLst/>
              </a:prstGeom>
              <a:solidFill>
                <a:srgbClr val="64B5F6">
                  <a:alpha val="95000"/>
                </a:srgbClr>
              </a:solidFill>
              <a:ln w="18319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F24BDB5-0631-B501-9BC1-441895C83853}"/>
                </a:ext>
              </a:extLst>
            </p:cNvPr>
            <p:cNvSpPr/>
            <p:nvPr/>
          </p:nvSpPr>
          <p:spPr>
            <a:xfrm>
              <a:off x="8739609" y="3277916"/>
              <a:ext cx="146636" cy="146636"/>
            </a:xfrm>
            <a:custGeom>
              <a:avLst/>
              <a:gdLst>
                <a:gd name="csX0" fmla="*/ 0 w 146636"/>
                <a:gd name="csY0" fmla="*/ 0 h 146636"/>
                <a:gd name="csX1" fmla="*/ 146637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0" y="0"/>
                  </a:moveTo>
                  <a:lnTo>
                    <a:pt x="146637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8B754261-64F8-49BA-AD50-991F91D84647}"/>
                </a:ext>
              </a:extLst>
            </p:cNvPr>
            <p:cNvSpPr/>
            <p:nvPr/>
          </p:nvSpPr>
          <p:spPr>
            <a:xfrm>
              <a:off x="8739609" y="3277916"/>
              <a:ext cx="146636" cy="146636"/>
            </a:xfrm>
            <a:custGeom>
              <a:avLst/>
              <a:gdLst>
                <a:gd name="csX0" fmla="*/ 146637 w 146636"/>
                <a:gd name="csY0" fmla="*/ 0 h 146636"/>
                <a:gd name="csX1" fmla="*/ 0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146637" y="0"/>
                  </a:moveTo>
                  <a:lnTo>
                    <a:pt x="0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B3823CBB-7FF7-CD12-DCAF-E85548C4595C}"/>
                </a:ext>
              </a:extLst>
            </p:cNvPr>
            <p:cNvSpPr/>
            <p:nvPr/>
          </p:nvSpPr>
          <p:spPr>
            <a:xfrm>
              <a:off x="9069541" y="3296245"/>
              <a:ext cx="146636" cy="146636"/>
            </a:xfrm>
            <a:custGeom>
              <a:avLst/>
              <a:gdLst>
                <a:gd name="csX0" fmla="*/ 0 w 146636"/>
                <a:gd name="csY0" fmla="*/ 0 h 146636"/>
                <a:gd name="csX1" fmla="*/ 146637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0" y="0"/>
                  </a:moveTo>
                  <a:lnTo>
                    <a:pt x="146637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57AE5F5-8568-57F7-13F2-B9809F70381F}"/>
                </a:ext>
              </a:extLst>
            </p:cNvPr>
            <p:cNvSpPr/>
            <p:nvPr/>
          </p:nvSpPr>
          <p:spPr>
            <a:xfrm>
              <a:off x="9069541" y="3296245"/>
              <a:ext cx="146636" cy="146636"/>
            </a:xfrm>
            <a:custGeom>
              <a:avLst/>
              <a:gdLst>
                <a:gd name="csX0" fmla="*/ 146637 w 146636"/>
                <a:gd name="csY0" fmla="*/ 0 h 146636"/>
                <a:gd name="csX1" fmla="*/ 0 w 146636"/>
                <a:gd name="csY1" fmla="*/ 146637 h 146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146636" h="146636">
                  <a:moveTo>
                    <a:pt x="146637" y="0"/>
                  </a:moveTo>
                  <a:lnTo>
                    <a:pt x="0" y="146637"/>
                  </a:lnTo>
                </a:path>
              </a:pathLst>
            </a:custGeom>
            <a:ln w="40301" cap="rnd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201" name="Group 200">
            <a:extLst>
              <a:ext uri="{FF2B5EF4-FFF2-40B4-BE49-F238E27FC236}">
                <a16:creationId xmlns:a16="http://schemas.microsoft.com/office/drawing/2014/main" id="{7E129478-F3E3-69E3-6072-566BF006EFD6}"/>
              </a:ext>
            </a:extLst>
          </p:cNvPr>
          <p:cNvGrpSpPr/>
          <p:nvPr/>
        </p:nvGrpSpPr>
        <p:grpSpPr>
          <a:xfrm>
            <a:off x="5694112" y="2442742"/>
            <a:ext cx="1787132" cy="467404"/>
            <a:chOff x="8299699" y="2031505"/>
            <a:chExt cx="2382843" cy="623205"/>
          </a:xfrm>
        </p:grpSpPr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4F8A7F2A-10F3-0679-DB23-1C5A8C2C8DB6}"/>
                </a:ext>
              </a:extLst>
            </p:cNvPr>
            <p:cNvSpPr/>
            <p:nvPr/>
          </p:nvSpPr>
          <p:spPr>
            <a:xfrm>
              <a:off x="8299699" y="2031505"/>
              <a:ext cx="2382843" cy="623205"/>
            </a:xfrm>
            <a:prstGeom prst="rect">
              <a:avLst/>
            </a:prstGeom>
            <a:solidFill>
              <a:srgbClr val="FF5252">
                <a:alpha val="10000"/>
              </a:srgbClr>
            </a:solidFill>
            <a:ln w="18319" cap="flat">
              <a:solidFill>
                <a:srgbClr val="FF5252"/>
              </a:solidFill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5" name="TextBox 194">
              <a:extLst>
                <a:ext uri="{FF2B5EF4-FFF2-40B4-BE49-F238E27FC236}">
                  <a16:creationId xmlns:a16="http://schemas.microsoft.com/office/drawing/2014/main" id="{2B533F49-52FE-2F4E-9847-2DAFFD14C376}"/>
                </a:ext>
              </a:extLst>
            </p:cNvPr>
            <p:cNvSpPr txBox="1"/>
            <p:nvPr/>
          </p:nvSpPr>
          <p:spPr>
            <a:xfrm>
              <a:off x="8464720" y="2112692"/>
              <a:ext cx="1595308" cy="23391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90" b="1">
                  <a:ln/>
                  <a:solidFill>
                    <a:srgbClr val="FF5252"/>
                  </a:solidFill>
                  <a:latin typeface="Courier New"/>
                  <a:cs typeface="Courier New"/>
                  <a:sym typeface="Courier New"/>
                  <a:rtl val="0"/>
                </a:rPr>
                <a:t>6 / 12 misclassified</a:t>
              </a:r>
            </a:p>
          </p:txBody>
        </p:sp>
        <p:sp>
          <p:nvSpPr>
            <p:cNvPr id="196" name="TextBox 195">
              <a:extLst>
                <a:ext uri="{FF2B5EF4-FFF2-40B4-BE49-F238E27FC236}">
                  <a16:creationId xmlns:a16="http://schemas.microsoft.com/office/drawing/2014/main" id="{51AF2BD9-7C7C-90EB-A57A-4582E3192C1D}"/>
                </a:ext>
              </a:extLst>
            </p:cNvPr>
            <p:cNvSpPr txBox="1"/>
            <p:nvPr/>
          </p:nvSpPr>
          <p:spPr>
            <a:xfrm>
              <a:off x="8475720" y="2358606"/>
              <a:ext cx="1576074" cy="225703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650">
                  <a:ln/>
                  <a:solidFill>
                    <a:srgbClr val="FF5252">
                      <a:alpha val="75000"/>
                    </a:srgbClr>
                  </a:solidFill>
                  <a:latin typeface="Courier New"/>
                  <a:cs typeface="Courier New"/>
                  <a:sym typeface="Courier New"/>
                  <a:rtl val="0"/>
                </a:rPr>
                <a:t>50% error on new data</a:t>
              </a:r>
            </a:p>
          </p:txBody>
        </p:sp>
      </p:grpSp>
      <p:sp>
        <p:nvSpPr>
          <p:cNvPr id="203" name="TextBox 202">
            <a:extLst>
              <a:ext uri="{FF2B5EF4-FFF2-40B4-BE49-F238E27FC236}">
                <a16:creationId xmlns:a16="http://schemas.microsoft.com/office/drawing/2014/main" id="{B1A9C19F-D2A7-C75F-6934-80A57D61C1D4}"/>
              </a:ext>
            </a:extLst>
          </p:cNvPr>
          <p:cNvSpPr txBox="1"/>
          <p:nvPr/>
        </p:nvSpPr>
        <p:spPr>
          <a:xfrm>
            <a:off x="5023360" y="5288420"/>
            <a:ext cx="3282648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Change the training data slightly and the model no longer fits the data. Predictions are unstable.</a:t>
            </a:r>
            <a:endParaRPr lang="en-US" sz="1050" dirty="0"/>
          </a:p>
        </p:txBody>
      </p:sp>
      <p:sp>
        <p:nvSpPr>
          <p:cNvPr id="204" name="Freeform: Shape 203">
            <a:extLst>
              <a:ext uri="{FF2B5EF4-FFF2-40B4-BE49-F238E27FC236}">
                <a16:creationId xmlns:a16="http://schemas.microsoft.com/office/drawing/2014/main" id="{DE77F584-7274-12A7-B2DD-5D1067751FD7}"/>
              </a:ext>
            </a:extLst>
          </p:cNvPr>
          <p:cNvSpPr/>
          <p:nvPr/>
        </p:nvSpPr>
        <p:spPr>
          <a:xfrm>
            <a:off x="952734" y="3219457"/>
            <a:ext cx="3165532" cy="886693"/>
          </a:xfrm>
          <a:custGeom>
            <a:avLst/>
            <a:gdLst>
              <a:gd name="csX0" fmla="*/ 0 w 4252458"/>
              <a:gd name="csY0" fmla="*/ 989796 h 989796"/>
              <a:gd name="csX1" fmla="*/ 659864 w 4252458"/>
              <a:gd name="csY1" fmla="*/ 989796 h 989796"/>
              <a:gd name="csX2" fmla="*/ 659864 w 4252458"/>
              <a:gd name="csY2" fmla="*/ 439910 h 989796"/>
              <a:gd name="csX3" fmla="*/ 1319729 w 4252458"/>
              <a:gd name="csY3" fmla="*/ 439910 h 989796"/>
              <a:gd name="csX4" fmla="*/ 1319729 w 4252458"/>
              <a:gd name="csY4" fmla="*/ 733183 h 989796"/>
              <a:gd name="csX5" fmla="*/ 2016252 w 4252458"/>
              <a:gd name="csY5" fmla="*/ 733183 h 989796"/>
              <a:gd name="csX6" fmla="*/ 2016252 w 4252458"/>
              <a:gd name="csY6" fmla="*/ 0 h 989796"/>
              <a:gd name="csX7" fmla="*/ 2749435 w 4252458"/>
              <a:gd name="csY7" fmla="*/ 0 h 989796"/>
              <a:gd name="csX8" fmla="*/ 2749435 w 4252458"/>
              <a:gd name="csY8" fmla="*/ 366591 h 989796"/>
              <a:gd name="csX9" fmla="*/ 4252459 w 4252458"/>
              <a:gd name="csY9" fmla="*/ 366591 h 989796"/>
              <a:gd name="csX0" fmla="*/ 0 w 4252459"/>
              <a:gd name="csY0" fmla="*/ 989796 h 989796"/>
              <a:gd name="csX1" fmla="*/ 659864 w 4252459"/>
              <a:gd name="csY1" fmla="*/ 989796 h 989796"/>
              <a:gd name="csX2" fmla="*/ 659864 w 4252459"/>
              <a:gd name="csY2" fmla="*/ 439910 h 989796"/>
              <a:gd name="csX3" fmla="*/ 1319729 w 4252459"/>
              <a:gd name="csY3" fmla="*/ 439910 h 989796"/>
              <a:gd name="csX4" fmla="*/ 1319729 w 4252459"/>
              <a:gd name="csY4" fmla="*/ 733183 h 989796"/>
              <a:gd name="csX5" fmla="*/ 2016252 w 4252459"/>
              <a:gd name="csY5" fmla="*/ 733183 h 989796"/>
              <a:gd name="csX6" fmla="*/ 2016252 w 4252459"/>
              <a:gd name="csY6" fmla="*/ 0 h 989796"/>
              <a:gd name="csX7" fmla="*/ 2749435 w 4252459"/>
              <a:gd name="csY7" fmla="*/ 0 h 989796"/>
              <a:gd name="csX8" fmla="*/ 2749435 w 4252459"/>
              <a:gd name="csY8" fmla="*/ 690884 h 989796"/>
              <a:gd name="csX9" fmla="*/ 4252459 w 4252459"/>
              <a:gd name="csY9" fmla="*/ 366591 h 989796"/>
              <a:gd name="csX0" fmla="*/ 0 w 4265159"/>
              <a:gd name="csY0" fmla="*/ 989796 h 989796"/>
              <a:gd name="csX1" fmla="*/ 659864 w 4265159"/>
              <a:gd name="csY1" fmla="*/ 989796 h 989796"/>
              <a:gd name="csX2" fmla="*/ 659864 w 4265159"/>
              <a:gd name="csY2" fmla="*/ 439910 h 989796"/>
              <a:gd name="csX3" fmla="*/ 1319729 w 4265159"/>
              <a:gd name="csY3" fmla="*/ 439910 h 989796"/>
              <a:gd name="csX4" fmla="*/ 1319729 w 4265159"/>
              <a:gd name="csY4" fmla="*/ 733183 h 989796"/>
              <a:gd name="csX5" fmla="*/ 2016252 w 4265159"/>
              <a:gd name="csY5" fmla="*/ 733183 h 989796"/>
              <a:gd name="csX6" fmla="*/ 2016252 w 4265159"/>
              <a:gd name="csY6" fmla="*/ 0 h 989796"/>
              <a:gd name="csX7" fmla="*/ 2749435 w 4265159"/>
              <a:gd name="csY7" fmla="*/ 0 h 989796"/>
              <a:gd name="csX8" fmla="*/ 2749435 w 4265159"/>
              <a:gd name="csY8" fmla="*/ 690884 h 989796"/>
              <a:gd name="csX9" fmla="*/ 4265159 w 4265159"/>
              <a:gd name="csY9" fmla="*/ 669619 h 989796"/>
              <a:gd name="csX0" fmla="*/ 0 w 4239759"/>
              <a:gd name="csY0" fmla="*/ 989796 h 989796"/>
              <a:gd name="csX1" fmla="*/ 659864 w 4239759"/>
              <a:gd name="csY1" fmla="*/ 989796 h 989796"/>
              <a:gd name="csX2" fmla="*/ 659864 w 4239759"/>
              <a:gd name="csY2" fmla="*/ 439910 h 989796"/>
              <a:gd name="csX3" fmla="*/ 1319729 w 4239759"/>
              <a:gd name="csY3" fmla="*/ 439910 h 989796"/>
              <a:gd name="csX4" fmla="*/ 1319729 w 4239759"/>
              <a:gd name="csY4" fmla="*/ 733183 h 989796"/>
              <a:gd name="csX5" fmla="*/ 2016252 w 4239759"/>
              <a:gd name="csY5" fmla="*/ 733183 h 989796"/>
              <a:gd name="csX6" fmla="*/ 2016252 w 4239759"/>
              <a:gd name="csY6" fmla="*/ 0 h 989796"/>
              <a:gd name="csX7" fmla="*/ 2749435 w 4239759"/>
              <a:gd name="csY7" fmla="*/ 0 h 989796"/>
              <a:gd name="csX8" fmla="*/ 2749435 w 4239759"/>
              <a:gd name="csY8" fmla="*/ 690884 h 989796"/>
              <a:gd name="csX9" fmla="*/ 4239759 w 4239759"/>
              <a:gd name="csY9" fmla="*/ 685568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319729 w 4220709"/>
              <a:gd name="csY3" fmla="*/ 439910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319729 w 4220709"/>
              <a:gd name="csY4" fmla="*/ 733183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  <a:gd name="csX0" fmla="*/ 0 w 4220709"/>
              <a:gd name="csY0" fmla="*/ 989796 h 989796"/>
              <a:gd name="csX1" fmla="*/ 659864 w 4220709"/>
              <a:gd name="csY1" fmla="*/ 989796 h 989796"/>
              <a:gd name="csX2" fmla="*/ 659864 w 4220709"/>
              <a:gd name="csY2" fmla="*/ 439910 h 989796"/>
              <a:gd name="csX3" fmla="*/ 1014929 w 4220709"/>
              <a:gd name="csY3" fmla="*/ 434593 h 989796"/>
              <a:gd name="csX4" fmla="*/ 1014929 w 4220709"/>
              <a:gd name="csY4" fmla="*/ 727867 h 989796"/>
              <a:gd name="csX5" fmla="*/ 2016252 w 4220709"/>
              <a:gd name="csY5" fmla="*/ 733183 h 989796"/>
              <a:gd name="csX6" fmla="*/ 2016252 w 4220709"/>
              <a:gd name="csY6" fmla="*/ 0 h 989796"/>
              <a:gd name="csX7" fmla="*/ 2749435 w 4220709"/>
              <a:gd name="csY7" fmla="*/ 0 h 989796"/>
              <a:gd name="csX8" fmla="*/ 2749435 w 4220709"/>
              <a:gd name="csY8" fmla="*/ 690884 h 989796"/>
              <a:gd name="csX9" fmla="*/ 4220709 w 4220709"/>
              <a:gd name="csY9" fmla="*/ 680251 h 989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220709" h="989796">
                <a:moveTo>
                  <a:pt x="0" y="989796"/>
                </a:moveTo>
                <a:lnTo>
                  <a:pt x="659864" y="989796"/>
                </a:lnTo>
                <a:lnTo>
                  <a:pt x="659864" y="439910"/>
                </a:lnTo>
                <a:lnTo>
                  <a:pt x="1014929" y="434593"/>
                </a:lnTo>
                <a:lnTo>
                  <a:pt x="1014929" y="727867"/>
                </a:lnTo>
                <a:lnTo>
                  <a:pt x="2016252" y="733183"/>
                </a:lnTo>
                <a:lnTo>
                  <a:pt x="2016252" y="0"/>
                </a:lnTo>
                <a:lnTo>
                  <a:pt x="2749435" y="0"/>
                </a:lnTo>
                <a:lnTo>
                  <a:pt x="2749435" y="690884"/>
                </a:lnTo>
                <a:lnTo>
                  <a:pt x="4220709" y="680251"/>
                </a:lnTo>
              </a:path>
            </a:pathLst>
          </a:custGeom>
          <a:noFill/>
          <a:ln w="51292" cap="flat">
            <a:solidFill>
              <a:srgbClr val="EF9A9A"/>
            </a:solidFill>
            <a:prstDash val="solid"/>
            <a:round/>
          </a:ln>
        </p:spPr>
        <p:txBody>
          <a:bodyPr/>
          <a:lstStyle/>
          <a:p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88618393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21A7-0CA3-4C3B-AE65-91815B7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9007"/>
            <a:ext cx="7886700" cy="1031506"/>
          </a:xfrm>
        </p:spPr>
        <p:txBody>
          <a:bodyPr/>
          <a:lstStyle/>
          <a:p>
            <a:r>
              <a:rPr lang="en-US" b="1">
                <a:solidFill>
                  <a:schemeClr val="bg1"/>
                </a:solidFill>
              </a:rPr>
              <a:t>Random Forest Method</a:t>
            </a:r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024A0F-7A7B-41E1-9ABF-E24F913C7D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98" b="39306"/>
          <a:stretch/>
        </p:blipFill>
        <p:spPr>
          <a:xfrm>
            <a:off x="0" y="1460938"/>
            <a:ext cx="9143385" cy="272218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8E32A3-5EA6-4D8A-B023-0E339089082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3573"/>
          <a:stretch/>
        </p:blipFill>
        <p:spPr>
          <a:xfrm>
            <a:off x="381000" y="4373544"/>
            <a:ext cx="7924800" cy="2425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3235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DFD92-DF55-6EEC-A798-E523FE65B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681C787-1662-45D1-F075-B70EE4256C57}"/>
              </a:ext>
            </a:extLst>
          </p:cNvPr>
          <p:cNvSpPr/>
          <p:nvPr/>
        </p:nvSpPr>
        <p:spPr>
          <a:xfrm>
            <a:off x="0" y="857250"/>
            <a:ext cx="9141714" cy="617220"/>
          </a:xfrm>
          <a:prstGeom prst="rect">
            <a:avLst/>
          </a:prstGeom>
          <a:solidFill>
            <a:srgbClr val="0C0F14"/>
          </a:solidFill>
          <a:ln w="12700">
            <a:solidFill>
              <a:srgbClr val="0C0F1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760CCB-4BA2-C78F-2A30-0CD82DB5493D}"/>
              </a:ext>
            </a:extLst>
          </p:cNvPr>
          <p:cNvSpPr/>
          <p:nvPr/>
        </p:nvSpPr>
        <p:spPr>
          <a:xfrm>
            <a:off x="0" y="1474470"/>
            <a:ext cx="9141714" cy="0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AC26742-D2D3-F3C7-6C6A-F146A391B25A}"/>
              </a:ext>
            </a:extLst>
          </p:cNvPr>
          <p:cNvSpPr/>
          <p:nvPr/>
        </p:nvSpPr>
        <p:spPr>
          <a:xfrm>
            <a:off x="274320" y="898398"/>
            <a:ext cx="589788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Ensemble Methods &amp; the Staircase Problem</a:t>
            </a: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5B4DBA-4F4F-5B5D-3379-D1074ED82B40}"/>
              </a:ext>
            </a:extLst>
          </p:cNvPr>
          <p:cNvSpPr/>
          <p:nvPr/>
        </p:nvSpPr>
        <p:spPr>
          <a:xfrm>
            <a:off x="274320" y="1255014"/>
            <a:ext cx="58978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638" kern="0" spc="38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averaging many weak learners produces smooth, low-variance predictions</a:t>
            </a:r>
            <a:endParaRPr lang="en-US" sz="638" dirty="0"/>
          </a:p>
        </p:txBody>
      </p: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0A9DC64F-7A4B-B80C-B214-252C84378DEB}"/>
              </a:ext>
            </a:extLst>
          </p:cNvPr>
          <p:cNvGrpSpPr/>
          <p:nvPr/>
        </p:nvGrpSpPr>
        <p:grpSpPr>
          <a:xfrm>
            <a:off x="6560383" y="1056132"/>
            <a:ext cx="565785" cy="219456"/>
            <a:chOff x="8017966" y="246888"/>
            <a:chExt cx="754380" cy="292608"/>
          </a:xfrm>
        </p:grpSpPr>
        <p:sp>
          <p:nvSpPr>
            <p:cNvPr id="6" name="Shape 4">
              <a:extLst>
                <a:ext uri="{FF2B5EF4-FFF2-40B4-BE49-F238E27FC236}">
                  <a16:creationId xmlns:a16="http://schemas.microsoft.com/office/drawing/2014/main" id="{71691A4E-568A-7F06-7AF9-BF6E33325B78}"/>
                </a:ext>
              </a:extLst>
            </p:cNvPr>
            <p:cNvSpPr/>
            <p:nvPr/>
          </p:nvSpPr>
          <p:spPr>
            <a:xfrm>
              <a:off x="8017966" y="246888"/>
              <a:ext cx="754380" cy="292608"/>
            </a:xfrm>
            <a:prstGeom prst="rect">
              <a:avLst/>
            </a:prstGeom>
            <a:solidFill>
              <a:srgbClr val="13181F"/>
            </a:solidFill>
            <a:ln w="12700">
              <a:solidFill>
                <a:srgbClr val="64B5F6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" name="Text 5">
              <a:extLst>
                <a:ext uri="{FF2B5EF4-FFF2-40B4-BE49-F238E27FC236}">
                  <a16:creationId xmlns:a16="http://schemas.microsoft.com/office/drawing/2014/main" id="{3E9486CA-EDF7-DA09-22E7-AF42103AF750}"/>
                </a:ext>
              </a:extLst>
            </p:cNvPr>
            <p:cNvSpPr/>
            <p:nvPr/>
          </p:nvSpPr>
          <p:spPr>
            <a:xfrm>
              <a:off x="8017966" y="246888"/>
              <a:ext cx="75438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88" kern="0" spc="113" dirty="0" err="1">
                  <a:solidFill>
                    <a:srgbClr val="64B5F6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ntrees</a:t>
              </a:r>
              <a:endParaRPr lang="en-US" sz="488" dirty="0"/>
            </a:p>
          </p:txBody>
        </p:sp>
      </p:grp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6068F52-E15C-1D13-1318-DFBB32D8D97B}"/>
              </a:ext>
            </a:extLst>
          </p:cNvPr>
          <p:cNvSpPr/>
          <p:nvPr/>
        </p:nvSpPr>
        <p:spPr>
          <a:xfrm>
            <a:off x="671037" y="1982343"/>
            <a:ext cx="3614071" cy="3058060"/>
          </a:xfrm>
          <a:prstGeom prst="rect">
            <a:avLst/>
          </a:prstGeom>
          <a:solidFill>
            <a:srgbClr val="1A2030"/>
          </a:solidFill>
          <a:ln w="18500" cap="flat">
            <a:noFill/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39" name="Freeform: Shape 138">
            <a:extLst>
              <a:ext uri="{FF2B5EF4-FFF2-40B4-BE49-F238E27FC236}">
                <a16:creationId xmlns:a16="http://schemas.microsoft.com/office/drawing/2014/main" id="{87B3AB07-E0A3-85D5-E4F7-8100DB4F7F92}"/>
              </a:ext>
            </a:extLst>
          </p:cNvPr>
          <p:cNvSpPr/>
          <p:nvPr/>
        </p:nvSpPr>
        <p:spPr>
          <a:xfrm>
            <a:off x="1004643" y="4692896"/>
            <a:ext cx="3113660" cy="13900"/>
          </a:xfrm>
          <a:custGeom>
            <a:avLst/>
            <a:gdLst>
              <a:gd name="csX0" fmla="*/ 0 w 4151547"/>
              <a:gd name="csY0" fmla="*/ 0 h 18533"/>
              <a:gd name="csX1" fmla="*/ 4151548 w 4151547"/>
              <a:gd name="csY1" fmla="*/ 0 h 18533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4151547" h="18533">
                <a:moveTo>
                  <a:pt x="0" y="0"/>
                </a:moveTo>
                <a:lnTo>
                  <a:pt x="4151548" y="0"/>
                </a:lnTo>
              </a:path>
            </a:pathLst>
          </a:custGeom>
          <a:ln w="22201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0" name="Freeform: Shape 139">
            <a:extLst>
              <a:ext uri="{FF2B5EF4-FFF2-40B4-BE49-F238E27FC236}">
                <a16:creationId xmlns:a16="http://schemas.microsoft.com/office/drawing/2014/main" id="{414CF5FF-26B9-3E8B-B3DF-0784EBDB6233}"/>
              </a:ext>
            </a:extLst>
          </p:cNvPr>
          <p:cNvSpPr/>
          <p:nvPr/>
        </p:nvSpPr>
        <p:spPr>
          <a:xfrm>
            <a:off x="1004643" y="2149146"/>
            <a:ext cx="13900" cy="2543750"/>
          </a:xfrm>
          <a:custGeom>
            <a:avLst/>
            <a:gdLst>
              <a:gd name="csX0" fmla="*/ 0 w 18533"/>
              <a:gd name="csY0" fmla="*/ 0 h 3391666"/>
              <a:gd name="csX1" fmla="*/ 0 w 18533"/>
              <a:gd name="csY1" fmla="*/ 3391666 h 3391666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8533" h="3391666">
                <a:moveTo>
                  <a:pt x="0" y="0"/>
                </a:moveTo>
                <a:lnTo>
                  <a:pt x="0" y="3391666"/>
                </a:lnTo>
              </a:path>
            </a:pathLst>
          </a:custGeom>
          <a:ln w="22201" cap="flat">
            <a:solidFill>
              <a:srgbClr val="252D3D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0C1ACD4C-76A3-788A-C666-0F8A833DDA5A}"/>
              </a:ext>
            </a:extLst>
          </p:cNvPr>
          <p:cNvSpPr txBox="1"/>
          <p:nvPr/>
        </p:nvSpPr>
        <p:spPr>
          <a:xfrm>
            <a:off x="2409478" y="4793088"/>
            <a:ext cx="263534" cy="1955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2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x1</a:t>
            </a: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FC762FCE-2F73-41E7-358A-CE92B6E68DEB}"/>
              </a:ext>
            </a:extLst>
          </p:cNvPr>
          <p:cNvSpPr txBox="1"/>
          <p:nvPr/>
        </p:nvSpPr>
        <p:spPr>
          <a:xfrm rot="16200000">
            <a:off x="682983" y="3330188"/>
            <a:ext cx="263534" cy="1955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821">
                <a:ln/>
                <a:solidFill>
                  <a:srgbClr val="58697A"/>
                </a:solidFill>
                <a:latin typeface="Courier New"/>
                <a:cs typeface="Courier New"/>
                <a:sym typeface="Courier New"/>
                <a:rtl val="0"/>
              </a:rPr>
              <a:t>x2</a:t>
            </a:r>
          </a:p>
        </p:txBody>
      </p:sp>
      <p:grpSp>
        <p:nvGrpSpPr>
          <p:cNvPr id="143" name="Graphic 100">
            <a:extLst>
              <a:ext uri="{FF2B5EF4-FFF2-40B4-BE49-F238E27FC236}">
                <a16:creationId xmlns:a16="http://schemas.microsoft.com/office/drawing/2014/main" id="{6DEC217C-9AD9-BABF-E81A-57CE8AB262A8}"/>
              </a:ext>
            </a:extLst>
          </p:cNvPr>
          <p:cNvGrpSpPr/>
          <p:nvPr/>
        </p:nvGrpSpPr>
        <p:grpSpPr>
          <a:xfrm>
            <a:off x="1004643" y="3372370"/>
            <a:ext cx="3113660" cy="861817"/>
            <a:chOff x="1339523" y="3353493"/>
            <a:chExt cx="4151547" cy="1149089"/>
          </a:xfrm>
          <a:noFill/>
        </p:grpSpPr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C009169C-1E5B-9131-4938-C82650845618}"/>
                </a:ext>
              </a:extLst>
            </p:cNvPr>
            <p:cNvSpPr/>
            <p:nvPr/>
          </p:nvSpPr>
          <p:spPr>
            <a:xfrm>
              <a:off x="1339523" y="3353493"/>
              <a:ext cx="4151547" cy="926684"/>
            </a:xfrm>
            <a:custGeom>
              <a:avLst/>
              <a:gdLst>
                <a:gd name="csX0" fmla="*/ 0 w 4151547"/>
                <a:gd name="csY0" fmla="*/ 926685 h 926684"/>
                <a:gd name="csX1" fmla="*/ 667213 w 4151547"/>
                <a:gd name="csY1" fmla="*/ 926685 h 926684"/>
                <a:gd name="csX2" fmla="*/ 667213 w 4151547"/>
                <a:gd name="csY2" fmla="*/ 333607 h 926684"/>
                <a:gd name="csX3" fmla="*/ 1334426 w 4151547"/>
                <a:gd name="csY3" fmla="*/ 333607 h 926684"/>
                <a:gd name="csX4" fmla="*/ 1334426 w 4151547"/>
                <a:gd name="csY4" fmla="*/ 611612 h 926684"/>
                <a:gd name="csX5" fmla="*/ 2020173 w 4151547"/>
                <a:gd name="csY5" fmla="*/ 611612 h 926684"/>
                <a:gd name="csX6" fmla="*/ 2020173 w 4151547"/>
                <a:gd name="csY6" fmla="*/ 0 h 926684"/>
                <a:gd name="csX7" fmla="*/ 2705920 w 4151547"/>
                <a:gd name="csY7" fmla="*/ 0 h 926684"/>
                <a:gd name="csX8" fmla="*/ 2705920 w 4151547"/>
                <a:gd name="csY8" fmla="*/ 278005 h 926684"/>
                <a:gd name="csX9" fmla="*/ 4151548 w 4151547"/>
                <a:gd name="csY9" fmla="*/ 278005 h 9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51547" h="926684">
                  <a:moveTo>
                    <a:pt x="0" y="926685"/>
                  </a:moveTo>
                  <a:lnTo>
                    <a:pt x="667213" y="926685"/>
                  </a:lnTo>
                  <a:lnTo>
                    <a:pt x="667213" y="333607"/>
                  </a:lnTo>
                  <a:lnTo>
                    <a:pt x="1334426" y="333607"/>
                  </a:lnTo>
                  <a:lnTo>
                    <a:pt x="1334426" y="611612"/>
                  </a:lnTo>
                  <a:lnTo>
                    <a:pt x="2020173" y="611612"/>
                  </a:lnTo>
                  <a:lnTo>
                    <a:pt x="2020173" y="0"/>
                  </a:lnTo>
                  <a:lnTo>
                    <a:pt x="2705920" y="0"/>
                  </a:lnTo>
                  <a:lnTo>
                    <a:pt x="2705920" y="278005"/>
                  </a:lnTo>
                  <a:lnTo>
                    <a:pt x="4151548" y="278005"/>
                  </a:lnTo>
                </a:path>
              </a:pathLst>
            </a:custGeom>
            <a:noFill/>
            <a:ln w="22201" cap="flat">
              <a:solidFill>
                <a:srgbClr val="FFD54F">
                  <a:alpha val="22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C130688-22D6-7DC7-879C-B3B45F5EF96D}"/>
                </a:ext>
              </a:extLst>
            </p:cNvPr>
            <p:cNvSpPr/>
            <p:nvPr/>
          </p:nvSpPr>
          <p:spPr>
            <a:xfrm>
              <a:off x="1339523" y="3575897"/>
              <a:ext cx="4151547" cy="926684"/>
            </a:xfrm>
            <a:custGeom>
              <a:avLst/>
              <a:gdLst>
                <a:gd name="csX0" fmla="*/ 0 w 4151547"/>
                <a:gd name="csY0" fmla="*/ 926685 h 926684"/>
                <a:gd name="csX1" fmla="*/ 852550 w 4151547"/>
                <a:gd name="csY1" fmla="*/ 926685 h 926684"/>
                <a:gd name="csX2" fmla="*/ 852550 w 4151547"/>
                <a:gd name="csY2" fmla="*/ 333607 h 926684"/>
                <a:gd name="csX3" fmla="*/ 1519763 w 4151547"/>
                <a:gd name="csY3" fmla="*/ 333607 h 926684"/>
                <a:gd name="csX4" fmla="*/ 1519763 w 4151547"/>
                <a:gd name="csY4" fmla="*/ 611612 h 926684"/>
                <a:gd name="csX5" fmla="*/ 2205510 w 4151547"/>
                <a:gd name="csY5" fmla="*/ 611612 h 926684"/>
                <a:gd name="csX6" fmla="*/ 2205510 w 4151547"/>
                <a:gd name="csY6" fmla="*/ 0 h 926684"/>
                <a:gd name="csX7" fmla="*/ 2891257 w 4151547"/>
                <a:gd name="csY7" fmla="*/ 0 h 926684"/>
                <a:gd name="csX8" fmla="*/ 2891257 w 4151547"/>
                <a:gd name="csY8" fmla="*/ 278005 h 926684"/>
                <a:gd name="csX9" fmla="*/ 4151548 w 4151547"/>
                <a:gd name="csY9" fmla="*/ 278005 h 92668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51547" h="926684">
                  <a:moveTo>
                    <a:pt x="0" y="926685"/>
                  </a:moveTo>
                  <a:lnTo>
                    <a:pt x="852550" y="926685"/>
                  </a:lnTo>
                  <a:lnTo>
                    <a:pt x="852550" y="333607"/>
                  </a:lnTo>
                  <a:lnTo>
                    <a:pt x="1519763" y="333607"/>
                  </a:lnTo>
                  <a:lnTo>
                    <a:pt x="1519763" y="611612"/>
                  </a:lnTo>
                  <a:lnTo>
                    <a:pt x="2205510" y="611612"/>
                  </a:lnTo>
                  <a:lnTo>
                    <a:pt x="2205510" y="0"/>
                  </a:lnTo>
                  <a:lnTo>
                    <a:pt x="2891257" y="0"/>
                  </a:lnTo>
                  <a:lnTo>
                    <a:pt x="2891257" y="278005"/>
                  </a:lnTo>
                  <a:lnTo>
                    <a:pt x="4151548" y="278005"/>
                  </a:lnTo>
                </a:path>
              </a:pathLst>
            </a:custGeom>
            <a:noFill/>
            <a:ln w="22201" cap="flat">
              <a:solidFill>
                <a:srgbClr val="FFD54F">
                  <a:alpha val="22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27DDD455-2297-06CE-4F9C-674DC96EE345}"/>
                </a:ext>
              </a:extLst>
            </p:cNvPr>
            <p:cNvSpPr/>
            <p:nvPr/>
          </p:nvSpPr>
          <p:spPr>
            <a:xfrm>
              <a:off x="1339523" y="3409094"/>
              <a:ext cx="4151547" cy="945218"/>
            </a:xfrm>
            <a:custGeom>
              <a:avLst/>
              <a:gdLst>
                <a:gd name="csX0" fmla="*/ 0 w 4151547"/>
                <a:gd name="csY0" fmla="*/ 945218 h 945218"/>
                <a:gd name="csX1" fmla="*/ 593078 w 4151547"/>
                <a:gd name="csY1" fmla="*/ 945218 h 945218"/>
                <a:gd name="csX2" fmla="*/ 593078 w 4151547"/>
                <a:gd name="csY2" fmla="*/ 352140 h 945218"/>
                <a:gd name="csX3" fmla="*/ 1260291 w 4151547"/>
                <a:gd name="csY3" fmla="*/ 352140 h 945218"/>
                <a:gd name="csX4" fmla="*/ 1260291 w 4151547"/>
                <a:gd name="csY4" fmla="*/ 611612 h 945218"/>
                <a:gd name="csX5" fmla="*/ 1964572 w 4151547"/>
                <a:gd name="csY5" fmla="*/ 611612 h 945218"/>
                <a:gd name="csX6" fmla="*/ 1964572 w 4151547"/>
                <a:gd name="csY6" fmla="*/ 0 h 945218"/>
                <a:gd name="csX7" fmla="*/ 2668852 w 4151547"/>
                <a:gd name="csY7" fmla="*/ 0 h 945218"/>
                <a:gd name="csX8" fmla="*/ 2668852 w 4151547"/>
                <a:gd name="csY8" fmla="*/ 278005 h 945218"/>
                <a:gd name="csX9" fmla="*/ 4151548 w 4151547"/>
                <a:gd name="csY9" fmla="*/ 278005 h 945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51547" h="945218">
                  <a:moveTo>
                    <a:pt x="0" y="945218"/>
                  </a:moveTo>
                  <a:lnTo>
                    <a:pt x="593078" y="945218"/>
                  </a:lnTo>
                  <a:lnTo>
                    <a:pt x="593078" y="352140"/>
                  </a:lnTo>
                  <a:lnTo>
                    <a:pt x="1260291" y="352140"/>
                  </a:lnTo>
                  <a:lnTo>
                    <a:pt x="1260291" y="611612"/>
                  </a:lnTo>
                  <a:lnTo>
                    <a:pt x="1964572" y="611612"/>
                  </a:lnTo>
                  <a:lnTo>
                    <a:pt x="1964572" y="0"/>
                  </a:lnTo>
                  <a:lnTo>
                    <a:pt x="2668852" y="0"/>
                  </a:lnTo>
                  <a:lnTo>
                    <a:pt x="2668852" y="278005"/>
                  </a:lnTo>
                  <a:lnTo>
                    <a:pt x="4151548" y="278005"/>
                  </a:lnTo>
                </a:path>
              </a:pathLst>
            </a:custGeom>
            <a:noFill/>
            <a:ln w="22201" cap="flat">
              <a:solidFill>
                <a:srgbClr val="FFD54F">
                  <a:alpha val="22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E1762C3-5FFB-9881-E9B0-28CA95C9760C}"/>
                </a:ext>
              </a:extLst>
            </p:cNvPr>
            <p:cNvSpPr/>
            <p:nvPr/>
          </p:nvSpPr>
          <p:spPr>
            <a:xfrm>
              <a:off x="1339523" y="3483229"/>
              <a:ext cx="4151547" cy="945218"/>
            </a:xfrm>
            <a:custGeom>
              <a:avLst/>
              <a:gdLst>
                <a:gd name="csX0" fmla="*/ 0 w 4151547"/>
                <a:gd name="csY0" fmla="*/ 945218 h 945218"/>
                <a:gd name="csX1" fmla="*/ 796949 w 4151547"/>
                <a:gd name="csY1" fmla="*/ 945218 h 945218"/>
                <a:gd name="csX2" fmla="*/ 796949 w 4151547"/>
                <a:gd name="csY2" fmla="*/ 352140 h 945218"/>
                <a:gd name="csX3" fmla="*/ 1464162 w 4151547"/>
                <a:gd name="csY3" fmla="*/ 352140 h 945218"/>
                <a:gd name="csX4" fmla="*/ 1464162 w 4151547"/>
                <a:gd name="csY4" fmla="*/ 611612 h 945218"/>
                <a:gd name="csX5" fmla="*/ 2149909 w 4151547"/>
                <a:gd name="csY5" fmla="*/ 611612 h 945218"/>
                <a:gd name="csX6" fmla="*/ 2149909 w 4151547"/>
                <a:gd name="csY6" fmla="*/ 0 h 945218"/>
                <a:gd name="csX7" fmla="*/ 2835656 w 4151547"/>
                <a:gd name="csY7" fmla="*/ 0 h 945218"/>
                <a:gd name="csX8" fmla="*/ 2835656 w 4151547"/>
                <a:gd name="csY8" fmla="*/ 278005 h 945218"/>
                <a:gd name="csX9" fmla="*/ 4151548 w 4151547"/>
                <a:gd name="csY9" fmla="*/ 278005 h 945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51547" h="945218">
                  <a:moveTo>
                    <a:pt x="0" y="945218"/>
                  </a:moveTo>
                  <a:lnTo>
                    <a:pt x="796949" y="945218"/>
                  </a:lnTo>
                  <a:lnTo>
                    <a:pt x="796949" y="352140"/>
                  </a:lnTo>
                  <a:lnTo>
                    <a:pt x="1464162" y="352140"/>
                  </a:lnTo>
                  <a:lnTo>
                    <a:pt x="1464162" y="611612"/>
                  </a:lnTo>
                  <a:lnTo>
                    <a:pt x="2149909" y="611612"/>
                  </a:lnTo>
                  <a:lnTo>
                    <a:pt x="2149909" y="0"/>
                  </a:lnTo>
                  <a:lnTo>
                    <a:pt x="2835656" y="0"/>
                  </a:lnTo>
                  <a:lnTo>
                    <a:pt x="2835656" y="278005"/>
                  </a:lnTo>
                  <a:lnTo>
                    <a:pt x="4151548" y="278005"/>
                  </a:lnTo>
                </a:path>
              </a:pathLst>
            </a:custGeom>
            <a:noFill/>
            <a:ln w="22201" cap="flat">
              <a:solidFill>
                <a:srgbClr val="FFD54F">
                  <a:alpha val="22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9311F7ED-C132-FF44-BF9C-0939AC157CAB}"/>
                </a:ext>
              </a:extLst>
            </p:cNvPr>
            <p:cNvSpPr/>
            <p:nvPr/>
          </p:nvSpPr>
          <p:spPr>
            <a:xfrm>
              <a:off x="1339523" y="3372027"/>
              <a:ext cx="4151547" cy="945218"/>
            </a:xfrm>
            <a:custGeom>
              <a:avLst/>
              <a:gdLst>
                <a:gd name="csX0" fmla="*/ 0 w 4151547"/>
                <a:gd name="csY0" fmla="*/ 945218 h 945218"/>
                <a:gd name="csX1" fmla="*/ 722814 w 4151547"/>
                <a:gd name="csY1" fmla="*/ 945218 h 945218"/>
                <a:gd name="csX2" fmla="*/ 722814 w 4151547"/>
                <a:gd name="csY2" fmla="*/ 352140 h 945218"/>
                <a:gd name="csX3" fmla="*/ 1390027 w 4151547"/>
                <a:gd name="csY3" fmla="*/ 352140 h 945218"/>
                <a:gd name="csX4" fmla="*/ 1390027 w 4151547"/>
                <a:gd name="csY4" fmla="*/ 611612 h 945218"/>
                <a:gd name="csX5" fmla="*/ 2075774 w 4151547"/>
                <a:gd name="csY5" fmla="*/ 611612 h 945218"/>
                <a:gd name="csX6" fmla="*/ 2075774 w 4151547"/>
                <a:gd name="csY6" fmla="*/ 0 h 945218"/>
                <a:gd name="csX7" fmla="*/ 2780055 w 4151547"/>
                <a:gd name="csY7" fmla="*/ 0 h 945218"/>
                <a:gd name="csX8" fmla="*/ 2780055 w 4151547"/>
                <a:gd name="csY8" fmla="*/ 278005 h 945218"/>
                <a:gd name="csX9" fmla="*/ 4151548 w 4151547"/>
                <a:gd name="csY9" fmla="*/ 278005 h 94521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4151547" h="945218">
                  <a:moveTo>
                    <a:pt x="0" y="945218"/>
                  </a:moveTo>
                  <a:lnTo>
                    <a:pt x="722814" y="945218"/>
                  </a:lnTo>
                  <a:lnTo>
                    <a:pt x="722814" y="352140"/>
                  </a:lnTo>
                  <a:lnTo>
                    <a:pt x="1390027" y="352140"/>
                  </a:lnTo>
                  <a:lnTo>
                    <a:pt x="1390027" y="611612"/>
                  </a:lnTo>
                  <a:lnTo>
                    <a:pt x="2075774" y="611612"/>
                  </a:lnTo>
                  <a:lnTo>
                    <a:pt x="2075774" y="0"/>
                  </a:lnTo>
                  <a:lnTo>
                    <a:pt x="2780055" y="0"/>
                  </a:lnTo>
                  <a:lnTo>
                    <a:pt x="2780055" y="278005"/>
                  </a:lnTo>
                  <a:lnTo>
                    <a:pt x="4151548" y="278005"/>
                  </a:lnTo>
                </a:path>
              </a:pathLst>
            </a:custGeom>
            <a:noFill/>
            <a:ln w="22201" cap="flat">
              <a:solidFill>
                <a:srgbClr val="FFD54F">
                  <a:alpha val="22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149" name="Freeform: Shape 148">
            <a:extLst>
              <a:ext uri="{FF2B5EF4-FFF2-40B4-BE49-F238E27FC236}">
                <a16:creationId xmlns:a16="http://schemas.microsoft.com/office/drawing/2014/main" id="{6DD04FDC-79A8-843C-5E27-82A6E5747B51}"/>
              </a:ext>
            </a:extLst>
          </p:cNvPr>
          <p:cNvSpPr/>
          <p:nvPr/>
        </p:nvSpPr>
        <p:spPr>
          <a:xfrm>
            <a:off x="1004643" y="3454453"/>
            <a:ext cx="3113660" cy="696332"/>
          </a:xfrm>
          <a:custGeom>
            <a:avLst/>
            <a:gdLst>
              <a:gd name="csX0" fmla="*/ 0 w 4151547"/>
              <a:gd name="csY0" fmla="*/ 928443 h 928442"/>
              <a:gd name="csX1" fmla="*/ 2075774 w 4151547"/>
              <a:gd name="csY1" fmla="*/ 38826 h 928442"/>
              <a:gd name="csX2" fmla="*/ 4151548 w 4151547"/>
              <a:gd name="csY2" fmla="*/ 224163 h 92844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1547" h="928442">
                <a:moveTo>
                  <a:pt x="0" y="928443"/>
                </a:moveTo>
                <a:cubicBezTo>
                  <a:pt x="630146" y="594836"/>
                  <a:pt x="1223224" y="187095"/>
                  <a:pt x="2075774" y="38826"/>
                </a:cubicBezTo>
                <a:cubicBezTo>
                  <a:pt x="2668852" y="-72377"/>
                  <a:pt x="3336065" y="75893"/>
                  <a:pt x="4151548" y="224163"/>
                </a:cubicBezTo>
              </a:path>
            </a:pathLst>
          </a:custGeom>
          <a:noFill/>
          <a:ln w="59202" cap="flat">
            <a:solidFill>
              <a:srgbClr val="FFD54F"/>
            </a:solidFill>
            <a:prstDash val="solid"/>
            <a:miter/>
          </a:ln>
        </p:spPr>
        <p:txBody>
          <a:bodyPr/>
          <a:lstStyle/>
          <a:p>
            <a:endParaRPr lang="en-US" sz="1350"/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B9A7AF06-A003-927C-60CA-55B1B92AE0C2}"/>
              </a:ext>
            </a:extLst>
          </p:cNvPr>
          <p:cNvSpPr txBox="1"/>
          <p:nvPr/>
        </p:nvSpPr>
        <p:spPr>
          <a:xfrm>
            <a:off x="1854767" y="3011525"/>
            <a:ext cx="1092287" cy="182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9">
                <a:ln/>
                <a:solidFill>
                  <a:srgbClr val="FFD54F"/>
                </a:solidFill>
                <a:latin typeface="Courier New"/>
                <a:cs typeface="Courier New"/>
                <a:sym typeface="Courier New"/>
                <a:rtl val="0"/>
              </a:rPr>
              <a:t>averaged boundary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2FD04FD4-DD43-A1C3-5894-678D0C9C911E}"/>
              </a:ext>
            </a:extLst>
          </p:cNvPr>
          <p:cNvSpPr txBox="1"/>
          <p:nvPr/>
        </p:nvSpPr>
        <p:spPr>
          <a:xfrm>
            <a:off x="1817230" y="2205310"/>
            <a:ext cx="1148391" cy="182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739">
                <a:ln/>
                <a:solidFill>
                  <a:srgbClr val="FFD54F">
                    <a:alpha val="55000"/>
                  </a:srgbClr>
                </a:solidFill>
                <a:latin typeface="Courier New"/>
                <a:cs typeface="Courier New"/>
                <a:sym typeface="Courier New"/>
                <a:rtl val="0"/>
              </a:rPr>
              <a:t>5 of B trees shown</a:t>
            </a:r>
          </a:p>
        </p:txBody>
      </p:sp>
      <p:grpSp>
        <p:nvGrpSpPr>
          <p:cNvPr id="152" name="Graphic 100">
            <a:extLst>
              <a:ext uri="{FF2B5EF4-FFF2-40B4-BE49-F238E27FC236}">
                <a16:creationId xmlns:a16="http://schemas.microsoft.com/office/drawing/2014/main" id="{9F647685-24E9-7BB9-0915-74CBD75A2342}"/>
              </a:ext>
            </a:extLst>
          </p:cNvPr>
          <p:cNvGrpSpPr/>
          <p:nvPr/>
        </p:nvGrpSpPr>
        <p:grpSpPr>
          <a:xfrm>
            <a:off x="1171447" y="4220286"/>
            <a:ext cx="2585450" cy="250205"/>
            <a:chOff x="1561928" y="4484048"/>
            <a:chExt cx="3447267" cy="333606"/>
          </a:xfrm>
          <a:solidFill>
            <a:srgbClr val="EF9A9A">
              <a:alpha val="88000"/>
            </a:srgbClr>
          </a:solidFill>
        </p:grpSpPr>
        <p:sp>
          <p:nvSpPr>
            <p:cNvPr id="153" name="Oval 152">
              <a:extLst>
                <a:ext uri="{FF2B5EF4-FFF2-40B4-BE49-F238E27FC236}">
                  <a16:creationId xmlns:a16="http://schemas.microsoft.com/office/drawing/2014/main" id="{EF7C59C1-6347-0EB8-1659-CE443E008FFA}"/>
                </a:ext>
              </a:extLst>
            </p:cNvPr>
            <p:cNvSpPr/>
            <p:nvPr/>
          </p:nvSpPr>
          <p:spPr>
            <a:xfrm>
              <a:off x="1561928" y="4669385"/>
              <a:ext cx="148269" cy="148269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0C575D85-E859-1DDB-D664-91B347687849}"/>
                </a:ext>
              </a:extLst>
            </p:cNvPr>
            <p:cNvSpPr/>
            <p:nvPr/>
          </p:nvSpPr>
          <p:spPr>
            <a:xfrm>
              <a:off x="2340343" y="4539650"/>
              <a:ext cx="148269" cy="148269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7036D03D-8C50-DCD8-54A2-1E0491676736}"/>
                </a:ext>
              </a:extLst>
            </p:cNvPr>
            <p:cNvSpPr/>
            <p:nvPr/>
          </p:nvSpPr>
          <p:spPr>
            <a:xfrm>
              <a:off x="3044623" y="4650852"/>
              <a:ext cx="148269" cy="148269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844E0480-AA97-9F7D-89D5-04D35167B37E}"/>
                </a:ext>
              </a:extLst>
            </p:cNvPr>
            <p:cNvSpPr/>
            <p:nvPr/>
          </p:nvSpPr>
          <p:spPr>
            <a:xfrm>
              <a:off x="3823038" y="4521116"/>
              <a:ext cx="148269" cy="148269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57" name="Oval 156">
              <a:extLst>
                <a:ext uri="{FF2B5EF4-FFF2-40B4-BE49-F238E27FC236}">
                  <a16:creationId xmlns:a16="http://schemas.microsoft.com/office/drawing/2014/main" id="{EDE84524-1410-9880-C839-92B384D3DB40}"/>
                </a:ext>
              </a:extLst>
            </p:cNvPr>
            <p:cNvSpPr/>
            <p:nvPr/>
          </p:nvSpPr>
          <p:spPr>
            <a:xfrm>
              <a:off x="4860925" y="4484048"/>
              <a:ext cx="148269" cy="148269"/>
            </a:xfrm>
            <a:prstGeom prst="ellipse">
              <a:avLst/>
            </a:prstGeom>
            <a:solidFill>
              <a:srgbClr val="EF9A9A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158" name="Graphic 100">
            <a:extLst>
              <a:ext uri="{FF2B5EF4-FFF2-40B4-BE49-F238E27FC236}">
                <a16:creationId xmlns:a16="http://schemas.microsoft.com/office/drawing/2014/main" id="{0F8A6BEE-1855-BDB0-DA8F-889A1A2EB4D3}"/>
              </a:ext>
            </a:extLst>
          </p:cNvPr>
          <p:cNvGrpSpPr/>
          <p:nvPr/>
        </p:nvGrpSpPr>
        <p:grpSpPr>
          <a:xfrm>
            <a:off x="1282648" y="2510553"/>
            <a:ext cx="2613251" cy="333606"/>
            <a:chOff x="1710197" y="2204404"/>
            <a:chExt cx="3484334" cy="444808"/>
          </a:xfrm>
          <a:solidFill>
            <a:srgbClr val="64B5F6">
              <a:alpha val="88000"/>
            </a:srgbClr>
          </a:solidFill>
        </p:grpSpPr>
        <p:sp>
          <p:nvSpPr>
            <p:cNvPr id="159" name="Oval 158">
              <a:extLst>
                <a:ext uri="{FF2B5EF4-FFF2-40B4-BE49-F238E27FC236}">
                  <a16:creationId xmlns:a16="http://schemas.microsoft.com/office/drawing/2014/main" id="{92A07348-DB58-D000-628B-6DDD29AC8797}"/>
                </a:ext>
              </a:extLst>
            </p:cNvPr>
            <p:cNvSpPr/>
            <p:nvPr/>
          </p:nvSpPr>
          <p:spPr>
            <a:xfrm>
              <a:off x="1710197" y="2463876"/>
              <a:ext cx="148269" cy="148269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60" name="Oval 159">
              <a:extLst>
                <a:ext uri="{FF2B5EF4-FFF2-40B4-BE49-F238E27FC236}">
                  <a16:creationId xmlns:a16="http://schemas.microsoft.com/office/drawing/2014/main" id="{7F3D7C5C-C463-9E48-602D-E5A91F3A7F77}"/>
                </a:ext>
              </a:extLst>
            </p:cNvPr>
            <p:cNvSpPr/>
            <p:nvPr/>
          </p:nvSpPr>
          <p:spPr>
            <a:xfrm>
              <a:off x="2581281" y="2278539"/>
              <a:ext cx="148269" cy="148269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6D590CBF-3A07-F4C8-D9DC-313E1D432C9D}"/>
                </a:ext>
              </a:extLst>
            </p:cNvPr>
            <p:cNvSpPr/>
            <p:nvPr/>
          </p:nvSpPr>
          <p:spPr>
            <a:xfrm>
              <a:off x="3378230" y="2204404"/>
              <a:ext cx="148269" cy="148269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62" name="Oval 161">
              <a:extLst>
                <a:ext uri="{FF2B5EF4-FFF2-40B4-BE49-F238E27FC236}">
                  <a16:creationId xmlns:a16="http://schemas.microsoft.com/office/drawing/2014/main" id="{BD4DAC53-577B-44F3-FD1F-24CCED457BA5}"/>
                </a:ext>
              </a:extLst>
            </p:cNvPr>
            <p:cNvSpPr/>
            <p:nvPr/>
          </p:nvSpPr>
          <p:spPr>
            <a:xfrm>
              <a:off x="4119578" y="2389741"/>
              <a:ext cx="148269" cy="148269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63" name="Oval 162">
              <a:extLst>
                <a:ext uri="{FF2B5EF4-FFF2-40B4-BE49-F238E27FC236}">
                  <a16:creationId xmlns:a16="http://schemas.microsoft.com/office/drawing/2014/main" id="{50C811D7-E2AF-28C7-9C53-23BB4EE7BB25}"/>
                </a:ext>
              </a:extLst>
            </p:cNvPr>
            <p:cNvSpPr/>
            <p:nvPr/>
          </p:nvSpPr>
          <p:spPr>
            <a:xfrm>
              <a:off x="5046262" y="2500943"/>
              <a:ext cx="148269" cy="148269"/>
            </a:xfrm>
            <a:prstGeom prst="ellipse">
              <a:avLst/>
            </a:prstGeom>
            <a:solidFill>
              <a:srgbClr val="64B5F6">
                <a:alpha val="88000"/>
              </a:srgbClr>
            </a:solidFill>
            <a:ln w="18500" cap="flat">
              <a:noFill/>
              <a:prstDash val="solid"/>
              <a:miter/>
            </a:ln>
          </p:spPr>
          <p:txBody>
            <a:bodyPr/>
            <a:lstStyle/>
            <a:p>
              <a:endParaRPr lang="en-US" sz="1350"/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527756A-FC0C-DB8B-B8B1-652059A2507D}"/>
              </a:ext>
            </a:extLst>
          </p:cNvPr>
          <p:cNvGrpSpPr/>
          <p:nvPr/>
        </p:nvGrpSpPr>
        <p:grpSpPr>
          <a:xfrm>
            <a:off x="150495" y="1628544"/>
            <a:ext cx="2862072" cy="130302"/>
            <a:chOff x="7451852" y="1824228"/>
            <a:chExt cx="3816096" cy="173736"/>
          </a:xfrm>
        </p:grpSpPr>
        <p:sp>
          <p:nvSpPr>
            <p:cNvPr id="103" name="Shape 19">
              <a:extLst>
                <a:ext uri="{FF2B5EF4-FFF2-40B4-BE49-F238E27FC236}">
                  <a16:creationId xmlns:a16="http://schemas.microsoft.com/office/drawing/2014/main" id="{58388DDC-65B9-ACB1-82F9-4D0BD68CB23C}"/>
                </a:ext>
              </a:extLst>
            </p:cNvPr>
            <p:cNvSpPr/>
            <p:nvPr/>
          </p:nvSpPr>
          <p:spPr>
            <a:xfrm>
              <a:off x="7451852" y="1865376"/>
              <a:ext cx="91440" cy="91440"/>
            </a:xfrm>
            <a:prstGeom prst="ellipse">
              <a:avLst/>
            </a:prstGeom>
            <a:solidFill>
              <a:srgbClr val="FFD54F"/>
            </a:solidFill>
            <a:ln w="12700">
              <a:solidFill>
                <a:srgbClr val="FFD54F"/>
              </a:solidFill>
              <a:prstDash val="solid"/>
            </a:ln>
          </p:spPr>
          <p:txBody>
            <a:bodyPr/>
            <a:lstStyle/>
            <a:p>
              <a:endParaRPr lang="en-US" sz="825"/>
            </a:p>
          </p:txBody>
        </p:sp>
        <p:sp>
          <p:nvSpPr>
            <p:cNvPr id="104" name="Text 20">
              <a:extLst>
                <a:ext uri="{FF2B5EF4-FFF2-40B4-BE49-F238E27FC236}">
                  <a16:creationId xmlns:a16="http://schemas.microsoft.com/office/drawing/2014/main" id="{E55B111F-CA38-C88B-6C97-48D1A98B3E4C}"/>
                </a:ext>
              </a:extLst>
            </p:cNvPr>
            <p:cNvSpPr/>
            <p:nvPr/>
          </p:nvSpPr>
          <p:spPr>
            <a:xfrm>
              <a:off x="7589012" y="1824228"/>
              <a:ext cx="3678936" cy="1737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050" kern="0" spc="135" dirty="0">
                  <a:solidFill>
                    <a:srgbClr val="FFD54F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 BOOTSTRAP + MANY TREES</a:t>
              </a:r>
              <a:endParaRPr lang="en-US" sz="1050" dirty="0"/>
            </a:p>
          </p:txBody>
        </p:sp>
      </p:grpSp>
      <p:sp>
        <p:nvSpPr>
          <p:cNvPr id="107" name="Text 22">
            <a:extLst>
              <a:ext uri="{FF2B5EF4-FFF2-40B4-BE49-F238E27FC236}">
                <a16:creationId xmlns:a16="http://schemas.microsoft.com/office/drawing/2014/main" id="{127607C3-0247-4623-F5CF-77DDE0F381D4}"/>
              </a:ext>
            </a:extLst>
          </p:cNvPr>
          <p:cNvSpPr/>
          <p:nvPr/>
        </p:nvSpPr>
        <p:spPr>
          <a:xfrm>
            <a:off x="1093089" y="5133444"/>
            <a:ext cx="274548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38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Averaging Cancels Noise</a:t>
            </a:r>
            <a:endParaRPr lang="en-US" sz="938" dirty="0"/>
          </a:p>
        </p:txBody>
      </p:sp>
      <p:sp>
        <p:nvSpPr>
          <p:cNvPr id="108" name="Text 23">
            <a:extLst>
              <a:ext uri="{FF2B5EF4-FFF2-40B4-BE49-F238E27FC236}">
                <a16:creationId xmlns:a16="http://schemas.microsoft.com/office/drawing/2014/main" id="{33184152-52A6-AF9B-9C7F-D56D8F2D3544}"/>
              </a:ext>
            </a:extLst>
          </p:cNvPr>
          <p:cNvSpPr/>
          <p:nvPr/>
        </p:nvSpPr>
        <p:spPr>
          <a:xfrm>
            <a:off x="1093088" y="5359758"/>
            <a:ext cx="3843243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90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Each bootstrapped tree draws a different staircase. Their </a:t>
            </a:r>
            <a:r>
              <a:rPr lang="en-US" sz="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staircases disagree</a:t>
            </a:r>
            <a:r>
              <a:rPr lang="en-US" sz="900" dirty="0">
                <a:solidFill>
                  <a:srgbClr val="C8D4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on the noise but agree on the signal. Averaging across B trees cancels the noise — variance shrinks by ~1/B.</a:t>
            </a:r>
            <a:endParaRPr lang="en-US" sz="900" dirty="0"/>
          </a:p>
        </p:txBody>
      </p:sp>
      <p:sp>
        <p:nvSpPr>
          <p:cNvPr id="117" name="Shape 31">
            <a:extLst>
              <a:ext uri="{FF2B5EF4-FFF2-40B4-BE49-F238E27FC236}">
                <a16:creationId xmlns:a16="http://schemas.microsoft.com/office/drawing/2014/main" id="{DF6E7072-A3AF-A564-82C2-46DDD60206AF}"/>
              </a:ext>
            </a:extLst>
          </p:cNvPr>
          <p:cNvSpPr/>
          <p:nvPr/>
        </p:nvSpPr>
        <p:spPr>
          <a:xfrm>
            <a:off x="4378833" y="2493169"/>
            <a:ext cx="4570857" cy="1875893"/>
          </a:xfrm>
          <a:prstGeom prst="rect">
            <a:avLst/>
          </a:prstGeom>
          <a:solidFill>
            <a:srgbClr val="13181F"/>
          </a:solidFill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8" name="Shape 32">
            <a:extLst>
              <a:ext uri="{FF2B5EF4-FFF2-40B4-BE49-F238E27FC236}">
                <a16:creationId xmlns:a16="http://schemas.microsoft.com/office/drawing/2014/main" id="{CEF4D76B-4F44-AD62-D0A0-8B47ADB6A6DD}"/>
              </a:ext>
            </a:extLst>
          </p:cNvPr>
          <p:cNvSpPr/>
          <p:nvPr/>
        </p:nvSpPr>
        <p:spPr>
          <a:xfrm>
            <a:off x="8949690" y="2493169"/>
            <a:ext cx="0" cy="1875893"/>
          </a:xfrm>
          <a:prstGeom prst="line">
            <a:avLst/>
          </a:prstGeom>
          <a:noFill/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19" name="Text 33">
            <a:extLst>
              <a:ext uri="{FF2B5EF4-FFF2-40B4-BE49-F238E27FC236}">
                <a16:creationId xmlns:a16="http://schemas.microsoft.com/office/drawing/2014/main" id="{A892A1F9-1231-1A0E-0AC8-1C65E0CAF6EE}"/>
              </a:ext>
            </a:extLst>
          </p:cNvPr>
          <p:cNvSpPr/>
          <p:nvPr/>
        </p:nvSpPr>
        <p:spPr>
          <a:xfrm>
            <a:off x="4570857" y="2624805"/>
            <a:ext cx="4186809" cy="1963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kern="0" spc="90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BAGGING MECHANISM — HOW VARIANCE SHRINKS</a:t>
            </a:r>
            <a:endParaRPr lang="en-US" sz="1050" dirty="0"/>
          </a:p>
        </p:txBody>
      </p:sp>
      <p:sp>
        <p:nvSpPr>
          <p:cNvPr id="120" name="Shape 34">
            <a:extLst>
              <a:ext uri="{FF2B5EF4-FFF2-40B4-BE49-F238E27FC236}">
                <a16:creationId xmlns:a16="http://schemas.microsoft.com/office/drawing/2014/main" id="{F23B8D84-5B44-3AE7-CB89-EFFBB0F8868C}"/>
              </a:ext>
            </a:extLst>
          </p:cNvPr>
          <p:cNvSpPr/>
          <p:nvPr/>
        </p:nvSpPr>
        <p:spPr>
          <a:xfrm>
            <a:off x="4570858" y="2940329"/>
            <a:ext cx="974693" cy="599849"/>
          </a:xfrm>
          <a:prstGeom prst="rect">
            <a:avLst/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1" name="Text 35">
            <a:extLst>
              <a:ext uri="{FF2B5EF4-FFF2-40B4-BE49-F238E27FC236}">
                <a16:creationId xmlns:a16="http://schemas.microsoft.com/office/drawing/2014/main" id="{61E2FC85-5023-622F-C7E7-EAC8B2BD0A5B}"/>
              </a:ext>
            </a:extLst>
          </p:cNvPr>
          <p:cNvSpPr/>
          <p:nvPr/>
        </p:nvSpPr>
        <p:spPr>
          <a:xfrm>
            <a:off x="4570858" y="2962142"/>
            <a:ext cx="974693" cy="23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D*</a:t>
            </a:r>
            <a:endParaRPr lang="en-US" sz="1050" dirty="0"/>
          </a:p>
        </p:txBody>
      </p:sp>
      <p:sp>
        <p:nvSpPr>
          <p:cNvPr id="122" name="Text 36">
            <a:extLst>
              <a:ext uri="{FF2B5EF4-FFF2-40B4-BE49-F238E27FC236}">
                <a16:creationId xmlns:a16="http://schemas.microsoft.com/office/drawing/2014/main" id="{AA303001-1F51-F889-E9ED-3F7A1D2D9291}"/>
              </a:ext>
            </a:extLst>
          </p:cNvPr>
          <p:cNvSpPr/>
          <p:nvPr/>
        </p:nvSpPr>
        <p:spPr>
          <a:xfrm>
            <a:off x="4570858" y="3223894"/>
            <a:ext cx="974693" cy="28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25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Bootstrap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 D*</a:t>
            </a:r>
            <a:endParaRPr lang="en-US" sz="825" dirty="0"/>
          </a:p>
        </p:txBody>
      </p:sp>
      <p:sp>
        <p:nvSpPr>
          <p:cNvPr id="123" name="Text 37">
            <a:extLst>
              <a:ext uri="{FF2B5EF4-FFF2-40B4-BE49-F238E27FC236}">
                <a16:creationId xmlns:a16="http://schemas.microsoft.com/office/drawing/2014/main" id="{1E94DDB4-4417-CC20-5AA2-6B4C3BB282C8}"/>
              </a:ext>
            </a:extLst>
          </p:cNvPr>
          <p:cNvSpPr/>
          <p:nvPr/>
        </p:nvSpPr>
        <p:spPr>
          <a:xfrm>
            <a:off x="5545550" y="3093017"/>
            <a:ext cx="96012" cy="23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825" dirty="0"/>
          </a:p>
        </p:txBody>
      </p:sp>
      <p:sp>
        <p:nvSpPr>
          <p:cNvPr id="124" name="Shape 38">
            <a:extLst>
              <a:ext uri="{FF2B5EF4-FFF2-40B4-BE49-F238E27FC236}">
                <a16:creationId xmlns:a16="http://schemas.microsoft.com/office/drawing/2014/main" id="{3DB7CA6C-2675-072A-E32A-C619F17D9F37}"/>
              </a:ext>
            </a:extLst>
          </p:cNvPr>
          <p:cNvSpPr/>
          <p:nvPr/>
        </p:nvSpPr>
        <p:spPr>
          <a:xfrm>
            <a:off x="5641563" y="2940329"/>
            <a:ext cx="974693" cy="599849"/>
          </a:xfrm>
          <a:prstGeom prst="rect">
            <a:avLst/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5" name="Text 39">
            <a:extLst>
              <a:ext uri="{FF2B5EF4-FFF2-40B4-BE49-F238E27FC236}">
                <a16:creationId xmlns:a16="http://schemas.microsoft.com/office/drawing/2014/main" id="{E87FC0B4-0B01-95B7-0F8E-E6FF2D58ED46}"/>
              </a:ext>
            </a:extLst>
          </p:cNvPr>
          <p:cNvSpPr/>
          <p:nvPr/>
        </p:nvSpPr>
        <p:spPr>
          <a:xfrm>
            <a:off x="5641563" y="2962142"/>
            <a:ext cx="974693" cy="23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T*</a:t>
            </a:r>
            <a:endParaRPr lang="en-US" sz="1050" dirty="0"/>
          </a:p>
        </p:txBody>
      </p:sp>
      <p:sp>
        <p:nvSpPr>
          <p:cNvPr id="126" name="Text 40">
            <a:extLst>
              <a:ext uri="{FF2B5EF4-FFF2-40B4-BE49-F238E27FC236}">
                <a16:creationId xmlns:a16="http://schemas.microsoft.com/office/drawing/2014/main" id="{F8C159CE-4AD9-3B05-6E50-F6AFC34F052B}"/>
              </a:ext>
            </a:extLst>
          </p:cNvPr>
          <p:cNvSpPr/>
          <p:nvPr/>
        </p:nvSpPr>
        <p:spPr>
          <a:xfrm>
            <a:off x="5641563" y="3223894"/>
            <a:ext cx="974693" cy="28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25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deep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tree T*</a:t>
            </a:r>
            <a:endParaRPr lang="en-US" sz="825" dirty="0"/>
          </a:p>
        </p:txBody>
      </p:sp>
      <p:sp>
        <p:nvSpPr>
          <p:cNvPr id="127" name="Text 41">
            <a:extLst>
              <a:ext uri="{FF2B5EF4-FFF2-40B4-BE49-F238E27FC236}">
                <a16:creationId xmlns:a16="http://schemas.microsoft.com/office/drawing/2014/main" id="{4641146F-B5FB-B12E-C6ED-24994EBA7588}"/>
              </a:ext>
            </a:extLst>
          </p:cNvPr>
          <p:cNvSpPr/>
          <p:nvPr/>
        </p:nvSpPr>
        <p:spPr>
          <a:xfrm>
            <a:off x="6616256" y="3093017"/>
            <a:ext cx="96012" cy="23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825" dirty="0"/>
          </a:p>
        </p:txBody>
      </p:sp>
      <p:sp>
        <p:nvSpPr>
          <p:cNvPr id="128" name="Shape 42">
            <a:extLst>
              <a:ext uri="{FF2B5EF4-FFF2-40B4-BE49-F238E27FC236}">
                <a16:creationId xmlns:a16="http://schemas.microsoft.com/office/drawing/2014/main" id="{058BB64D-2A3F-386E-2F13-5BEC5702ECBD}"/>
              </a:ext>
            </a:extLst>
          </p:cNvPr>
          <p:cNvSpPr/>
          <p:nvPr/>
        </p:nvSpPr>
        <p:spPr>
          <a:xfrm>
            <a:off x="6712268" y="2940329"/>
            <a:ext cx="974693" cy="599849"/>
          </a:xfrm>
          <a:prstGeom prst="rect">
            <a:avLst/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29" name="Text 43">
            <a:extLst>
              <a:ext uri="{FF2B5EF4-FFF2-40B4-BE49-F238E27FC236}">
                <a16:creationId xmlns:a16="http://schemas.microsoft.com/office/drawing/2014/main" id="{378A9ABA-C8B1-0C47-EC6A-582772533258}"/>
              </a:ext>
            </a:extLst>
          </p:cNvPr>
          <p:cNvSpPr/>
          <p:nvPr/>
        </p:nvSpPr>
        <p:spPr>
          <a:xfrm>
            <a:off x="6712268" y="2962142"/>
            <a:ext cx="974693" cy="23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×B</a:t>
            </a:r>
            <a:endParaRPr lang="en-US" sz="1050" dirty="0"/>
          </a:p>
        </p:txBody>
      </p:sp>
      <p:sp>
        <p:nvSpPr>
          <p:cNvPr id="130" name="Text 44">
            <a:extLst>
              <a:ext uri="{FF2B5EF4-FFF2-40B4-BE49-F238E27FC236}">
                <a16:creationId xmlns:a16="http://schemas.microsoft.com/office/drawing/2014/main" id="{BC3F945D-3AB6-1EC2-C593-D7DEA7390CC1}"/>
              </a:ext>
            </a:extLst>
          </p:cNvPr>
          <p:cNvSpPr/>
          <p:nvPr/>
        </p:nvSpPr>
        <p:spPr>
          <a:xfrm>
            <a:off x="6712268" y="3223894"/>
            <a:ext cx="974693" cy="28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25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times</a:t>
            </a:r>
            <a:endParaRPr lang="en-US" sz="825" dirty="0"/>
          </a:p>
        </p:txBody>
      </p:sp>
      <p:sp>
        <p:nvSpPr>
          <p:cNvPr id="131" name="Text 45">
            <a:extLst>
              <a:ext uri="{FF2B5EF4-FFF2-40B4-BE49-F238E27FC236}">
                <a16:creationId xmlns:a16="http://schemas.microsoft.com/office/drawing/2014/main" id="{DB31B868-C298-5B1F-6475-D0116AC25839}"/>
              </a:ext>
            </a:extLst>
          </p:cNvPr>
          <p:cNvSpPr/>
          <p:nvPr/>
        </p:nvSpPr>
        <p:spPr>
          <a:xfrm>
            <a:off x="7686961" y="3093017"/>
            <a:ext cx="96012" cy="23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825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825" dirty="0"/>
          </a:p>
        </p:txBody>
      </p:sp>
      <p:sp>
        <p:nvSpPr>
          <p:cNvPr id="132" name="Shape 46">
            <a:extLst>
              <a:ext uri="{FF2B5EF4-FFF2-40B4-BE49-F238E27FC236}">
                <a16:creationId xmlns:a16="http://schemas.microsoft.com/office/drawing/2014/main" id="{A74DD22B-088F-829D-225A-EFCA35D79A4C}"/>
              </a:ext>
            </a:extLst>
          </p:cNvPr>
          <p:cNvSpPr/>
          <p:nvPr/>
        </p:nvSpPr>
        <p:spPr>
          <a:xfrm>
            <a:off x="7782973" y="2940329"/>
            <a:ext cx="974693" cy="599849"/>
          </a:xfrm>
          <a:prstGeom prst="rect">
            <a:avLst/>
          </a:prstGeom>
          <a:solidFill>
            <a:srgbClr val="1A2030"/>
          </a:solidFill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3" name="Text 47">
            <a:extLst>
              <a:ext uri="{FF2B5EF4-FFF2-40B4-BE49-F238E27FC236}">
                <a16:creationId xmlns:a16="http://schemas.microsoft.com/office/drawing/2014/main" id="{D562F807-D161-78E4-9CC2-6E1C6C350912}"/>
              </a:ext>
            </a:extLst>
          </p:cNvPr>
          <p:cNvSpPr/>
          <p:nvPr/>
        </p:nvSpPr>
        <p:spPr>
          <a:xfrm>
            <a:off x="7782973" y="2962142"/>
            <a:ext cx="974693" cy="23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Σ/B</a:t>
            </a:r>
            <a:endParaRPr lang="en-US" sz="1050" dirty="0"/>
          </a:p>
        </p:txBody>
      </p:sp>
      <p:sp>
        <p:nvSpPr>
          <p:cNvPr id="134" name="Text 48">
            <a:extLst>
              <a:ext uri="{FF2B5EF4-FFF2-40B4-BE49-F238E27FC236}">
                <a16:creationId xmlns:a16="http://schemas.microsoft.com/office/drawing/2014/main" id="{66CA74A4-67D4-C331-8A21-C567873F0CE4}"/>
              </a:ext>
            </a:extLst>
          </p:cNvPr>
          <p:cNvSpPr/>
          <p:nvPr/>
        </p:nvSpPr>
        <p:spPr>
          <a:xfrm>
            <a:off x="7782973" y="3223894"/>
            <a:ext cx="974693" cy="28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825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</a:t>
            </a:r>
            <a:endParaRPr lang="en-US" sz="825" dirty="0"/>
          </a:p>
          <a:p>
            <a:pPr algn="ctr"/>
            <a:r>
              <a:rPr lang="en-US" sz="825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predictions</a:t>
            </a:r>
            <a:endParaRPr lang="en-US" sz="825" dirty="0"/>
          </a:p>
        </p:txBody>
      </p:sp>
      <p:sp>
        <p:nvSpPr>
          <p:cNvPr id="135" name="Shape 49">
            <a:extLst>
              <a:ext uri="{FF2B5EF4-FFF2-40B4-BE49-F238E27FC236}">
                <a16:creationId xmlns:a16="http://schemas.microsoft.com/office/drawing/2014/main" id="{E4E2CEDB-BB24-A544-C908-51B67045FEC5}"/>
              </a:ext>
            </a:extLst>
          </p:cNvPr>
          <p:cNvSpPr/>
          <p:nvPr/>
        </p:nvSpPr>
        <p:spPr>
          <a:xfrm>
            <a:off x="4570857" y="3649242"/>
            <a:ext cx="4186809" cy="676194"/>
          </a:xfrm>
          <a:prstGeom prst="rect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252D3D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36" name="Text 50">
            <a:extLst>
              <a:ext uri="{FF2B5EF4-FFF2-40B4-BE49-F238E27FC236}">
                <a16:creationId xmlns:a16="http://schemas.microsoft.com/office/drawing/2014/main" id="{7054C4F4-8346-71A4-46F8-29084F7058FC}"/>
              </a:ext>
            </a:extLst>
          </p:cNvPr>
          <p:cNvSpPr/>
          <p:nvPr/>
        </p:nvSpPr>
        <p:spPr>
          <a:xfrm>
            <a:off x="4639437" y="3692867"/>
            <a:ext cx="4083939" cy="588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900" dirty="0">
                <a:solidFill>
                  <a:srgbClr val="C8D4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Var(mean of B i.i.d. trees) = σ² / B
</a:t>
            </a:r>
            <a:r>
              <a:rPr lang="en-US" sz="900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variance falls linearly with B
→ bias unchanged (trees still deep)</a:t>
            </a:r>
            <a:endParaRPr lang="en-US" sz="9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80F5555-2E75-D2A6-4094-B6B7F8AE30F4}"/>
              </a:ext>
            </a:extLst>
          </p:cNvPr>
          <p:cNvSpPr/>
          <p:nvPr/>
        </p:nvSpPr>
        <p:spPr>
          <a:xfrm>
            <a:off x="7762265" y="1042416"/>
            <a:ext cx="1131570" cy="219456"/>
          </a:xfrm>
          <a:prstGeom prst="rect">
            <a:avLst/>
          </a:prstGeom>
          <a:solidFill>
            <a:srgbClr val="13181F"/>
          </a:solidFill>
          <a:ln w="12700">
            <a:solidFill>
              <a:srgbClr val="81C784"/>
            </a:solidFill>
            <a:prstDash val="solid"/>
          </a:ln>
        </p:spPr>
        <p:txBody>
          <a:bodyPr/>
          <a:lstStyle/>
          <a:p>
            <a:endParaRPr lang="en-US" sz="135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E0B2A2F6-7DFF-9CB6-4257-35E46774F8DB}"/>
              </a:ext>
            </a:extLst>
          </p:cNvPr>
          <p:cNvSpPr/>
          <p:nvPr/>
        </p:nvSpPr>
        <p:spPr>
          <a:xfrm>
            <a:off x="7762265" y="1042416"/>
            <a:ext cx="113157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88" kern="0" spc="113" dirty="0">
                <a:solidFill>
                  <a:srgbClr val="81C7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 REDUCTION</a:t>
            </a:r>
            <a:endParaRPr lang="en-US" sz="488" dirty="0"/>
          </a:p>
        </p:txBody>
      </p:sp>
      <p:sp>
        <p:nvSpPr>
          <p:cNvPr id="12" name="Text 37">
            <a:extLst>
              <a:ext uri="{FF2B5EF4-FFF2-40B4-BE49-F238E27FC236}">
                <a16:creationId xmlns:a16="http://schemas.microsoft.com/office/drawing/2014/main" id="{3F981C08-531F-1B00-A9E0-A2D9D468C436}"/>
              </a:ext>
            </a:extLst>
          </p:cNvPr>
          <p:cNvSpPr/>
          <p:nvPr/>
        </p:nvSpPr>
        <p:spPr>
          <a:xfrm>
            <a:off x="7309485" y="975535"/>
            <a:ext cx="269462" cy="239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600" dirty="0">
                <a:solidFill>
                  <a:srgbClr val="5869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85599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" grpId="0" animBg="1"/>
      <p:bldP spid="15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87E54-80D8-C9ED-C8D4-D2701F40E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oup 93">
            <a:extLst>
              <a:ext uri="{FF2B5EF4-FFF2-40B4-BE49-F238E27FC236}">
                <a16:creationId xmlns:a16="http://schemas.microsoft.com/office/drawing/2014/main" id="{23E4CEC7-81B1-19AA-9289-3B29292D5592}"/>
              </a:ext>
            </a:extLst>
          </p:cNvPr>
          <p:cNvGrpSpPr/>
          <p:nvPr/>
        </p:nvGrpSpPr>
        <p:grpSpPr>
          <a:xfrm>
            <a:off x="0" y="857250"/>
            <a:ext cx="9141714" cy="4994570"/>
            <a:chOff x="0" y="0"/>
            <a:chExt cx="12188952" cy="6659426"/>
          </a:xfrm>
        </p:grpSpPr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736B6B9B-3446-81D6-9C0B-B12170304219}"/>
                </a:ext>
              </a:extLst>
            </p:cNvPr>
            <p:cNvGrpSpPr/>
            <p:nvPr/>
          </p:nvGrpSpPr>
          <p:grpSpPr>
            <a:xfrm>
              <a:off x="200660" y="1025578"/>
              <a:ext cx="3816096" cy="173736"/>
              <a:chOff x="3705987" y="1006006"/>
              <a:chExt cx="3816096" cy="173736"/>
            </a:xfrm>
          </p:grpSpPr>
          <p:sp>
            <p:nvSpPr>
              <p:cNvPr id="38" name="Shape 25">
                <a:extLst>
                  <a:ext uri="{FF2B5EF4-FFF2-40B4-BE49-F238E27FC236}">
                    <a16:creationId xmlns:a16="http://schemas.microsoft.com/office/drawing/2014/main" id="{DEE18368-9924-3852-5528-14ECF5134728}"/>
                  </a:ext>
                </a:extLst>
              </p:cNvPr>
              <p:cNvSpPr/>
              <p:nvPr/>
            </p:nvSpPr>
            <p:spPr>
              <a:xfrm>
                <a:off x="3705987" y="1047154"/>
                <a:ext cx="91440" cy="91440"/>
              </a:xfrm>
              <a:prstGeom prst="ellipse">
                <a:avLst/>
              </a:prstGeom>
              <a:solidFill>
                <a:srgbClr val="81C784"/>
              </a:solidFill>
              <a:ln w="12700">
                <a:solidFill>
                  <a:srgbClr val="81C784"/>
                </a:solidFill>
                <a:prstDash val="solid"/>
              </a:ln>
            </p:spPr>
            <p:txBody>
              <a:bodyPr/>
              <a:lstStyle/>
              <a:p>
                <a:endParaRPr lang="en-US" sz="900"/>
              </a:p>
            </p:txBody>
          </p:sp>
          <p:sp>
            <p:nvSpPr>
              <p:cNvPr id="39" name="Text 26">
                <a:extLst>
                  <a:ext uri="{FF2B5EF4-FFF2-40B4-BE49-F238E27FC236}">
                    <a16:creationId xmlns:a16="http://schemas.microsoft.com/office/drawing/2014/main" id="{BF230098-D275-BEF6-5F1B-FF38D1632E16}"/>
                  </a:ext>
                </a:extLst>
              </p:cNvPr>
              <p:cNvSpPr/>
              <p:nvPr/>
            </p:nvSpPr>
            <p:spPr>
              <a:xfrm>
                <a:off x="3843147" y="1006006"/>
                <a:ext cx="3678936" cy="17373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kern="0" spc="135" dirty="0">
                    <a:solidFill>
                      <a:srgbClr val="81C784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 RANDOM FOREST RESULT</a:t>
                </a:r>
                <a:endParaRPr lang="en-US" sz="900" dirty="0"/>
              </a:p>
            </p:txBody>
          </p:sp>
        </p:grpSp>
        <p:sp>
          <p:nvSpPr>
            <p:cNvPr id="2" name="Shape 0">
              <a:extLst>
                <a:ext uri="{FF2B5EF4-FFF2-40B4-BE49-F238E27FC236}">
                  <a16:creationId xmlns:a16="http://schemas.microsoft.com/office/drawing/2014/main" id="{06735D7C-69A0-DD60-A0E6-B87973CC6305}"/>
                </a:ext>
              </a:extLst>
            </p:cNvPr>
            <p:cNvSpPr/>
            <p:nvPr/>
          </p:nvSpPr>
          <p:spPr>
            <a:xfrm>
              <a:off x="0" y="0"/>
              <a:ext cx="12188952" cy="822960"/>
            </a:xfrm>
            <a:prstGeom prst="rect">
              <a:avLst/>
            </a:prstGeom>
            <a:solidFill>
              <a:srgbClr val="0C0F14"/>
            </a:solidFill>
            <a:ln w="12700">
              <a:solidFill>
                <a:srgbClr val="0C0F14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" name="Shape 1">
              <a:extLst>
                <a:ext uri="{FF2B5EF4-FFF2-40B4-BE49-F238E27FC236}">
                  <a16:creationId xmlns:a16="http://schemas.microsoft.com/office/drawing/2014/main" id="{56050F59-1567-9BA1-586F-512B54938495}"/>
                </a:ext>
              </a:extLst>
            </p:cNvPr>
            <p:cNvSpPr/>
            <p:nvPr/>
          </p:nvSpPr>
          <p:spPr>
            <a:xfrm>
              <a:off x="0" y="822960"/>
              <a:ext cx="12188952" cy="0"/>
            </a:xfrm>
            <a:prstGeom prst="line">
              <a:avLst/>
            </a:prstGeom>
            <a:noFill/>
            <a:ln w="12700">
              <a:solidFill>
                <a:srgbClr val="252D3D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" name="Text 2">
              <a:extLst>
                <a:ext uri="{FF2B5EF4-FFF2-40B4-BE49-F238E27FC236}">
                  <a16:creationId xmlns:a16="http://schemas.microsoft.com/office/drawing/2014/main" id="{3466AC2A-87E7-4F8F-1575-CF36FC02C3EE}"/>
                </a:ext>
              </a:extLst>
            </p:cNvPr>
            <p:cNvSpPr/>
            <p:nvPr/>
          </p:nvSpPr>
          <p:spPr>
            <a:xfrm>
              <a:off x="365760" y="54864"/>
              <a:ext cx="7863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Ensemble Methods &amp; the Staircase Problem</a:t>
              </a:r>
              <a:endParaRPr lang="en-US" dirty="0"/>
            </a:p>
          </p:txBody>
        </p:sp>
        <p:sp>
          <p:nvSpPr>
            <p:cNvPr id="5" name="Text 3">
              <a:extLst>
                <a:ext uri="{FF2B5EF4-FFF2-40B4-BE49-F238E27FC236}">
                  <a16:creationId xmlns:a16="http://schemas.microsoft.com/office/drawing/2014/main" id="{AA736E49-5764-D44B-EFFE-B45B9929B65F}"/>
                </a:ext>
              </a:extLst>
            </p:cNvPr>
            <p:cNvSpPr/>
            <p:nvPr/>
          </p:nvSpPr>
          <p:spPr>
            <a:xfrm>
              <a:off x="365760" y="530352"/>
              <a:ext cx="786384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638" kern="0" spc="38" dirty="0">
                  <a:solidFill>
                    <a:srgbClr val="58697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how averaging many weak learners produces smooth, low-variance predictions</a:t>
              </a:r>
              <a:endParaRPr lang="en-US" sz="638" dirty="0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20E2D890-01C6-BF3C-80E1-EACD92020DA9}"/>
                </a:ext>
              </a:extLst>
            </p:cNvPr>
            <p:cNvGrpSpPr/>
            <p:nvPr/>
          </p:nvGrpSpPr>
          <p:grpSpPr>
            <a:xfrm>
              <a:off x="8332411" y="246888"/>
              <a:ext cx="1165860" cy="292608"/>
              <a:chOff x="9002971" y="246888"/>
              <a:chExt cx="1165860" cy="292608"/>
            </a:xfrm>
          </p:grpSpPr>
          <p:sp>
            <p:nvSpPr>
              <p:cNvPr id="8" name="Shape 6">
                <a:extLst>
                  <a:ext uri="{FF2B5EF4-FFF2-40B4-BE49-F238E27FC236}">
                    <a16:creationId xmlns:a16="http://schemas.microsoft.com/office/drawing/2014/main" id="{0FA0CF6F-9AA9-0FB1-76B5-F0D3307D275D}"/>
                  </a:ext>
                </a:extLst>
              </p:cNvPr>
              <p:cNvSpPr/>
              <p:nvPr/>
            </p:nvSpPr>
            <p:spPr>
              <a:xfrm>
                <a:off x="9002971" y="246888"/>
                <a:ext cx="1165860" cy="292608"/>
              </a:xfrm>
              <a:prstGeom prst="rect">
                <a:avLst/>
              </a:prstGeom>
              <a:solidFill>
                <a:srgbClr val="13181F"/>
              </a:solidFill>
              <a:ln w="12700">
                <a:solidFill>
                  <a:srgbClr val="FFD54F"/>
                </a:solidFill>
                <a:prstDash val="solid"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" name="Text 7">
                <a:extLst>
                  <a:ext uri="{FF2B5EF4-FFF2-40B4-BE49-F238E27FC236}">
                    <a16:creationId xmlns:a16="http://schemas.microsoft.com/office/drawing/2014/main" id="{6089650D-64FA-6465-F5EC-8E0A4BC28626}"/>
                  </a:ext>
                </a:extLst>
              </p:cNvPr>
              <p:cNvSpPr/>
              <p:nvPr/>
            </p:nvSpPr>
            <p:spPr>
              <a:xfrm>
                <a:off x="9002971" y="246888"/>
                <a:ext cx="1165860" cy="29260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488" kern="0" spc="113" dirty="0" err="1">
                    <a:solidFill>
                      <a:srgbClr val="FFD54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mtry</a:t>
                </a:r>
                <a:endParaRPr lang="en-US" sz="488" dirty="0"/>
              </a:p>
            </p:txBody>
          </p:sp>
        </p:grpSp>
        <p:sp>
          <p:nvSpPr>
            <p:cNvPr id="10" name="Shape 8">
              <a:extLst>
                <a:ext uri="{FF2B5EF4-FFF2-40B4-BE49-F238E27FC236}">
                  <a16:creationId xmlns:a16="http://schemas.microsoft.com/office/drawing/2014/main" id="{FBA9CE75-40FA-CE87-AA94-01546E0CE4AA}"/>
                </a:ext>
              </a:extLst>
            </p:cNvPr>
            <p:cNvSpPr/>
            <p:nvPr/>
          </p:nvSpPr>
          <p:spPr>
            <a:xfrm>
              <a:off x="10349686" y="246888"/>
              <a:ext cx="1508760" cy="292608"/>
            </a:xfrm>
            <a:prstGeom prst="rect">
              <a:avLst/>
            </a:prstGeom>
            <a:solidFill>
              <a:srgbClr val="13181F"/>
            </a:solidFill>
            <a:ln w="12700">
              <a:solidFill>
                <a:srgbClr val="81C784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1" name="Text 9">
              <a:extLst>
                <a:ext uri="{FF2B5EF4-FFF2-40B4-BE49-F238E27FC236}">
                  <a16:creationId xmlns:a16="http://schemas.microsoft.com/office/drawing/2014/main" id="{4D8E943D-4AE3-D4C7-C46F-93F2DD8DA783}"/>
                </a:ext>
              </a:extLst>
            </p:cNvPr>
            <p:cNvSpPr/>
            <p:nvPr/>
          </p:nvSpPr>
          <p:spPr>
            <a:xfrm>
              <a:off x="10349686" y="246888"/>
              <a:ext cx="1508760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88" kern="0" spc="113" dirty="0">
                  <a:solidFill>
                    <a:srgbClr val="81C784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VARIANCE REDUCTION</a:t>
              </a:r>
              <a:endParaRPr lang="en-US" sz="488" dirty="0"/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E1666A0-B758-1CE3-4692-096B9BC426AC}"/>
                </a:ext>
              </a:extLst>
            </p:cNvPr>
            <p:cNvGrpSpPr/>
            <p:nvPr/>
          </p:nvGrpSpPr>
          <p:grpSpPr>
            <a:xfrm>
              <a:off x="6094476" y="2208276"/>
              <a:ext cx="5582412" cy="2147992"/>
              <a:chOff x="6050470" y="3797526"/>
              <a:chExt cx="5582412" cy="1389888"/>
            </a:xfrm>
          </p:grpSpPr>
          <p:sp>
            <p:nvSpPr>
              <p:cNvPr id="12" name="Text 52">
                <a:extLst>
                  <a:ext uri="{FF2B5EF4-FFF2-40B4-BE49-F238E27FC236}">
                    <a16:creationId xmlns:a16="http://schemas.microsoft.com/office/drawing/2014/main" id="{5578BAA4-FE5C-73C8-3CE5-4AB99DB774A3}"/>
                  </a:ext>
                </a:extLst>
              </p:cNvPr>
              <p:cNvSpPr/>
              <p:nvPr/>
            </p:nvSpPr>
            <p:spPr>
              <a:xfrm>
                <a:off x="6050470" y="3797526"/>
                <a:ext cx="5582412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1050" kern="0" spc="90" dirty="0">
                    <a:solidFill>
                      <a:srgbClr val="58697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RANDOM FOREST — EXTRA DECORRELATION STEP</a:t>
                </a:r>
                <a:endParaRPr lang="en-US" sz="1050" dirty="0"/>
              </a:p>
            </p:txBody>
          </p:sp>
          <p:sp>
            <p:nvSpPr>
              <p:cNvPr id="13" name="Shape 53">
                <a:extLst>
                  <a:ext uri="{FF2B5EF4-FFF2-40B4-BE49-F238E27FC236}">
                    <a16:creationId xmlns:a16="http://schemas.microsoft.com/office/drawing/2014/main" id="{001D6E3F-266F-8DF5-B946-E1A5F7AD1FCF}"/>
                  </a:ext>
                </a:extLst>
              </p:cNvPr>
              <p:cNvSpPr/>
              <p:nvPr/>
            </p:nvSpPr>
            <p:spPr>
              <a:xfrm>
                <a:off x="6050470" y="4026126"/>
                <a:ext cx="1299591" cy="502920"/>
              </a:xfrm>
              <a:prstGeom prst="rect">
                <a:avLst/>
              </a:prstGeom>
              <a:solidFill>
                <a:srgbClr val="1A2030"/>
              </a:solidFill>
              <a:ln w="12700">
                <a:solidFill>
                  <a:srgbClr val="252D3D"/>
                </a:solidFill>
                <a:prstDash val="solid"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4" name="Text 54">
                <a:extLst>
                  <a:ext uri="{FF2B5EF4-FFF2-40B4-BE49-F238E27FC236}">
                    <a16:creationId xmlns:a16="http://schemas.microsoft.com/office/drawing/2014/main" id="{46B5AD63-1DE7-87D7-2824-6CE033D797D6}"/>
                  </a:ext>
                </a:extLst>
              </p:cNvPr>
              <p:cNvSpPr/>
              <p:nvPr/>
            </p:nvSpPr>
            <p:spPr>
              <a:xfrm>
                <a:off x="6050470" y="4044414"/>
                <a:ext cx="1299591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⇌</a:t>
                </a:r>
                <a:endParaRPr lang="en-US" sz="1050" dirty="0"/>
              </a:p>
            </p:txBody>
          </p:sp>
          <p:sp>
            <p:nvSpPr>
              <p:cNvPr id="15" name="Text 55">
                <a:extLst>
                  <a:ext uri="{FF2B5EF4-FFF2-40B4-BE49-F238E27FC236}">
                    <a16:creationId xmlns:a16="http://schemas.microsoft.com/office/drawing/2014/main" id="{629D8023-7A61-0089-B322-C9948CDE33EB}"/>
                  </a:ext>
                </a:extLst>
              </p:cNvPr>
              <p:cNvSpPr/>
              <p:nvPr/>
            </p:nvSpPr>
            <p:spPr>
              <a:xfrm>
                <a:off x="6050470" y="4263870"/>
                <a:ext cx="1299591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:r>
                  <a:rPr lang="en-US" sz="825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At each</a:t>
                </a:r>
                <a:endParaRPr lang="en-US" sz="825" dirty="0"/>
              </a:p>
              <a:p>
                <a:pPr algn="ctr"/>
                <a:r>
                  <a:rPr lang="en-US" sz="825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split…</a:t>
                </a:r>
                <a:endParaRPr lang="en-US" sz="825" dirty="0"/>
              </a:p>
            </p:txBody>
          </p:sp>
          <p:sp>
            <p:nvSpPr>
              <p:cNvPr id="16" name="Text 56">
                <a:extLst>
                  <a:ext uri="{FF2B5EF4-FFF2-40B4-BE49-F238E27FC236}">
                    <a16:creationId xmlns:a16="http://schemas.microsoft.com/office/drawing/2014/main" id="{3B44EA8C-7FBE-32EA-A8B8-3C750F130EBD}"/>
                  </a:ext>
                </a:extLst>
              </p:cNvPr>
              <p:cNvSpPr/>
              <p:nvPr/>
            </p:nvSpPr>
            <p:spPr>
              <a:xfrm>
                <a:off x="7350061" y="4154142"/>
                <a:ext cx="128016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825" dirty="0">
                    <a:solidFill>
                      <a:srgbClr val="58697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→</a:t>
                </a:r>
                <a:endParaRPr lang="en-US" sz="825" dirty="0"/>
              </a:p>
            </p:txBody>
          </p:sp>
          <p:sp>
            <p:nvSpPr>
              <p:cNvPr id="17" name="Shape 57">
                <a:extLst>
                  <a:ext uri="{FF2B5EF4-FFF2-40B4-BE49-F238E27FC236}">
                    <a16:creationId xmlns:a16="http://schemas.microsoft.com/office/drawing/2014/main" id="{9A574FD6-2DC4-FC1E-234C-ADDD02F49CEE}"/>
                  </a:ext>
                </a:extLst>
              </p:cNvPr>
              <p:cNvSpPr/>
              <p:nvPr/>
            </p:nvSpPr>
            <p:spPr>
              <a:xfrm>
                <a:off x="7478077" y="4026126"/>
                <a:ext cx="1299591" cy="502920"/>
              </a:xfrm>
              <a:prstGeom prst="rect">
                <a:avLst/>
              </a:prstGeom>
              <a:solidFill>
                <a:srgbClr val="1A2030"/>
              </a:solidFill>
              <a:ln w="12700">
                <a:solidFill>
                  <a:srgbClr val="252D3D"/>
                </a:solidFill>
                <a:prstDash val="solid"/>
              </a:ln>
            </p:spPr>
            <p:txBody>
              <a:bodyPr/>
              <a:lstStyle/>
              <a:p>
                <a:endParaRPr lang="en-US" sz="825" dirty="0"/>
              </a:p>
            </p:txBody>
          </p:sp>
          <p:sp>
            <p:nvSpPr>
              <p:cNvPr id="18" name="Text 58">
                <a:extLst>
                  <a:ext uri="{FF2B5EF4-FFF2-40B4-BE49-F238E27FC236}">
                    <a16:creationId xmlns:a16="http://schemas.microsoft.com/office/drawing/2014/main" id="{26DCC987-287B-7EBC-ACD1-4FE49AA83234}"/>
                  </a:ext>
                </a:extLst>
              </p:cNvPr>
              <p:cNvSpPr/>
              <p:nvPr/>
            </p:nvSpPr>
            <p:spPr>
              <a:xfrm>
                <a:off x="7478077" y="4044414"/>
                <a:ext cx="1299591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m &lt; p</a:t>
                </a:r>
                <a:endParaRPr lang="en-US" sz="900" dirty="0"/>
              </a:p>
            </p:txBody>
          </p:sp>
          <p:sp>
            <p:nvSpPr>
              <p:cNvPr id="19" name="Text 59">
                <a:extLst>
                  <a:ext uri="{FF2B5EF4-FFF2-40B4-BE49-F238E27FC236}">
                    <a16:creationId xmlns:a16="http://schemas.microsoft.com/office/drawing/2014/main" id="{F44080F4-D772-CAFD-DC45-0E21A6DAED2F}"/>
                  </a:ext>
                </a:extLst>
              </p:cNvPr>
              <p:cNvSpPr/>
              <p:nvPr/>
            </p:nvSpPr>
            <p:spPr>
              <a:xfrm>
                <a:off x="7478077" y="4263870"/>
                <a:ext cx="1299591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:r>
                  <a:rPr lang="en-US" sz="825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Sample</a:t>
                </a:r>
                <a:endParaRPr lang="en-US" sz="825" dirty="0"/>
              </a:p>
              <a:p>
                <a:pPr algn="ctr"/>
                <a:r>
                  <a:rPr lang="en-US" sz="825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m &lt; p features</a:t>
                </a:r>
                <a:endParaRPr lang="en-US" sz="825" dirty="0"/>
              </a:p>
            </p:txBody>
          </p:sp>
          <p:sp>
            <p:nvSpPr>
              <p:cNvPr id="20" name="Text 60">
                <a:extLst>
                  <a:ext uri="{FF2B5EF4-FFF2-40B4-BE49-F238E27FC236}">
                    <a16:creationId xmlns:a16="http://schemas.microsoft.com/office/drawing/2014/main" id="{232FA367-0DBA-7411-64AC-E4D536E16439}"/>
                  </a:ext>
                </a:extLst>
              </p:cNvPr>
              <p:cNvSpPr/>
              <p:nvPr/>
            </p:nvSpPr>
            <p:spPr>
              <a:xfrm>
                <a:off x="8777668" y="4154142"/>
                <a:ext cx="128016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825" dirty="0">
                    <a:solidFill>
                      <a:srgbClr val="58697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→</a:t>
                </a:r>
                <a:endParaRPr lang="en-US" sz="825" dirty="0"/>
              </a:p>
            </p:txBody>
          </p:sp>
          <p:sp>
            <p:nvSpPr>
              <p:cNvPr id="21" name="Shape 61">
                <a:extLst>
                  <a:ext uri="{FF2B5EF4-FFF2-40B4-BE49-F238E27FC236}">
                    <a16:creationId xmlns:a16="http://schemas.microsoft.com/office/drawing/2014/main" id="{D87F9540-BACC-CEC5-3990-EE538AAB6260}"/>
                  </a:ext>
                </a:extLst>
              </p:cNvPr>
              <p:cNvSpPr/>
              <p:nvPr/>
            </p:nvSpPr>
            <p:spPr>
              <a:xfrm>
                <a:off x="8905684" y="4026126"/>
                <a:ext cx="1299591" cy="502920"/>
              </a:xfrm>
              <a:prstGeom prst="rect">
                <a:avLst/>
              </a:prstGeom>
              <a:solidFill>
                <a:srgbClr val="1A2030"/>
              </a:solidFill>
              <a:ln w="12700">
                <a:solidFill>
                  <a:srgbClr val="252D3D"/>
                </a:solidFill>
                <a:prstDash val="solid"/>
              </a:ln>
            </p:spPr>
            <p:txBody>
              <a:bodyPr/>
              <a:lstStyle/>
              <a:p>
                <a:endParaRPr lang="en-US" sz="900"/>
              </a:p>
            </p:txBody>
          </p:sp>
          <p:sp>
            <p:nvSpPr>
              <p:cNvPr id="22" name="Text 62">
                <a:extLst>
                  <a:ext uri="{FF2B5EF4-FFF2-40B4-BE49-F238E27FC236}">
                    <a16:creationId xmlns:a16="http://schemas.microsoft.com/office/drawing/2014/main" id="{3C55454B-8E66-3419-90EA-653540B30F52}"/>
                  </a:ext>
                </a:extLst>
              </p:cNvPr>
              <p:cNvSpPr/>
              <p:nvPr/>
            </p:nvSpPr>
            <p:spPr>
              <a:xfrm>
                <a:off x="8905684" y="4044414"/>
                <a:ext cx="1299591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≠</a:t>
                </a:r>
                <a:endParaRPr lang="en-US" sz="1050" dirty="0"/>
              </a:p>
            </p:txBody>
          </p:sp>
          <p:sp>
            <p:nvSpPr>
              <p:cNvPr id="23" name="Text 63">
                <a:extLst>
                  <a:ext uri="{FF2B5EF4-FFF2-40B4-BE49-F238E27FC236}">
                    <a16:creationId xmlns:a16="http://schemas.microsoft.com/office/drawing/2014/main" id="{3BEFCABA-7E11-CFDD-C77E-D5DF0C0476FE}"/>
                  </a:ext>
                </a:extLst>
              </p:cNvPr>
              <p:cNvSpPr/>
              <p:nvPr/>
            </p:nvSpPr>
            <p:spPr>
              <a:xfrm>
                <a:off x="8905684" y="4263870"/>
                <a:ext cx="1299591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:r>
                  <a:rPr lang="en-US" sz="825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Trees can't</a:t>
                </a:r>
                <a:endParaRPr lang="en-US" sz="825" dirty="0"/>
              </a:p>
              <a:p>
                <a:pPr algn="ctr"/>
                <a:r>
                  <a:rPr lang="en-US" sz="825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all agree</a:t>
                </a:r>
                <a:endParaRPr lang="en-US" sz="825" dirty="0"/>
              </a:p>
            </p:txBody>
          </p:sp>
          <p:sp>
            <p:nvSpPr>
              <p:cNvPr id="24" name="Text 64">
                <a:extLst>
                  <a:ext uri="{FF2B5EF4-FFF2-40B4-BE49-F238E27FC236}">
                    <a16:creationId xmlns:a16="http://schemas.microsoft.com/office/drawing/2014/main" id="{B57EF653-8787-0F7B-97F9-83CFB1A1D21A}"/>
                  </a:ext>
                </a:extLst>
              </p:cNvPr>
              <p:cNvSpPr/>
              <p:nvPr/>
            </p:nvSpPr>
            <p:spPr>
              <a:xfrm>
                <a:off x="10205275" y="4154142"/>
                <a:ext cx="128016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825" dirty="0">
                    <a:solidFill>
                      <a:srgbClr val="58697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→</a:t>
                </a:r>
                <a:endParaRPr lang="en-US" sz="825" dirty="0"/>
              </a:p>
            </p:txBody>
          </p:sp>
          <p:sp>
            <p:nvSpPr>
              <p:cNvPr id="25" name="Shape 65">
                <a:extLst>
                  <a:ext uri="{FF2B5EF4-FFF2-40B4-BE49-F238E27FC236}">
                    <a16:creationId xmlns:a16="http://schemas.microsoft.com/office/drawing/2014/main" id="{CBDFB0D0-78A0-EDF8-2900-5B6ED1503143}"/>
                  </a:ext>
                </a:extLst>
              </p:cNvPr>
              <p:cNvSpPr/>
              <p:nvPr/>
            </p:nvSpPr>
            <p:spPr>
              <a:xfrm>
                <a:off x="10333291" y="4026126"/>
                <a:ext cx="1299591" cy="502920"/>
              </a:xfrm>
              <a:prstGeom prst="rect">
                <a:avLst/>
              </a:prstGeom>
              <a:solidFill>
                <a:srgbClr val="1A2030"/>
              </a:solidFill>
              <a:ln w="12700">
                <a:solidFill>
                  <a:srgbClr val="252D3D"/>
                </a:solidFill>
                <a:prstDash val="solid"/>
              </a:ln>
            </p:spPr>
            <p:txBody>
              <a:bodyPr/>
              <a:lstStyle/>
              <a:p>
                <a:endParaRPr lang="en-US" sz="900"/>
              </a:p>
            </p:txBody>
          </p:sp>
          <p:sp>
            <p:nvSpPr>
              <p:cNvPr id="26" name="Text 66">
                <a:extLst>
                  <a:ext uri="{FF2B5EF4-FFF2-40B4-BE49-F238E27FC236}">
                    <a16:creationId xmlns:a16="http://schemas.microsoft.com/office/drawing/2014/main" id="{22DE56E8-7415-AFAB-9C25-A8997E88E1B7}"/>
                  </a:ext>
                </a:extLst>
              </p:cNvPr>
              <p:cNvSpPr/>
              <p:nvPr/>
            </p:nvSpPr>
            <p:spPr>
              <a:xfrm>
                <a:off x="10333291" y="4044414"/>
                <a:ext cx="1299591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ρ↓</a:t>
                </a:r>
                <a:endParaRPr lang="en-US" sz="1050" dirty="0"/>
              </a:p>
            </p:txBody>
          </p:sp>
          <p:sp>
            <p:nvSpPr>
              <p:cNvPr id="27" name="Text 67">
                <a:extLst>
                  <a:ext uri="{FF2B5EF4-FFF2-40B4-BE49-F238E27FC236}">
                    <a16:creationId xmlns:a16="http://schemas.microsoft.com/office/drawing/2014/main" id="{8DCC2951-575E-5A81-660B-E7FEDDBE2C5C}"/>
                  </a:ext>
                </a:extLst>
              </p:cNvPr>
              <p:cNvSpPr/>
              <p:nvPr/>
            </p:nvSpPr>
            <p:spPr>
              <a:xfrm>
                <a:off x="10333291" y="4263870"/>
                <a:ext cx="1299591" cy="23774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ctr"/>
                <a:r>
                  <a:rPr lang="en-US" sz="825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Lower</a:t>
                </a:r>
                <a:endParaRPr lang="en-US" sz="825" dirty="0"/>
              </a:p>
              <a:p>
                <a:pPr algn="ctr"/>
                <a:r>
                  <a:rPr lang="en-US" sz="825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correlation ρ</a:t>
                </a:r>
                <a:endParaRPr lang="en-US" sz="825" dirty="0"/>
              </a:p>
            </p:txBody>
          </p:sp>
          <p:sp>
            <p:nvSpPr>
              <p:cNvPr id="28" name="Shape 68">
                <a:extLst>
                  <a:ext uri="{FF2B5EF4-FFF2-40B4-BE49-F238E27FC236}">
                    <a16:creationId xmlns:a16="http://schemas.microsoft.com/office/drawing/2014/main" id="{536C3EC3-7B9B-DB0F-05F1-D4F1D15FB1F6}"/>
                  </a:ext>
                </a:extLst>
              </p:cNvPr>
              <p:cNvSpPr/>
              <p:nvPr/>
            </p:nvSpPr>
            <p:spPr>
              <a:xfrm>
                <a:off x="6050470" y="4620486"/>
                <a:ext cx="5582412" cy="566928"/>
              </a:xfrm>
              <a:prstGeom prst="rect">
                <a:avLst/>
              </a:prstGeom>
              <a:solidFill>
                <a:srgbClr val="FFFFFF">
                  <a:alpha val="3000"/>
                </a:srgbClr>
              </a:solidFill>
              <a:ln w="12700">
                <a:solidFill>
                  <a:srgbClr val="252D3D"/>
                </a:solidFill>
                <a:prstDash val="solid"/>
              </a:ln>
            </p:spPr>
            <p:txBody>
              <a:bodyPr/>
              <a:lstStyle/>
              <a:p>
                <a:endParaRPr lang="en-US" sz="900"/>
              </a:p>
            </p:txBody>
          </p:sp>
          <p:sp>
            <p:nvSpPr>
              <p:cNvPr id="29" name="Text 69">
                <a:extLst>
                  <a:ext uri="{FF2B5EF4-FFF2-40B4-BE49-F238E27FC236}">
                    <a16:creationId xmlns:a16="http://schemas.microsoft.com/office/drawing/2014/main" id="{DF2F42BA-2BFD-70EF-D2B9-04401BC71B4F}"/>
                  </a:ext>
                </a:extLst>
              </p:cNvPr>
              <p:cNvSpPr/>
              <p:nvPr/>
            </p:nvSpPr>
            <p:spPr>
              <a:xfrm>
                <a:off x="6141910" y="4657062"/>
                <a:ext cx="5445252" cy="49377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20000"/>
                  </a:lnSpc>
                </a:pPr>
                <a:r>
                  <a:rPr lang="en-US" sz="900" dirty="0">
                    <a:solidFill>
                      <a:srgbClr val="C8D4E8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Var(avg correlated trees) = ρσ² + (1−ρ)σ²/B
</a:t>
                </a:r>
                <a:r>
                  <a:rPr lang="en-US" sz="900" dirty="0">
                    <a:solidFill>
                      <a:srgbClr val="58697A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→ ρ↓ makes the first term vanish
</a:t>
                </a:r>
                <a:r>
                  <a:rPr lang="en-US" sz="900" dirty="0">
                    <a:solidFill>
                      <a:srgbClr val="81C784"/>
                    </a:solidFill>
                    <a:latin typeface="Courier New" pitchFamily="34" charset="0"/>
                    <a:ea typeface="Courier New" pitchFamily="34" charset="-122"/>
                    <a:cs typeface="Courier New" pitchFamily="34" charset="-120"/>
                  </a:rPr>
                  <a:t>→ why RF outperforms plain bagging</a:t>
                </a:r>
                <a:endParaRPr lang="en-US" sz="900" dirty="0"/>
              </a:p>
            </p:txBody>
          </p:sp>
        </p:grpSp>
        <p:sp>
          <p:nvSpPr>
            <p:cNvPr id="34" name="Text 28">
              <a:extLst>
                <a:ext uri="{FF2B5EF4-FFF2-40B4-BE49-F238E27FC236}">
                  <a16:creationId xmlns:a16="http://schemas.microsoft.com/office/drawing/2014/main" id="{A223A97F-AFFD-CE22-49B8-002A700CBA10}"/>
                </a:ext>
              </a:extLst>
            </p:cNvPr>
            <p:cNvSpPr/>
            <p:nvPr/>
          </p:nvSpPr>
          <p:spPr>
            <a:xfrm>
              <a:off x="1855187" y="5701592"/>
              <a:ext cx="3660648" cy="25603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938" b="1" dirty="0">
                  <a:solidFill>
                    <a:srgbClr val="81C784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Low Variance, Smooth Boundary</a:t>
              </a:r>
              <a:endParaRPr lang="en-US" sz="938" dirty="0"/>
            </a:p>
          </p:txBody>
        </p:sp>
        <p:sp>
          <p:nvSpPr>
            <p:cNvPr id="35" name="Text 29">
              <a:extLst>
                <a:ext uri="{FF2B5EF4-FFF2-40B4-BE49-F238E27FC236}">
                  <a16:creationId xmlns:a16="http://schemas.microsoft.com/office/drawing/2014/main" id="{986CD3A5-2E6D-B469-3D13-E6599DB54B83}"/>
                </a:ext>
              </a:extLst>
            </p:cNvPr>
            <p:cNvSpPr/>
            <p:nvPr/>
          </p:nvSpPr>
          <p:spPr>
            <a:xfrm>
              <a:off x="643939" y="6037634"/>
              <a:ext cx="4888513" cy="6217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900" dirty="0">
                  <a:solidFill>
                    <a:srgbClr val="C8D4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The ensemble boundary </a:t>
              </a:r>
              <a:r>
                <a:rPr lang="en-US" sz="900" b="1" dirty="0">
                  <a:solidFill>
                    <a:srgbClr val="FFFFFF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approaches the true curve</a:t>
              </a:r>
              <a:r>
                <a:rPr lang="en-US" sz="900" dirty="0">
                  <a:solidFill>
                    <a:srgbClr val="C8D4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 Random feature subsampling (</a:t>
              </a:r>
              <a:r>
                <a:rPr lang="en-US" sz="900" b="1" dirty="0">
                  <a:solidFill>
                    <a:srgbClr val="C8D4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mtry</a:t>
              </a:r>
              <a:r>
                <a:rPr lang="en-US" sz="900" dirty="0">
                  <a:solidFill>
                    <a:srgbClr val="C8D4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) further decorrelates trees so averaging is more effective. The band shows remaining </a:t>
              </a:r>
              <a:r>
                <a:rPr lang="en-US" sz="900" i="1" dirty="0">
                  <a:solidFill>
                    <a:srgbClr val="C8D4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epistemic uncertainty</a:t>
              </a:r>
              <a:r>
                <a:rPr lang="en-US" sz="900" dirty="0">
                  <a:solidFill>
                    <a:srgbClr val="C8D4E8"/>
                  </a:solidFill>
                  <a:latin typeface="Georgia" pitchFamily="34" charset="0"/>
                  <a:ea typeface="Georgia" pitchFamily="34" charset="-122"/>
                  <a:cs typeface="Georgia" pitchFamily="34" charset="-120"/>
                </a:rPr>
                <a:t>.</a:t>
              </a:r>
              <a:endParaRPr lang="en-US" sz="900" dirty="0"/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DC5CB2F9-C33B-16BE-0673-4B38B22B47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60832" y="1287634"/>
              <a:ext cx="4819720" cy="4078224"/>
            </a:xfrm>
            <a:prstGeom prst="rect">
              <a:avLst/>
            </a:prstGeom>
          </p:spPr>
        </p:pic>
        <p:sp>
          <p:nvSpPr>
            <p:cNvPr id="43" name="Text 37">
              <a:extLst>
                <a:ext uri="{FF2B5EF4-FFF2-40B4-BE49-F238E27FC236}">
                  <a16:creationId xmlns:a16="http://schemas.microsoft.com/office/drawing/2014/main" id="{829CDB3C-1797-BA5E-D820-EDA03E24B8C7}"/>
                </a:ext>
              </a:extLst>
            </p:cNvPr>
            <p:cNvSpPr/>
            <p:nvPr/>
          </p:nvSpPr>
          <p:spPr>
            <a:xfrm>
              <a:off x="9745980" y="157713"/>
              <a:ext cx="359283" cy="319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3600" dirty="0">
                  <a:solidFill>
                    <a:srgbClr val="58697A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→</a:t>
              </a:r>
              <a:endParaRPr lang="en-US" sz="3600" dirty="0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9F5AD73-9DA5-B43F-EA42-13FB0C7DC5DC}"/>
                </a:ext>
              </a:extLst>
            </p:cNvPr>
            <p:cNvGrpSpPr/>
            <p:nvPr/>
          </p:nvGrpSpPr>
          <p:grpSpPr>
            <a:xfrm>
              <a:off x="5751735" y="4704861"/>
              <a:ext cx="6055271" cy="1021877"/>
              <a:chOff x="3704561" y="3791862"/>
              <a:chExt cx="6055271" cy="1021877"/>
            </a:xfrm>
          </p:grpSpPr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95668F1-00CA-0389-29C6-4D1F7AFB3DE9}"/>
                  </a:ext>
                </a:extLst>
              </p:cNvPr>
              <p:cNvSpPr txBox="1"/>
              <p:nvPr/>
            </p:nvSpPr>
            <p:spPr>
              <a:xfrm>
                <a:off x="3704561" y="3843297"/>
                <a:ext cx="1608132" cy="3077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50" b="1" dirty="0">
                    <a:ln/>
                    <a:solidFill>
                      <a:srgbClr val="6B7A99"/>
                    </a:solidFill>
                    <a:latin typeface="Arial"/>
                    <a:cs typeface="Arial"/>
                    <a:sym typeface="Arial"/>
                    <a:rtl val="0"/>
                  </a:rPr>
                  <a:t>Expected error =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D1C4584-5D94-596A-CEBB-D1A6CE571E44}"/>
                  </a:ext>
                </a:extLst>
              </p:cNvPr>
              <p:cNvSpPr txBox="1"/>
              <p:nvPr/>
            </p:nvSpPr>
            <p:spPr>
              <a:xfrm>
                <a:off x="5194271" y="3858537"/>
                <a:ext cx="483893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Bias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C67E06B-26DD-6605-2992-6CE03C969B4C}"/>
                  </a:ext>
                </a:extLst>
              </p:cNvPr>
              <p:cNvSpPr txBox="1"/>
              <p:nvPr/>
            </p:nvSpPr>
            <p:spPr>
              <a:xfrm>
                <a:off x="5565746" y="3791862"/>
                <a:ext cx="270160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2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BBB5EFC-74D4-9A77-7805-66F99964A6CB}"/>
                  </a:ext>
                </a:extLst>
              </p:cNvPr>
              <p:cNvSpPr txBox="1"/>
              <p:nvPr/>
            </p:nvSpPr>
            <p:spPr>
              <a:xfrm>
                <a:off x="5641946" y="3858537"/>
                <a:ext cx="509541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C8D4E8"/>
                    </a:solidFill>
                    <a:latin typeface="Arial"/>
                    <a:cs typeface="Arial"/>
                    <a:sym typeface="Arial"/>
                    <a:rtl val="0"/>
                  </a:rPr>
                  <a:t>(f(x))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A9DFC1D4-F0B4-392A-91B7-668CAE1759A8}"/>
                  </a:ext>
                </a:extLst>
              </p:cNvPr>
              <p:cNvSpPr txBox="1"/>
              <p:nvPr/>
            </p:nvSpPr>
            <p:spPr>
              <a:xfrm>
                <a:off x="6099146" y="3858537"/>
                <a:ext cx="289396" cy="3077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50" b="1" dirty="0">
                    <a:ln/>
                    <a:solidFill>
                      <a:srgbClr val="58697A"/>
                    </a:solidFill>
                    <a:latin typeface="Arial"/>
                    <a:cs typeface="Arial"/>
                    <a:sym typeface="Arial"/>
                    <a:rtl val="0"/>
                  </a:rPr>
                  <a:t>+</a:t>
                </a: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8F2F3FFE-3DC1-0E69-DB26-428866182C51}"/>
                  </a:ext>
                </a:extLst>
              </p:cNvPr>
              <p:cNvSpPr txBox="1"/>
              <p:nvPr/>
            </p:nvSpPr>
            <p:spPr>
              <a:xfrm>
                <a:off x="6413471" y="3858537"/>
                <a:ext cx="791669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Variance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4EE2CAD-1E5D-967A-354F-5F15C5E4019A}"/>
                  </a:ext>
                </a:extLst>
              </p:cNvPr>
              <p:cNvSpPr txBox="1"/>
              <p:nvPr/>
            </p:nvSpPr>
            <p:spPr>
              <a:xfrm>
                <a:off x="7099271" y="3858537"/>
                <a:ext cx="509541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>
                    <a:ln/>
                    <a:solidFill>
                      <a:srgbClr val="C8D4E8"/>
                    </a:solidFill>
                    <a:latin typeface="Arial"/>
                    <a:cs typeface="Arial"/>
                    <a:sym typeface="Arial"/>
                    <a:rtl val="0"/>
                  </a:rPr>
                  <a:t>(f(x))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C95B853-38F3-4B90-9A49-0A646F6519E1}"/>
                  </a:ext>
                </a:extLst>
              </p:cNvPr>
              <p:cNvSpPr txBox="1"/>
              <p:nvPr/>
            </p:nvSpPr>
            <p:spPr>
              <a:xfrm>
                <a:off x="7613621" y="3858537"/>
                <a:ext cx="289396" cy="30777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1050" b="1" dirty="0">
                    <a:ln/>
                    <a:solidFill>
                      <a:srgbClr val="58697A"/>
                    </a:solidFill>
                    <a:latin typeface="Arial"/>
                    <a:cs typeface="Arial"/>
                    <a:sym typeface="Arial"/>
                    <a:rtl val="0"/>
                  </a:rPr>
                  <a:t>+</a:t>
                </a: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12F82DB-57BC-9D2A-3CFA-A12BAEC5BFC5}"/>
                  </a:ext>
                </a:extLst>
              </p:cNvPr>
              <p:cNvSpPr txBox="1"/>
              <p:nvPr/>
            </p:nvSpPr>
            <p:spPr>
              <a:xfrm>
                <a:off x="7966046" y="3858537"/>
                <a:ext cx="1313180" cy="276999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900" dirty="0">
                    <a:ln/>
                    <a:solidFill>
                      <a:srgbClr val="FFFFFF"/>
                    </a:solidFill>
                    <a:latin typeface="Arial"/>
                    <a:cs typeface="Arial"/>
                    <a:sym typeface="Arial"/>
                    <a:rtl val="0"/>
                  </a:rPr>
                  <a:t>Irreducible noise</a:t>
                </a:r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E739397-452E-DF4A-02A2-085D3C9CE466}"/>
                  </a:ext>
                </a:extLst>
              </p:cNvPr>
              <p:cNvSpPr/>
              <p:nvPr/>
            </p:nvSpPr>
            <p:spPr>
              <a:xfrm>
                <a:off x="5228555" y="4083930"/>
                <a:ext cx="2305050" cy="152400"/>
              </a:xfrm>
              <a:custGeom>
                <a:avLst/>
                <a:gdLst>
                  <a:gd name="csX0" fmla="*/ 0 w 2305050"/>
                  <a:gd name="csY0" fmla="*/ 0 h 152400"/>
                  <a:gd name="csX1" fmla="*/ 0 w 2305050"/>
                  <a:gd name="csY1" fmla="*/ 152400 h 152400"/>
                  <a:gd name="csX2" fmla="*/ 2305050 w 2305050"/>
                  <a:gd name="csY2" fmla="*/ 152400 h 152400"/>
                  <a:gd name="csX3" fmla="*/ 2305050 w 2305050"/>
                  <a:gd name="csY3" fmla="*/ 0 h 152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305050" h="152400">
                    <a:moveTo>
                      <a:pt x="0" y="0"/>
                    </a:moveTo>
                    <a:lnTo>
                      <a:pt x="0" y="152400"/>
                    </a:lnTo>
                    <a:lnTo>
                      <a:pt x="2305050" y="152400"/>
                    </a:lnTo>
                    <a:lnTo>
                      <a:pt x="2305050" y="0"/>
                    </a:lnTo>
                  </a:path>
                </a:pathLst>
              </a:custGeom>
              <a:noFill/>
              <a:ln w="14288" cap="rnd">
                <a:solidFill>
                  <a:srgbClr val="64B5F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sz="900"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0F3BFB25-A4B0-9E26-2AED-930D688C7C35}"/>
                  </a:ext>
                </a:extLst>
              </p:cNvPr>
              <p:cNvSpPr/>
              <p:nvPr/>
            </p:nvSpPr>
            <p:spPr>
              <a:xfrm>
                <a:off x="6381080" y="4236330"/>
                <a:ext cx="9525" cy="104775"/>
              </a:xfrm>
              <a:custGeom>
                <a:avLst/>
                <a:gdLst>
                  <a:gd name="csX0" fmla="*/ 0 w 9525"/>
                  <a:gd name="csY0" fmla="*/ 0 h 104775"/>
                  <a:gd name="csX1" fmla="*/ 0 w 9525"/>
                  <a:gd name="csY1" fmla="*/ 104775 h 1047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ln w="14288" cap="rnd">
                <a:solidFill>
                  <a:srgbClr val="64B5F6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EC27A31A-0383-D939-4669-78F7E8A08026}"/>
                  </a:ext>
                </a:extLst>
              </p:cNvPr>
              <p:cNvSpPr txBox="1"/>
              <p:nvPr/>
            </p:nvSpPr>
            <p:spPr>
              <a:xfrm>
                <a:off x="5752826" y="4363362"/>
                <a:ext cx="1514089" cy="26161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825" dirty="0">
                    <a:ln/>
                    <a:solidFill>
                      <a:srgbClr val="64B5F6"/>
                    </a:solidFill>
                    <a:latin typeface="Arial"/>
                    <a:cs typeface="Arial"/>
                    <a:sym typeface="Arial"/>
                    <a:rtl val="0"/>
                  </a:rPr>
                  <a:t>epistemic uncertainty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7EE9A95-F8AE-856F-871A-9974666A3FE8}"/>
                  </a:ext>
                </a:extLst>
              </p:cNvPr>
              <p:cNvSpPr txBox="1"/>
              <p:nvPr/>
            </p:nvSpPr>
            <p:spPr>
              <a:xfrm>
                <a:off x="5463870" y="4581582"/>
                <a:ext cx="198182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675" spc="113">
                    <a:ln/>
                    <a:solidFill>
                      <a:srgbClr val="64B5F6">
                        <a:alpha val="5000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REDUCIBLE · CI ANALOG</a:t>
                </a:r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698A58CC-9EDA-73D0-AB55-F8B231EA3066}"/>
                  </a:ext>
                </a:extLst>
              </p:cNvPr>
              <p:cNvSpPr/>
              <p:nvPr/>
            </p:nvSpPr>
            <p:spPr>
              <a:xfrm>
                <a:off x="7825409" y="4110901"/>
                <a:ext cx="1562774" cy="125429"/>
              </a:xfrm>
              <a:custGeom>
                <a:avLst/>
                <a:gdLst>
                  <a:gd name="csX0" fmla="*/ 0 w 2505075"/>
                  <a:gd name="csY0" fmla="*/ 0 h 152400"/>
                  <a:gd name="csX1" fmla="*/ 0 w 2505075"/>
                  <a:gd name="csY1" fmla="*/ 152400 h 152400"/>
                  <a:gd name="csX2" fmla="*/ 2505075 w 2505075"/>
                  <a:gd name="csY2" fmla="*/ 152400 h 152400"/>
                  <a:gd name="csX3" fmla="*/ 2505075 w 2505075"/>
                  <a:gd name="csY3" fmla="*/ 0 h 1524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505075" h="152400">
                    <a:moveTo>
                      <a:pt x="0" y="0"/>
                    </a:moveTo>
                    <a:lnTo>
                      <a:pt x="0" y="152400"/>
                    </a:lnTo>
                    <a:lnTo>
                      <a:pt x="2505075" y="152400"/>
                    </a:lnTo>
                    <a:lnTo>
                      <a:pt x="2505075" y="0"/>
                    </a:lnTo>
                  </a:path>
                </a:pathLst>
              </a:custGeom>
              <a:noFill/>
              <a:ln w="14288" cap="rnd">
                <a:solidFill>
                  <a:srgbClr val="81C78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 sz="900"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40A525D8-B1EE-F0D4-3CB1-7CF2ABB14D4F}"/>
                  </a:ext>
                </a:extLst>
              </p:cNvPr>
              <p:cNvSpPr/>
              <p:nvPr/>
            </p:nvSpPr>
            <p:spPr>
              <a:xfrm>
                <a:off x="8628986" y="4236330"/>
                <a:ext cx="9525" cy="104775"/>
              </a:xfrm>
              <a:custGeom>
                <a:avLst/>
                <a:gdLst>
                  <a:gd name="csX0" fmla="*/ 0 w 9525"/>
                  <a:gd name="csY0" fmla="*/ 0 h 104775"/>
                  <a:gd name="csX1" fmla="*/ 0 w 9525"/>
                  <a:gd name="csY1" fmla="*/ 104775 h 10477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104775">
                    <a:moveTo>
                      <a:pt x="0" y="0"/>
                    </a:moveTo>
                    <a:lnTo>
                      <a:pt x="0" y="104775"/>
                    </a:lnTo>
                  </a:path>
                </a:pathLst>
              </a:custGeom>
              <a:ln w="14288" cap="rnd">
                <a:solidFill>
                  <a:srgbClr val="81C784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2BEE082-D747-9932-B7B8-7DA48E50DC1A}"/>
                  </a:ext>
                </a:extLst>
              </p:cNvPr>
              <p:cNvSpPr txBox="1"/>
              <p:nvPr/>
            </p:nvSpPr>
            <p:spPr>
              <a:xfrm>
                <a:off x="8064198" y="4363362"/>
                <a:ext cx="1452108" cy="26161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825" dirty="0">
                    <a:ln/>
                    <a:solidFill>
                      <a:srgbClr val="81C784"/>
                    </a:solidFill>
                    <a:latin typeface="Arial"/>
                    <a:cs typeface="Arial"/>
                    <a:sym typeface="Arial"/>
                    <a:rtl val="0"/>
                  </a:rPr>
                  <a:t>aleatoric uncertainty</a:t>
                </a: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C190E4E-39CD-E2B1-AC7F-3965D9A36BD2}"/>
                  </a:ext>
                </a:extLst>
              </p:cNvPr>
              <p:cNvSpPr txBox="1"/>
              <p:nvPr/>
            </p:nvSpPr>
            <p:spPr>
              <a:xfrm>
                <a:off x="7733037" y="4582907"/>
                <a:ext cx="2026795" cy="2308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none" lIns="68580" tIns="34290" rIns="68580" bIns="3429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675" spc="113" dirty="0">
                    <a:ln/>
                    <a:solidFill>
                      <a:srgbClr val="81C784">
                        <a:alpha val="50000"/>
                      </a:srgbClr>
                    </a:solidFill>
                    <a:latin typeface="Arial"/>
                    <a:cs typeface="Arial"/>
                    <a:sym typeface="Arial"/>
                    <a:rtl val="0"/>
                  </a:rPr>
                  <a:t>IRREDUCIBLE · PI FLOOR</a:t>
                </a:r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5FBADF63-7AA6-284D-6346-8C2DBE0B5766}"/>
                  </a:ext>
                </a:extLst>
              </p:cNvPr>
              <p:cNvSpPr/>
              <p:nvPr/>
            </p:nvSpPr>
            <p:spPr>
              <a:xfrm>
                <a:off x="7800311" y="3836280"/>
                <a:ext cx="9525" cy="228600"/>
              </a:xfrm>
              <a:custGeom>
                <a:avLst/>
                <a:gdLst>
                  <a:gd name="csX0" fmla="*/ 0 w 9525"/>
                  <a:gd name="csY0" fmla="*/ 0 h 228600"/>
                  <a:gd name="csX1" fmla="*/ 0 w 9525"/>
                  <a:gd name="csY1" fmla="*/ 228600 h 2286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525" h="228600">
                    <a:moveTo>
                      <a:pt x="0" y="0"/>
                    </a:moveTo>
                    <a:lnTo>
                      <a:pt x="0" y="228600"/>
                    </a:lnTo>
                  </a:path>
                </a:pathLst>
              </a:custGeom>
              <a:ln w="11430" cap="flat">
                <a:solidFill>
                  <a:srgbClr val="252D3D"/>
                </a:solidFill>
                <a:custDash>
                  <a:ds d="225000" sp="225000"/>
                </a:custDash>
                <a:miter/>
              </a:ln>
            </p:spPr>
            <p:txBody>
              <a:bodyPr/>
              <a:lstStyle/>
              <a:p>
                <a:endParaRPr lang="en-US" sz="9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691801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Vibrant green forest">
            <a:extLst>
              <a:ext uri="{FF2B5EF4-FFF2-40B4-BE49-F238E27FC236}">
                <a16:creationId xmlns:a16="http://schemas.microsoft.com/office/drawing/2014/main" id="{4D6B5D22-0445-4545-46E7-FA06F21353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274" r="30277" b="-1"/>
          <a:stretch>
            <a:fillRect/>
          </a:stretch>
        </p:blipFill>
        <p:spPr>
          <a:xfrm>
            <a:off x="4577270" y="10"/>
            <a:ext cx="4566728" cy="6857990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9B296B9-C5A5-4E4F-9B60-C907B5F14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0300FD3-5AF1-6305-15FA-9078072672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7268" cy="2285995"/>
          </a:xfrm>
          <a:prstGeom prst="rect">
            <a:avLst/>
          </a:prstGeom>
          <a:ln>
            <a:noFill/>
          </a:ln>
          <a:effectLst>
            <a:outerShdw blurRad="254000" dist="127000" dir="5460000" sx="92000" sy="92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369D21-997E-4ECE-82CB-49DA409245CA}"/>
              </a:ext>
            </a:extLst>
          </p:cNvPr>
          <p:cNvSpPr txBox="1">
            <a:spLocks/>
          </p:cNvSpPr>
          <p:nvPr/>
        </p:nvSpPr>
        <p:spPr>
          <a:xfrm>
            <a:off x="571350" y="328512"/>
            <a:ext cx="3583791" cy="16289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US" sz="3500" b="1"/>
              <a:t>Random Forest Method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120F2E7-C782-4425-9682-AAB05B7FC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183131"/>
            <a:ext cx="3494817" cy="4075936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spcAft>
                <a:spcPts val="600"/>
              </a:spcAft>
            </a:pPr>
            <a:r>
              <a:rPr lang="en-US" sz="1400" b="1" dirty="0"/>
              <a:t>Grow a forest of many trees (</a:t>
            </a:r>
            <a:r>
              <a:rPr lang="en-US" sz="1400" b="1" i="1" dirty="0" err="1"/>
              <a:t>ntree</a:t>
            </a:r>
            <a:r>
              <a:rPr lang="en-US" sz="1400" b="1" dirty="0"/>
              <a:t>).</a:t>
            </a:r>
          </a:p>
          <a:p>
            <a:pPr>
              <a:spcAft>
                <a:spcPts val="600"/>
              </a:spcAft>
            </a:pPr>
            <a:r>
              <a:rPr lang="en-US" sz="1400" b="1" dirty="0"/>
              <a:t>Grow each tree from an independent bootstrap sample from the training data (sample N cases at random with replacement).</a:t>
            </a:r>
          </a:p>
          <a:p>
            <a:pPr>
              <a:spcAft>
                <a:spcPts val="600"/>
              </a:spcAft>
            </a:pPr>
            <a:r>
              <a:rPr lang="en-US" sz="1400" b="1" dirty="0"/>
              <a:t>For each tree at each node: </a:t>
            </a:r>
          </a:p>
          <a:p>
            <a:pPr lvl="1">
              <a:spcAft>
                <a:spcPts val="600"/>
              </a:spcAft>
            </a:pPr>
            <a:r>
              <a:rPr lang="en-US" sz="1400" b="1" dirty="0"/>
              <a:t>Select a random subset of predictor variables (</a:t>
            </a:r>
            <a:r>
              <a:rPr lang="en-US" sz="1400" b="1" i="1" dirty="0" err="1"/>
              <a:t>mtry</a:t>
            </a:r>
            <a:r>
              <a:rPr lang="en-US" sz="1400" b="1" dirty="0"/>
              <a:t>) </a:t>
            </a:r>
          </a:p>
          <a:p>
            <a:pPr lvl="1">
              <a:spcAft>
                <a:spcPts val="600"/>
              </a:spcAft>
            </a:pPr>
            <a:r>
              <a:rPr lang="en-US" sz="1400" b="1" dirty="0"/>
              <a:t>Use the best split on the selected </a:t>
            </a:r>
            <a:r>
              <a:rPr lang="en-US" sz="1400" b="1" i="1" dirty="0" err="1"/>
              <a:t>mtry</a:t>
            </a:r>
            <a:r>
              <a:rPr lang="en-US" sz="1400" b="1" dirty="0"/>
              <a:t> variables</a:t>
            </a:r>
          </a:p>
          <a:p>
            <a:pPr lvl="1">
              <a:spcAft>
                <a:spcPts val="600"/>
              </a:spcAft>
            </a:pPr>
            <a:r>
              <a:rPr lang="en-US" sz="1400" b="1" dirty="0"/>
              <a:t>Repeat this process until the tree is grown to the largest extent possible (no pruning)</a:t>
            </a:r>
          </a:p>
          <a:p>
            <a:pPr marL="342900" lvl="1">
              <a:spcAft>
                <a:spcPts val="600"/>
              </a:spcAft>
            </a:pPr>
            <a:r>
              <a:rPr lang="en-US" sz="1400" b="1" dirty="0"/>
              <a:t>Aggregate all trees for prediction (average for regression, majority vote for classification).</a:t>
            </a:r>
          </a:p>
        </p:txBody>
      </p:sp>
    </p:spTree>
    <p:extLst>
      <p:ext uri="{BB962C8B-B14F-4D97-AF65-F5344CB8AC3E}">
        <p14:creationId xmlns:p14="http://schemas.microsoft.com/office/powerpoint/2010/main" val="383335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171C3-3421-4032-9AD1-2BC9C320BE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8" b="9997"/>
          <a:stretch/>
        </p:blipFill>
        <p:spPr>
          <a:xfrm>
            <a:off x="0" y="1881352"/>
            <a:ext cx="9143385" cy="4671618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2AC96CE-6BBA-4A75-9A4E-05AD35477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Random Forest Method</a:t>
            </a:r>
          </a:p>
        </p:txBody>
      </p:sp>
    </p:spTree>
    <p:extLst>
      <p:ext uri="{BB962C8B-B14F-4D97-AF65-F5344CB8AC3E}">
        <p14:creationId xmlns:p14="http://schemas.microsoft.com/office/powerpoint/2010/main" val="15747565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C8659DE-DE42-4A2E-AE43-33DD6738F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Bootstrap Aggregation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AD998F-1737-482A-B805-ED969AD1B64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99" b="11107"/>
          <a:stretch/>
        </p:blipFill>
        <p:spPr>
          <a:xfrm>
            <a:off x="324168" y="1968824"/>
            <a:ext cx="8495662" cy="44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2364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231E1-3C08-467F-901B-4267512FA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43E0D1-7FEB-4637-A749-4257BD53BE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106"/>
          <a:stretch/>
        </p:blipFill>
        <p:spPr>
          <a:xfrm>
            <a:off x="0" y="365126"/>
            <a:ext cx="9142857" cy="609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5746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9A6D7F0-25A8-45C0-ADD4-A8D1CAFE7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Random Forest Method - ntree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176613-5C29-4217-B1DB-8C32EC9A138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92" b="11111"/>
          <a:stretch/>
        </p:blipFill>
        <p:spPr>
          <a:xfrm>
            <a:off x="324168" y="2003774"/>
            <a:ext cx="8495662" cy="4377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1158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B339B7-6A51-4F80-AE88-EBA7BF5F2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Regression Terms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603F534-BEBF-408D-B3E2-7BD2E66AE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lvl="1" indent="0">
              <a:buNone/>
            </a:pPr>
            <a:r>
              <a:rPr lang="en-US" sz="1700" b="1" u="sng"/>
              <a:t>%Inc MSE </a:t>
            </a:r>
            <a:endParaRPr lang="en-US" sz="1700" b="1"/>
          </a:p>
          <a:p>
            <a:pPr marL="457200" lvl="2" indent="0">
              <a:buNone/>
            </a:pPr>
            <a:r>
              <a:rPr lang="en-US" sz="1700"/>
              <a:t>average increase in squared residuals of the test set when variables are randomly permuted (little importance = little change in model when variable is removed or added)</a:t>
            </a:r>
          </a:p>
          <a:p>
            <a:pPr marL="457200" lvl="2" indent="0">
              <a:buNone/>
            </a:pPr>
            <a:endParaRPr lang="en-US" sz="1700"/>
          </a:p>
          <a:p>
            <a:pPr marL="0" lvl="1" indent="0">
              <a:buNone/>
            </a:pPr>
            <a:r>
              <a:rPr lang="en-US" sz="1700" b="1" u="sng"/>
              <a:t>Inc Node Purity</a:t>
            </a:r>
          </a:p>
          <a:p>
            <a:pPr marL="457200" lvl="2" indent="0">
              <a:buNone/>
            </a:pPr>
            <a:r>
              <a:rPr lang="en-US" sz="1700"/>
              <a:t>increase in homogeneity in data partitions</a:t>
            </a:r>
          </a:p>
          <a:p>
            <a:pPr marL="457200" lvl="2" indent="0">
              <a:buNone/>
            </a:pPr>
            <a:endParaRPr lang="en-US" sz="1700"/>
          </a:p>
          <a:p>
            <a:pPr marL="0" lvl="1" indent="0">
              <a:buNone/>
            </a:pPr>
            <a:r>
              <a:rPr lang="en-US" sz="1700" b="1" u="sng"/>
              <a:t>Mean of Squared Residuals </a:t>
            </a:r>
            <a:endParaRPr lang="en-US" sz="1700" b="1"/>
          </a:p>
          <a:p>
            <a:pPr marL="457200" lvl="2" indent="0">
              <a:buNone/>
            </a:pPr>
            <a:r>
              <a:rPr lang="en-US" sz="1700"/>
              <a:t>sum of squared residuals divided by n</a:t>
            </a:r>
          </a:p>
          <a:p>
            <a:pPr marL="457200" lvl="2" indent="0">
              <a:buNone/>
            </a:pPr>
            <a:endParaRPr lang="en-US" sz="1700"/>
          </a:p>
          <a:p>
            <a:pPr marL="0" lvl="1" indent="0">
              <a:buNone/>
            </a:pPr>
            <a:r>
              <a:rPr lang="en-US" sz="1700" b="1" u="sng"/>
              <a:t>% Variance Explained </a:t>
            </a:r>
            <a:endParaRPr lang="en-US" sz="1700" b="1"/>
          </a:p>
          <a:p>
            <a:pPr marL="457200" lvl="2" indent="0">
              <a:buNone/>
            </a:pPr>
            <a:r>
              <a:rPr lang="en-US" sz="1700"/>
              <a:t>psuedo R</a:t>
            </a:r>
            <a:r>
              <a:rPr lang="en-US" sz="1700" baseline="30000"/>
              <a:t>2</a:t>
            </a:r>
            <a:endParaRPr lang="en-US" sz="1700"/>
          </a:p>
          <a:p>
            <a:pPr marL="406400" lvl="1" indent="-406400">
              <a:buFont typeface="Arial" panose="020B0604020202020204" pitchFamily="34" charset="0"/>
              <a:buChar char="•"/>
            </a:pPr>
            <a:endParaRPr lang="en-US" sz="1700" baseline="30000"/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27216670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0FE7720-5F77-4AF8-A60F-598898E99534}"/>
              </a:ext>
            </a:extLst>
          </p:cNvPr>
          <p:cNvSpPr txBox="1">
            <a:spLocks/>
          </p:cNvSpPr>
          <p:nvPr/>
        </p:nvSpPr>
        <p:spPr>
          <a:xfrm>
            <a:off x="350041" y="586855"/>
            <a:ext cx="2401025" cy="338749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>
              <a:spcAft>
                <a:spcPts val="600"/>
              </a:spcAft>
            </a:pPr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Classification Terms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4FE9C3B-8128-4B81-9A35-E14EEA5BB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lvl="1">
              <a:tabLst>
                <a:tab pos="465138" algn="l"/>
              </a:tabLst>
            </a:pPr>
            <a:r>
              <a:rPr lang="en-US" sz="1700" b="1" u="sng"/>
              <a:t>Mean Decrease Accuracy</a:t>
            </a:r>
            <a:endParaRPr lang="en-US" sz="1700" b="1"/>
          </a:p>
          <a:p>
            <a:pPr marL="457200" lvl="2">
              <a:tabLst>
                <a:tab pos="465138" algn="l"/>
              </a:tabLst>
            </a:pPr>
            <a:r>
              <a:rPr lang="en-US" sz="1700"/>
              <a:t>the more the accuracy of the random forest decreases due to the addition of a single variable, the more important the variable is deemed</a:t>
            </a:r>
          </a:p>
          <a:p>
            <a:pPr marL="457200" lvl="2">
              <a:tabLst>
                <a:tab pos="465138" algn="l"/>
              </a:tabLst>
            </a:pPr>
            <a:endParaRPr lang="en-US" sz="1700"/>
          </a:p>
          <a:p>
            <a:pPr marL="0" lvl="1">
              <a:tabLst>
                <a:tab pos="465138" algn="l"/>
              </a:tabLst>
            </a:pPr>
            <a:r>
              <a:rPr lang="en-US" sz="1700" b="1" u="sng"/>
              <a:t>Mean Decrease Gini</a:t>
            </a:r>
            <a:r>
              <a:rPr lang="en-US" sz="1700" b="1"/>
              <a:t> </a:t>
            </a:r>
          </a:p>
          <a:p>
            <a:pPr marL="457200" lvl="2">
              <a:tabLst>
                <a:tab pos="465138" algn="l"/>
              </a:tabLst>
            </a:pPr>
            <a:r>
              <a:rPr lang="en-US" sz="1700"/>
              <a:t>a measure of how each variable contributes to the homogeneity of the nodes and leaves</a:t>
            </a:r>
          </a:p>
          <a:p>
            <a:pPr marL="457200" lvl="2">
              <a:tabLst>
                <a:tab pos="465138" algn="l"/>
              </a:tabLst>
            </a:pPr>
            <a:endParaRPr lang="en-US" sz="1700"/>
          </a:p>
          <a:p>
            <a:pPr marL="0" lvl="1">
              <a:tabLst>
                <a:tab pos="465138" algn="l"/>
              </a:tabLst>
            </a:pPr>
            <a:r>
              <a:rPr lang="en-US" sz="1700" b="1" u="sng"/>
              <a:t>Out of Bag Error </a:t>
            </a:r>
            <a:endParaRPr lang="en-US" sz="1700" b="1"/>
          </a:p>
          <a:p>
            <a:pPr marL="457200" lvl="2">
              <a:tabLst>
                <a:tab pos="465138" algn="l"/>
              </a:tabLst>
            </a:pPr>
            <a:r>
              <a:rPr lang="en-US" sz="1700"/>
              <a:t>proportion of times that the result is misclassified, averaged over all samples</a:t>
            </a:r>
          </a:p>
          <a:p>
            <a:pPr marL="0"/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347490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CB98FCC-FF7E-4652-9AA5-4DC0D1109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Variable Importance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C17384-2050-4DB1-B533-CC4B8A128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186" y="1597575"/>
            <a:ext cx="852389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The importance of each variable is estimated by observing how much the prediction error increases when out-of-bag (OOB) data for that variable are permuted while all others are left unchanged.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B5D01BB-EE27-4992-A013-2E45C37DBC0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718" b="19573"/>
          <a:stretch/>
        </p:blipFill>
        <p:spPr>
          <a:xfrm>
            <a:off x="0" y="2969173"/>
            <a:ext cx="9143385" cy="388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49802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FBBE13-70C2-4ECB-8D9F-F540C79BE8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Variable Importance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47055D-5DD4-40D1-9F8F-6BFDDF4C3A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95" b="3000"/>
          <a:stretch/>
        </p:blipFill>
        <p:spPr>
          <a:xfrm>
            <a:off x="893460" y="1966293"/>
            <a:ext cx="7357077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249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A21A7-0CA3-4C3B-AE65-91815B7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69925"/>
            <a:ext cx="3381709" cy="1325563"/>
          </a:xfrm>
        </p:spPr>
        <p:txBody>
          <a:bodyPr anchor="b">
            <a:normAutofit/>
          </a:bodyPr>
          <a:lstStyle/>
          <a:p>
            <a:pPr algn="r"/>
            <a:r>
              <a:rPr lang="en-US" sz="3400" b="1">
                <a:solidFill>
                  <a:schemeClr val="bg1"/>
                </a:solidFill>
              </a:rPr>
              <a:t>Gradient Descent for Model Tuning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94657" y="2026340"/>
            <a:ext cx="3915702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D3504-3F44-49E1-9CDA-5386ACFB1E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4500" y="2398957"/>
            <a:ext cx="7054999" cy="3526144"/>
          </a:xfrm>
        </p:spPr>
        <p:txBody>
          <a:bodyPr>
            <a:normAutofit/>
          </a:bodyPr>
          <a:lstStyle/>
          <a:p>
            <a:pPr marL="0" lvl="1" indent="0">
              <a:buNone/>
              <a:tabLst>
                <a:tab pos="465138" algn="l"/>
              </a:tabLst>
            </a:pPr>
            <a:r>
              <a:rPr lang="en-US" sz="1700">
                <a:solidFill>
                  <a:schemeClr val="bg1"/>
                </a:solidFill>
              </a:rPr>
              <a:t>Used to Determine the Optimal Combination of Input Parameters</a:t>
            </a:r>
          </a:p>
          <a:p>
            <a:pPr marL="0" lvl="1" indent="0">
              <a:buNone/>
              <a:tabLst>
                <a:tab pos="465138" algn="l"/>
              </a:tabLst>
            </a:pPr>
            <a:endParaRPr lang="en-US" sz="1700">
              <a:solidFill>
                <a:schemeClr val="bg1"/>
              </a:solidFill>
            </a:endParaRPr>
          </a:p>
          <a:p>
            <a:pPr marL="0" lvl="1" indent="0">
              <a:buNone/>
              <a:tabLst>
                <a:tab pos="465138" algn="l"/>
              </a:tabLst>
            </a:pPr>
            <a:r>
              <a:rPr lang="en-US" sz="1700">
                <a:solidFill>
                  <a:schemeClr val="bg1"/>
                </a:solidFill>
              </a:rPr>
              <a:t>Build a table all reasonable input parameters</a:t>
            </a:r>
          </a:p>
          <a:p>
            <a:pPr marL="0" lvl="1" indent="0">
              <a:buNone/>
              <a:tabLst>
                <a:tab pos="465138" algn="l"/>
              </a:tabLst>
            </a:pPr>
            <a:r>
              <a:rPr lang="en-US" sz="1700">
                <a:solidFill>
                  <a:schemeClr val="bg1"/>
                </a:solidFill>
              </a:rPr>
              <a:t>	ntree</a:t>
            </a:r>
          </a:p>
          <a:p>
            <a:pPr marL="0" lvl="1" indent="0">
              <a:buNone/>
              <a:tabLst>
                <a:tab pos="465138" algn="l"/>
              </a:tabLst>
            </a:pPr>
            <a:r>
              <a:rPr lang="en-US" sz="1700">
                <a:solidFill>
                  <a:schemeClr val="bg1"/>
                </a:solidFill>
              </a:rPr>
              <a:t>	mtry</a:t>
            </a:r>
          </a:p>
          <a:p>
            <a:pPr marL="0" lvl="1" indent="0">
              <a:buNone/>
              <a:tabLst>
                <a:tab pos="465138" algn="l"/>
              </a:tabLst>
            </a:pPr>
            <a:r>
              <a:rPr lang="en-US" sz="1700">
                <a:solidFill>
                  <a:schemeClr val="bg1"/>
                </a:solidFill>
              </a:rPr>
              <a:t>	nodesize</a:t>
            </a:r>
          </a:p>
          <a:p>
            <a:pPr marL="0" lvl="1" indent="0">
              <a:buNone/>
              <a:tabLst>
                <a:tab pos="465138" algn="l"/>
              </a:tabLst>
            </a:pPr>
            <a:endParaRPr lang="en-US" sz="1700">
              <a:solidFill>
                <a:schemeClr val="bg1"/>
              </a:solidFill>
            </a:endParaRPr>
          </a:p>
          <a:p>
            <a:pPr marL="0" lvl="1" indent="0">
              <a:buNone/>
              <a:tabLst>
                <a:tab pos="465138" algn="l"/>
              </a:tabLst>
            </a:pPr>
            <a:r>
              <a:rPr lang="en-US" sz="1700">
                <a:solidFill>
                  <a:schemeClr val="bg1"/>
                </a:solidFill>
              </a:rPr>
              <a:t>Build models for every possible combination and compare OOB error estimates across each model</a:t>
            </a:r>
          </a:p>
          <a:p>
            <a:pPr marL="457200" lvl="2" indent="0">
              <a:buNone/>
              <a:tabLst>
                <a:tab pos="465138" algn="l"/>
              </a:tabLst>
            </a:pPr>
            <a:endParaRPr lang="en-US" sz="170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700">
                <a:solidFill>
                  <a:schemeClr val="bg1"/>
                </a:solidFill>
              </a:rPr>
              <a:t>The final model will have the ideal set of parameters that minimizes the OOB error estimate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4654" y="115193"/>
            <a:ext cx="8954691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4051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6AB9B11-527A-42F9-8863-C5B3C54594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" y="5576887"/>
            <a:ext cx="818388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b="1"/>
              <a:t>Ranger package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9E3DF8-584B-4C3B-BFC2-C39E4010DA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672" b="2"/>
          <a:stretch>
            <a:fillRect/>
          </a:stretch>
        </p:blipFill>
        <p:spPr>
          <a:xfrm>
            <a:off x="480060" y="640080"/>
            <a:ext cx="818388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33026668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044287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021C8E-F657-4E7C-A3ED-5F0E4679C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412488"/>
            <a:ext cx="2174391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5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Boosting Algorithms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E8F63F-2781-4E98-BCB5-ABA3AE1B4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85641" y="1412489"/>
            <a:ext cx="2570462" cy="43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Adaboost</a:t>
            </a:r>
          </a:p>
          <a:p>
            <a:r>
              <a:rPr lang="en-US" sz="1700"/>
              <a:t>GBM - Gradient Boosting Machine</a:t>
            </a:r>
          </a:p>
          <a:p>
            <a:r>
              <a:rPr lang="en-US" sz="1700"/>
              <a:t>XGB – Extreem Gradient Boosting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7403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6C5BD7-E32B-4436-917F-3AF955989C77}"/>
              </a:ext>
            </a:extLst>
          </p:cNvPr>
          <p:cNvSpPr txBox="1"/>
          <p:nvPr/>
        </p:nvSpPr>
        <p:spPr>
          <a:xfrm>
            <a:off x="6338703" y="1412489"/>
            <a:ext cx="2398275" cy="2397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Boosting Methods: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Fit a decision tree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Fit a second decision tree to model residuals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Add models together and repeat this process for n iterations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2BB555-F9F0-5CBD-207F-65184CC989C4}"/>
              </a:ext>
            </a:extLst>
          </p:cNvPr>
          <p:cNvSpPr txBox="1"/>
          <p:nvPr/>
        </p:nvSpPr>
        <p:spPr>
          <a:xfrm>
            <a:off x="3620627" y="5274695"/>
            <a:ext cx="4953552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800" b="1" dirty="0"/>
              <a:t>Need to balance Performance with Over-fitting</a:t>
            </a:r>
          </a:p>
        </p:txBody>
      </p:sp>
    </p:spTree>
    <p:extLst>
      <p:ext uri="{BB962C8B-B14F-4D97-AF65-F5344CB8AC3E}">
        <p14:creationId xmlns:p14="http://schemas.microsoft.com/office/powerpoint/2010/main" val="80563659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0E84704-1FA6-43EA-B16B-91768090437F}"/>
              </a:ext>
            </a:extLst>
          </p:cNvPr>
          <p:cNvGrpSpPr/>
          <p:nvPr/>
        </p:nvGrpSpPr>
        <p:grpSpPr>
          <a:xfrm>
            <a:off x="685799" y="228600"/>
            <a:ext cx="7501759" cy="6308834"/>
            <a:chOff x="685800" y="228600"/>
            <a:chExt cx="6400800" cy="5105400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EB6C6DF-5D24-4C60-BB5E-B29945DB4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5800" y="228600"/>
              <a:ext cx="6400800" cy="4673401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6EA402C-069F-474C-AD36-689AE0C5A1D5}"/>
                </a:ext>
              </a:extLst>
            </p:cNvPr>
            <p:cNvSpPr txBox="1"/>
            <p:nvPr/>
          </p:nvSpPr>
          <p:spPr>
            <a:xfrm>
              <a:off x="3200400" y="4964668"/>
              <a:ext cx="22098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>
                  <a:latin typeface="Bahnschrift SemiBold" panose="020B0502040204020203" pitchFamily="34" charset="0"/>
                </a:rPr>
                <a:t>Training Epochs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458774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BCD636D-FE24-472E-9485-645685F6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398" y="228600"/>
            <a:ext cx="7269480" cy="305965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Deep Learning </a:t>
            </a:r>
            <a:br>
              <a:rPr lang="en-US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State of the Art in Classification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Highly Accurate – very black box 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CNN for Image Processing (a. la. </a:t>
            </a:r>
            <a:r>
              <a:rPr lang="en-US" sz="2200" dirty="0" err="1">
                <a:solidFill>
                  <a:schemeClr val="bg1"/>
                </a:solidFill>
              </a:rPr>
              <a:t>Unet</a:t>
            </a:r>
            <a:r>
              <a:rPr lang="en-US" sz="2200" dirty="0">
                <a:solidFill>
                  <a:schemeClr val="bg1"/>
                </a:solidFill>
              </a:rPr>
              <a:t>)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Hidden Layers and Activation Weights/Bias</a:t>
            </a:r>
            <a:br>
              <a:rPr lang="en-US" sz="2200" dirty="0">
                <a:solidFill>
                  <a:schemeClr val="bg1"/>
                </a:solidFill>
              </a:rPr>
            </a:br>
            <a:r>
              <a:rPr lang="en-US" sz="2200" dirty="0">
                <a:solidFill>
                  <a:schemeClr val="bg1"/>
                </a:solidFill>
              </a:rPr>
              <a:t>More info </a:t>
            </a:r>
            <a:r>
              <a:rPr lang="en-US" sz="2200" dirty="0">
                <a:solidFill>
                  <a:schemeClr val="bg1"/>
                </a:solidFill>
                <a:hlinkClick r:id="rId3"/>
              </a:rPr>
              <a:t>here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F16144E-EB73-48C1-AEFC-E94390167D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2753" y="0"/>
            <a:ext cx="4013200" cy="33644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110E01-39E1-42B9-81B4-D528AD93F2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3214" y="3660225"/>
            <a:ext cx="4570785" cy="298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C874EAF-73A1-4BEF-9DBA-983F86D9F3D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3804"/>
          <a:stretch/>
        </p:blipFill>
        <p:spPr>
          <a:xfrm>
            <a:off x="88188" y="3429000"/>
            <a:ext cx="4415238" cy="3367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1737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0F1B3B-C2BD-4DE8-A27E-A88FC7A1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dirty="0">
                <a:solidFill>
                  <a:srgbClr val="FFFFFF"/>
                </a:solidFill>
              </a:rPr>
              <a:t>Exercise: Random Forest</a:t>
            </a:r>
            <a:endParaRPr lang="en-US" sz="3500" dirty="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C6680B-EF0E-4387-895E-2A5A3C5F2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u="sng"/>
              <a:t>Part 4: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Random Forest for Classification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Gradient Descent for Model Tuning</a:t>
            </a:r>
          </a:p>
          <a:p>
            <a:pPr marL="0" indent="0">
              <a:spcBef>
                <a:spcPts val="600"/>
              </a:spcBef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b="1" u="sng"/>
              <a:t>Part 5: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Fast Random Forest with Ranger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Benchmarking with system.time</a:t>
            </a:r>
          </a:p>
          <a:p>
            <a:pPr marL="0" indent="0">
              <a:spcBef>
                <a:spcPts val="600"/>
              </a:spcBef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b="1" u="sng"/>
              <a:t>Part 6: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/>
              <a:t>Prediction with Random Forest 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/>
              <a:t>Mapping Land Cover from NAIP Imagery</a:t>
            </a:r>
          </a:p>
        </p:txBody>
      </p:sp>
    </p:spTree>
    <p:extLst>
      <p:ext uri="{BB962C8B-B14F-4D97-AF65-F5344CB8AC3E}">
        <p14:creationId xmlns:p14="http://schemas.microsoft.com/office/powerpoint/2010/main" val="177231253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7089B3-912F-487F-B719-8A78ADFD9C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4652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C40F1B3B-C2BD-4DE8-A27E-A88FC7A12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Exercise: Random Forest</a:t>
            </a:r>
            <a:endParaRPr lang="en-US" sz="350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3C6680B-EF0E-4387-895E-2A5A3C5F2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b="1" u="sng"/>
              <a:t>Part 4: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Effect of gradient descent</a:t>
            </a:r>
          </a:p>
          <a:p>
            <a:pPr marL="0" indent="0">
              <a:spcBef>
                <a:spcPts val="600"/>
              </a:spcBef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b="1" u="sng"/>
              <a:t>Part 5: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700"/>
              <a:t>Performance boost with ranger</a:t>
            </a:r>
          </a:p>
          <a:p>
            <a:pPr marL="0" indent="0">
              <a:spcBef>
                <a:spcPts val="600"/>
              </a:spcBef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 b="1" u="sng"/>
              <a:t>Part 6: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/>
              <a:t>Mapping Land Cover from NAIP Imagery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1700"/>
              <a:t>Producing probability surface for land cover map</a:t>
            </a:r>
          </a:p>
        </p:txBody>
      </p:sp>
    </p:spTree>
    <p:extLst>
      <p:ext uri="{BB962C8B-B14F-4D97-AF65-F5344CB8AC3E}">
        <p14:creationId xmlns:p14="http://schemas.microsoft.com/office/powerpoint/2010/main" val="343513637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F0FA7C8-397E-4970-8F60-73EE88320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435" y="1828801"/>
            <a:ext cx="8481848" cy="4351337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400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randomForest</a:t>
            </a:r>
            <a:r>
              <a:rPr lang="en-US" sz="24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(formula, data, importance)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formula 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         response~predictor1+predictor2+predictorx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data=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	            specifies the dataset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mtry</a:t>
            </a: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=             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number of randomly sampled variables at    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                         each node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ntree</a:t>
            </a: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=            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number of trees to grow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sz="2000" b="1" dirty="0">
                <a:solidFill>
                  <a:schemeClr val="bg1"/>
                </a:solidFill>
                <a:cs typeface="Times New Roman" panose="02020603050405020304" pitchFamily="18" charset="0"/>
              </a:rPr>
              <a:t>importance= </a:t>
            </a:r>
            <a:r>
              <a:rPr lang="en-US" sz="2000" dirty="0">
                <a:solidFill>
                  <a:schemeClr val="bg1"/>
                </a:solidFill>
                <a:cs typeface="Times New Roman" panose="02020603050405020304" pitchFamily="18" charset="0"/>
              </a:rPr>
              <a:t>if TRUE, allows user to examine variable   	            importance</a:t>
            </a:r>
            <a:endParaRPr lang="en-US" sz="22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6B0DAC-9331-4707-AD6A-0686C9E357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1781214"/>
              </p:ext>
            </p:extLst>
          </p:nvPr>
        </p:nvGraphicFramePr>
        <p:xfrm>
          <a:off x="685800" y="2438400"/>
          <a:ext cx="7209799" cy="25908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669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428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286">
                <a:tc>
                  <a:txBody>
                    <a:bodyPr/>
                    <a:lstStyle/>
                    <a:p>
                      <a:r>
                        <a:rPr lang="en-US" sz="1900" b="1" dirty="0" err="1"/>
                        <a:t>varImpPlot</a:t>
                      </a:r>
                      <a:r>
                        <a:rPr lang="en-US" sz="1900" b="1" dirty="0"/>
                        <a:t> ( )</a:t>
                      </a:r>
                      <a:endParaRPr lang="en-US" sz="1900" b="1" dirty="0"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+mn-lt"/>
                        </a:rPr>
                        <a:t>variable importance</a:t>
                      </a:r>
                      <a:r>
                        <a:rPr lang="en-US" sz="1900" baseline="0" dirty="0">
                          <a:latin typeface="+mn-lt"/>
                        </a:rPr>
                        <a:t> plot</a:t>
                      </a:r>
                      <a:endParaRPr lang="en-US" sz="1900" dirty="0"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 sz="1900" b="1" dirty="0">
                          <a:latin typeface="+mn-lt"/>
                        </a:rPr>
                        <a:t>importance ( 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+mn-lt"/>
                        </a:rPr>
                        <a:t>variable importance</a:t>
                      </a:r>
                      <a:r>
                        <a:rPr lang="en-US" sz="1900" baseline="0" dirty="0">
                          <a:latin typeface="+mn-lt"/>
                        </a:rPr>
                        <a:t> statistics</a:t>
                      </a:r>
                      <a:endParaRPr lang="en-US" sz="1900" dirty="0"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7943">
                <a:tc>
                  <a:txBody>
                    <a:bodyPr/>
                    <a:lstStyle/>
                    <a:p>
                      <a:r>
                        <a:rPr lang="en-US" sz="1900" b="1" dirty="0">
                          <a:latin typeface="+mn-lt"/>
                        </a:rPr>
                        <a:t>plot ( 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+mn-lt"/>
                        </a:rPr>
                        <a:t>plots </a:t>
                      </a:r>
                      <a:r>
                        <a:rPr lang="en-US" sz="1900" dirty="0"/>
                        <a:t>out of bag (OOB) error rate versus number of trees</a:t>
                      </a:r>
                      <a:endParaRPr lang="en-US" sz="1900" dirty="0"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286">
                <a:tc>
                  <a:txBody>
                    <a:bodyPr/>
                    <a:lstStyle/>
                    <a:p>
                      <a:r>
                        <a:rPr lang="en-US" sz="1900" b="1" dirty="0">
                          <a:latin typeface="+mn-lt"/>
                        </a:rPr>
                        <a:t>print( )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900" dirty="0">
                          <a:latin typeface="+mn-lt"/>
                        </a:rPr>
                        <a:t>model</a:t>
                      </a:r>
                      <a:r>
                        <a:rPr lang="en-US" sz="1900" baseline="0" dirty="0">
                          <a:latin typeface="+mn-lt"/>
                        </a:rPr>
                        <a:t> summary statistics</a:t>
                      </a:r>
                      <a:endParaRPr lang="en-US" sz="1900" dirty="0"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45B2F6F4-99DD-4DF0-A814-E08ECE89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404" y="365760"/>
            <a:ext cx="7269480" cy="1325562"/>
          </a:xfrm>
        </p:spPr>
        <p:txBody>
          <a:bodyPr/>
          <a:lstStyle/>
          <a:p>
            <a:r>
              <a:rPr lang="en-US" b="1" dirty="0">
                <a:solidFill>
                  <a:schemeClr val="bg1"/>
                </a:solidFill>
              </a:rPr>
              <a:t>Summary - </a:t>
            </a:r>
            <a:r>
              <a:rPr lang="en-US" b="1" dirty="0" err="1">
                <a:solidFill>
                  <a:schemeClr val="bg1"/>
                </a:solidFill>
              </a:rPr>
              <a:t>randomForest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897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8A21A7-0CA3-4C3B-AE65-91815B7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Exercise Summary: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0479B-C58D-410A-A1E1-46A51210F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Built regression and classification models with rpart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Built regression and classification models with random forest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Evaluated model predictions with an independent validation set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Used gradient descent for model tuning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Employed benchmarking to quantify performance increases from ranger</a:t>
            </a:r>
          </a:p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Mapped land cover from NAIP Imagery</a:t>
            </a:r>
          </a:p>
          <a:p>
            <a:pPr marL="0" indent="0">
              <a:buNone/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15867526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AE72EC-EE6F-4A46-AE2B-B91D18754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>
                <a:solidFill>
                  <a:srgbClr val="FFFFFF"/>
                </a:solidFill>
              </a:rPr>
              <a:t>Summary – Tree Models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F120D34-C1EF-4BA8-A287-A63D50A96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1700"/>
              <a:t>Tree-based models are quick, intuitive, nonparametric, and are often ideal for exploratory data analysis and prediction</a:t>
            </a:r>
          </a:p>
          <a:p>
            <a:endParaRPr lang="en-US" sz="1700"/>
          </a:p>
          <a:p>
            <a:r>
              <a:rPr lang="en-US" sz="1700"/>
              <a:t>Both rpart and randomForest packages perform internal validation (rpart=10-fold cross validation; randomForest=OOB error estimates) </a:t>
            </a:r>
          </a:p>
          <a:p>
            <a:endParaRPr lang="en-US" sz="1700"/>
          </a:p>
          <a:p>
            <a:r>
              <a:rPr lang="en-US" sz="1700"/>
              <a:t>In general, tree-based models are robust against multicollinearity and low n, high p datasets</a:t>
            </a:r>
          </a:p>
          <a:p>
            <a:endParaRPr lang="en-US" sz="1700"/>
          </a:p>
          <a:p>
            <a:r>
              <a:rPr lang="en-US" sz="1700"/>
              <a:t>Caveats</a:t>
            </a:r>
          </a:p>
          <a:p>
            <a:pPr lvl="1"/>
            <a:r>
              <a:rPr lang="en-US" sz="1700"/>
              <a:t>Outliers (model stability and over-fitting)</a:t>
            </a:r>
          </a:p>
          <a:p>
            <a:pPr lvl="1"/>
            <a:r>
              <a:rPr lang="en-US" sz="1700"/>
              <a:t>Model parameters (pruning for rpart; ntree and mtry for randomForest)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413214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Why is random forest often referred to as double random?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How does random forest perform internal validation?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True or false – numerical and categorical data can be used in the creation of a classification tree?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What are some differences between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rpart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 and </a:t>
            </a:r>
            <a:r>
              <a:rPr lang="en-US" sz="2400" dirty="0" err="1">
                <a:solidFill>
                  <a:schemeClr val="bg1">
                    <a:lumMod val="95000"/>
                  </a:schemeClr>
                </a:solidFill>
              </a:rPr>
              <a:t>randomForest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?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946404" y="1828800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Why is random forest often referred to as double random?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How does random forest perform internal validation?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True or false – numerical and categorical data can be used in the creation of a classification tree?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What are some differences between </a:t>
            </a:r>
            <a:r>
              <a:rPr kumimoji="0" lang="en-US" sz="2400" b="0" i="0" u="none" strike="noStrike" kern="1200" cap="none" spc="1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rpart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and </a:t>
            </a:r>
            <a:r>
              <a:rPr kumimoji="0" lang="en-US" sz="2400" b="0" i="0" u="none" strike="noStrike" kern="1200" cap="none" spc="1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randomForest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10" normalizeH="0" baseline="0" noProof="0" dirty="0">
              <a:ln>
                <a:noFill/>
              </a:ln>
              <a:solidFill>
                <a:srgbClr val="FFFFFF">
                  <a:lumMod val="95000"/>
                </a:srgbClr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46404" y="1828800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Why is random forest often referred to as double random?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How does random forest perform internal validation?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True or false – numerical and categorical data can be used in the creation of a classification tree?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What are some differences between </a:t>
            </a:r>
            <a:r>
              <a:rPr kumimoji="0" lang="en-US" sz="2400" b="0" i="0" u="none" strike="noStrike" kern="1200" cap="none" spc="1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rpart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and </a:t>
            </a:r>
            <a:r>
              <a:rPr kumimoji="0" lang="en-US" sz="2400" b="0" i="0" u="none" strike="noStrike" kern="1200" cap="none" spc="10" normalizeH="0" baseline="0" noProof="0" dirty="0" err="1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randomForest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46404" y="1828800"/>
            <a:ext cx="644652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Why is random forest often referred to as double random?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How does random forest perform internal validation?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FFFFFF">
                    <a:lumMod val="95000"/>
                  </a:srgbClr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True or false – numerical and categorical data can be used in the creation of a classification tree?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What are some differences between </a:t>
            </a:r>
            <a:r>
              <a:rPr kumimoji="0" lang="en-US" sz="2400" b="0" i="0" u="none" strike="noStrike" kern="1200" cap="none" spc="1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rpart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 and </a:t>
            </a:r>
            <a:r>
              <a:rPr kumimoji="0" lang="en-US" sz="2400" b="0" i="0" u="none" strike="noStrike" kern="1200" cap="none" spc="1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randomForest</a:t>
            </a:r>
            <a:r>
              <a:rPr kumimoji="0" lang="en-US" sz="2400" b="0" i="0" u="none" strike="noStrike" kern="1200" cap="none" spc="1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Schoolbook" panose="02040604050505020304"/>
                <a:ea typeface="+mn-ea"/>
                <a:cs typeface="+mn-cs"/>
              </a:rPr>
              <a:t>?</a:t>
            </a:r>
          </a:p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rgbClr val="6F6F74"/>
              </a:buClr>
              <a:buSzPct val="80000"/>
              <a:buFont typeface="Arial" pitchFamily="34" charset="0"/>
              <a:buNone/>
              <a:tabLst/>
              <a:defRPr/>
            </a:pPr>
            <a:endParaRPr kumimoji="0" lang="en-US" sz="2400" b="0" i="0" u="none" strike="noStrike" kern="1200" cap="none" spc="1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Schoolbook" panose="020406040505050203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917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4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9351038-D821-4E2F-9EB7-55D560EFD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3200">
                <a:solidFill>
                  <a:srgbClr val="FFFFFF"/>
                </a:solidFill>
              </a:rPr>
              <a:t>Always Remember…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687CB0-EBEB-4D48-932D-CC235710F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295" y="649480"/>
            <a:ext cx="226897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/>
              <a:t>“The combination of some data and an aching desire for an answer does not ensure that a reasonable answer can be extracted from a given body of data.”</a:t>
            </a:r>
          </a:p>
          <a:p>
            <a:pPr marL="0" indent="0">
              <a:buNone/>
            </a:pPr>
            <a:r>
              <a:rPr lang="en-US" sz="1700"/>
              <a:t> –John Tukey </a:t>
            </a:r>
          </a:p>
        </p:txBody>
      </p:sp>
      <p:pic>
        <p:nvPicPr>
          <p:cNvPr id="5" name="Picture 2" descr="File:John Tukey.jpg">
            <a:extLst>
              <a:ext uri="{FF2B5EF4-FFF2-40B4-BE49-F238E27FC236}">
                <a16:creationId xmlns:a16="http://schemas.microsoft.com/office/drawing/2014/main" id="{706F5B79-6971-4FE0-A646-E5DF7926AE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82126" y="1785579"/>
            <a:ext cx="2711832" cy="3298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340529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308276-9F2F-4130-AC1C-10111047E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667" r="5500"/>
          <a:stretch/>
        </p:blipFill>
        <p:spPr>
          <a:xfrm>
            <a:off x="1" y="914400"/>
            <a:ext cx="9143999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1645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21A7-0CA3-4C3B-AE65-91815B70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326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A21A7-0CA3-4C3B-AE65-91815B70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498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9271</TotalTime>
  <Words>3668</Words>
  <Application>Microsoft Office PowerPoint</Application>
  <PresentationFormat>On-screen Show (4:3)</PresentationFormat>
  <Paragraphs>709</Paragraphs>
  <Slides>69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69</vt:i4>
      </vt:variant>
    </vt:vector>
  </HeadingPairs>
  <TitlesOfParts>
    <vt:vector size="81" baseType="lpstr">
      <vt:lpstr>Arial</vt:lpstr>
      <vt:lpstr>Bahnschrift SemiBold</vt:lpstr>
      <vt:lpstr>Calibri</vt:lpstr>
      <vt:lpstr>Calibri Light</vt:lpstr>
      <vt:lpstr>Cambria Math</vt:lpstr>
      <vt:lpstr>Century Schoolbook</vt:lpstr>
      <vt:lpstr>Courier New</vt:lpstr>
      <vt:lpstr>Georgia</vt:lpstr>
      <vt:lpstr>Times New Roman</vt:lpstr>
      <vt:lpstr>Wingdings 2</vt:lpstr>
      <vt:lpstr>Office Theme</vt:lpstr>
      <vt:lpstr>View</vt:lpstr>
      <vt:lpstr>Tree-based Models Statistics for Soil Survey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Common Issues with Regression</vt:lpstr>
      <vt:lpstr>Advantages of Tree-based Models</vt:lpstr>
      <vt:lpstr>Tree-based Models in 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</vt:lpstr>
      <vt:lpstr>PowerPoint Presentation</vt:lpstr>
      <vt:lpstr>Rpart Regression Tree</vt:lpstr>
      <vt:lpstr>Splitting Procedure - Regression</vt:lpstr>
      <vt:lpstr>Splitting Procedure - Regression</vt:lpstr>
      <vt:lpstr>Splitting Procedure - Classification</vt:lpstr>
      <vt:lpstr>PowerPoint Presentation</vt:lpstr>
      <vt:lpstr>Pruning</vt:lpstr>
      <vt:lpstr>Pruning</vt:lpstr>
      <vt:lpstr>Model Evaluation</vt:lpstr>
      <vt:lpstr>Model Evaluation</vt:lpstr>
      <vt:lpstr>Exercise: Rpart</vt:lpstr>
      <vt:lpstr>PowerPoint Presentation</vt:lpstr>
      <vt:lpstr>PowerPoint Presentation</vt:lpstr>
      <vt:lpstr>Prediction of Soil Properties</vt:lpstr>
      <vt:lpstr>PowerPoint Presentation</vt:lpstr>
      <vt:lpstr>PowerPoint Presentation</vt:lpstr>
      <vt:lpstr>Summary - rpart</vt:lpstr>
      <vt:lpstr>PowerPoint Presentation</vt:lpstr>
      <vt:lpstr>PowerPoint Presentation</vt:lpstr>
      <vt:lpstr>PowerPoint Presentation</vt:lpstr>
      <vt:lpstr>Random Forest Method</vt:lpstr>
      <vt:lpstr>PowerPoint Presentation</vt:lpstr>
      <vt:lpstr>PowerPoint Presentation</vt:lpstr>
      <vt:lpstr>PowerPoint Presentation</vt:lpstr>
      <vt:lpstr>Random Forest Method</vt:lpstr>
      <vt:lpstr>Bootstrap Aggregation</vt:lpstr>
      <vt:lpstr>PowerPoint Presentation</vt:lpstr>
      <vt:lpstr>Random Forest Method - ntree</vt:lpstr>
      <vt:lpstr>Regression Terms</vt:lpstr>
      <vt:lpstr>PowerPoint Presentation</vt:lpstr>
      <vt:lpstr>Variable Importance</vt:lpstr>
      <vt:lpstr>Variable Importance</vt:lpstr>
      <vt:lpstr>Gradient Descent for Model Tuning</vt:lpstr>
      <vt:lpstr>Ranger package</vt:lpstr>
      <vt:lpstr>Boosting Algorithms</vt:lpstr>
      <vt:lpstr>PowerPoint Presentation</vt:lpstr>
      <vt:lpstr>Deep Learning   State of the Art in Classification Highly Accurate – very black box  CNN for Image Processing (a. la. Unet) Hidden Layers and Activation Weights/Bias More info here</vt:lpstr>
      <vt:lpstr>Exercise: Random Forest</vt:lpstr>
      <vt:lpstr>PowerPoint Presentation</vt:lpstr>
      <vt:lpstr>Exercise: Random Forest</vt:lpstr>
      <vt:lpstr>Summary - randomForest</vt:lpstr>
      <vt:lpstr>Exercise Summary:</vt:lpstr>
      <vt:lpstr>Summary – Tree Models</vt:lpstr>
      <vt:lpstr>Review Questions</vt:lpstr>
      <vt:lpstr>Always Remember…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Tree-based Models Statistics for Soil Survey</dc:title>
  <dc:creator>Roberts, Philip - FPAC-BC, Salt Lake City, UT</dc:creator>
  <cp:lastModifiedBy>Jonathan Maynard</cp:lastModifiedBy>
  <cp:revision>31</cp:revision>
  <dcterms:created xsi:type="dcterms:W3CDTF">2021-05-14T00:56:51Z</dcterms:created>
  <dcterms:modified xsi:type="dcterms:W3CDTF">2026-02-26T08:29:48Z</dcterms:modified>
</cp:coreProperties>
</file>